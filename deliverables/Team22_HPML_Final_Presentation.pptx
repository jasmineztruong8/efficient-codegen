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1" roundtripDataSignature="AMtx7miLuuXQFC1fO2jtZRXPxWP9T+IbW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3E11948-DB1B-41D1-BC01-8EEC76C1B601}">
  <a:tblStyle styleId="{73E11948-DB1B-41D1-BC01-8EEC76C1B601}"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10" Type="http://schemas.openxmlformats.org/officeDocument/2006/relationships/slide" Target="slides/slide5.xml"/><Relationship Id="rId21" Type="http://customschemas.google.com/relationships/presentationmetadata" Target="meta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vast.ai" TargetMode="Externa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vast.ai" TargetMode="Externa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Hi everyone, we are presenting our HPML final project, Optimization of SLMs for Efficient Code Generation. Our project focuses on Qwen2.5-Coder-1.5B and asks how we can make small </a:t>
            </a:r>
            <a:r>
              <a:rPr lang="en-US"/>
              <a:t>language</a:t>
            </a:r>
            <a:r>
              <a:rPr lang="en-US"/>
              <a:t> models better for code generation, both in terms of correctness and runtime </a:t>
            </a:r>
            <a:r>
              <a:rPr lang="en-US"/>
              <a:t>efficiency</a:t>
            </a:r>
            <a:r>
              <a:rPr lang="en-US"/>
              <a:t>. We combine runtime-aware fine-tuning with </a:t>
            </a:r>
            <a:r>
              <a:rPr lang="en-US"/>
              <a:t>serving</a:t>
            </a:r>
            <a:r>
              <a:rPr lang="en-US"/>
              <a:t> optimization, and our headline results are improved Pass@1 and up to 8.3x higher serving throughput with vLLM.</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Our team is Arnav Mahajan, Jasmine Truong, Jianyi Gao, and Yingxin Zhang. Our Github repo and tracking dashboard are linked on the slide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 name="Shape 22"/>
        <p:cNvGrpSpPr/>
        <p:nvPr/>
      </p:nvGrpSpPr>
      <p:grpSpPr>
        <a:xfrm>
          <a:off x="0" y="0"/>
          <a:ext cx="0" cy="0"/>
          <a:chOff x="0" y="0"/>
          <a:chExt cx="0" cy="0"/>
        </a:xfrm>
      </p:grpSpPr>
      <p:sp>
        <p:nvSpPr>
          <p:cNvPr id="23" name="Google Shape;23;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 name="Google Shape;24;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Problem Statement: </a:t>
            </a:r>
            <a:r>
              <a:rPr i="1" lang="en-US">
                <a:solidFill>
                  <a:srgbClr val="1A1A1A"/>
                </a:solidFill>
              </a:rPr>
              <a:t>[One precise sentence: model + workload + bottleneck you target]</a:t>
            </a:r>
            <a:endParaRPr/>
          </a:p>
          <a:p>
            <a:pPr indent="0" lvl="0" marL="0" rtl="0" algn="l">
              <a:spcBef>
                <a:spcPts val="800"/>
              </a:spcBef>
              <a:spcAft>
                <a:spcPts val="0"/>
              </a:spcAft>
              <a:buClr>
                <a:srgbClr val="1A1A1A"/>
              </a:buClr>
              <a:buSzPts val="1500"/>
              <a:buFont typeface="Calibri"/>
              <a:buNone/>
            </a:pPr>
            <a:r>
              <a:rPr b="1" lang="en-US">
                <a:solidFill>
                  <a:srgbClr val="1A1A1A"/>
                </a:solidFill>
              </a:rPr>
              <a:t>Goal: </a:t>
            </a:r>
            <a:r>
              <a:rPr lang="en-US">
                <a:solidFill>
                  <a:srgbClr val="1A1A1A"/>
                </a:solidFill>
              </a:rPr>
              <a:t>[Quantitative target — e.g., 2× throughput at iso-accuracy on A100]</a:t>
            </a:r>
            <a:endParaRPr>
              <a:solidFill>
                <a:srgbClr val="1A1A1A"/>
              </a:solidFill>
            </a:endParaRPr>
          </a:p>
          <a:p>
            <a:pPr indent="0" lvl="0" marL="0" rtl="0" algn="l">
              <a:spcBef>
                <a:spcPts val="800"/>
              </a:spcBef>
              <a:spcAft>
                <a:spcPts val="0"/>
              </a:spcAft>
              <a:buClr>
                <a:srgbClr val="1A1A1A"/>
              </a:buClr>
              <a:buSzPts val="1500"/>
              <a:buFont typeface="Calibri"/>
              <a:buNone/>
            </a:pPr>
            <a:r>
              <a:rPr lang="en-US">
                <a:solidFill>
                  <a:srgbClr val="1A1A1A"/>
                </a:solidFill>
              </a:rPr>
              <a:t>Code generation with LLMs is now widely used in AI-assisted development and autonomous coding agents. Most benchmarks focus on correctness, but in real applications, latency also matters: users care how quickly code is generated, and generated code also needs to run efficiently once executed. </a:t>
            </a:r>
            <a:endParaRPr>
              <a:solidFill>
                <a:srgbClr val="1A1A1A"/>
              </a:solidFill>
            </a:endParaRPr>
          </a:p>
          <a:p>
            <a:pPr indent="0" lvl="0" marL="0" rtl="0" algn="l">
              <a:spcBef>
                <a:spcPts val="800"/>
              </a:spcBef>
              <a:spcAft>
                <a:spcPts val="0"/>
              </a:spcAft>
              <a:buClr>
                <a:srgbClr val="1A1A1A"/>
              </a:buClr>
              <a:buSzPts val="1500"/>
              <a:buFont typeface="Calibri"/>
              <a:buNone/>
            </a:pPr>
            <a:r>
              <a:rPr lang="en-US">
                <a:solidFill>
                  <a:srgbClr val="1A1A1A"/>
                </a:solidFill>
              </a:rPr>
              <a:t>Our project focuses on this efficiency problem using Qwen2.5-Coder-1.5B-Instruct on Efficoder Python code-generation tasks. The baseline system has two bottlenecks: generated code may be correct but not runtime-efficient, and HuggingFace inference has relatively low serving throughput. </a:t>
            </a:r>
            <a:endParaRPr>
              <a:solidFill>
                <a:srgbClr val="1A1A1A"/>
              </a:solidFill>
            </a:endParaRPr>
          </a:p>
          <a:p>
            <a:pPr indent="0" lvl="0" marL="0" rtl="0" algn="l">
              <a:spcBef>
                <a:spcPts val="800"/>
              </a:spcBef>
              <a:spcAft>
                <a:spcPts val="0"/>
              </a:spcAft>
              <a:buClr>
                <a:srgbClr val="1A1A1A"/>
              </a:buClr>
              <a:buSzPts val="1500"/>
              <a:buFont typeface="Calibri"/>
              <a:buNone/>
            </a:pPr>
            <a:r>
              <a:rPr lang="en-US">
                <a:solidFill>
                  <a:srgbClr val="1A1A1A"/>
                </a:solidFill>
              </a:rPr>
              <a:t>So our goal is to train a runtime-aware code-generation model that improves Pass@1 while also evaluating optimized inference serving, mainly through vLLM, to reduce generation latency. </a:t>
            </a:r>
            <a:endParaRPr>
              <a:solidFill>
                <a:srgbClr val="1A1A1A"/>
              </a:solidFill>
            </a:endParaRPr>
          </a:p>
        </p:txBody>
      </p:sp>
      <p:sp>
        <p:nvSpPr>
          <p:cNvPr id="25" name="Google Shape;25;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 name="Shape 36"/>
        <p:cNvGrpSpPr/>
        <p:nvPr/>
      </p:nvGrpSpPr>
      <p:grpSpPr>
        <a:xfrm>
          <a:off x="0" y="0"/>
          <a:ext cx="0" cy="0"/>
          <a:chOff x="0" y="0"/>
          <a:chExt cx="0" cy="0"/>
        </a:xfrm>
      </p:grpSpPr>
      <p:sp>
        <p:nvSpPr>
          <p:cNvPr id="37" name="Google Shape;37;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 name="Google Shape;38;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Model: </a:t>
            </a:r>
            <a:r>
              <a:rPr lang="en-US">
                <a:solidFill>
                  <a:srgbClr val="1A1A1A"/>
                </a:solidFill>
              </a:rPr>
              <a:t>[Architecture, parameter count, framework]</a:t>
            </a:r>
            <a:endParaRPr>
              <a:solidFill>
                <a:srgbClr val="1A1A1A"/>
              </a:solidFill>
            </a:endParaRPr>
          </a:p>
          <a:p>
            <a:pPr indent="0" lvl="0" marL="0" rtl="0" algn="l">
              <a:spcBef>
                <a:spcPts val="0"/>
              </a:spcBef>
              <a:spcAft>
                <a:spcPts val="0"/>
              </a:spcAft>
              <a:buNone/>
            </a:pPr>
            <a:r>
              <a:rPr lang="en-US">
                <a:solidFill>
                  <a:srgbClr val="1A1A1A"/>
                </a:solidFill>
              </a:rPr>
              <a:t>Dataset: [Name, size, license, splits]</a:t>
            </a:r>
            <a:endParaRPr/>
          </a:p>
          <a:p>
            <a:pPr indent="0" lvl="0" marL="0" rtl="0" algn="l">
              <a:spcBef>
                <a:spcPts val="0"/>
              </a:spcBef>
              <a:spcAft>
                <a:spcPts val="0"/>
              </a:spcAft>
              <a:buNone/>
            </a:pPr>
            <a:r>
              <a:rPr lang="en-US">
                <a:solidFill>
                  <a:srgbClr val="1A1A1A"/>
                </a:solidFill>
              </a:rPr>
              <a:t>Hardware: [GPU/TPU/AIU, memory, software stack]</a:t>
            </a:r>
            <a:endParaRPr>
              <a:solidFill>
                <a:srgbClr val="1A1A1A"/>
              </a:solidFill>
            </a:endParaRPr>
          </a:p>
          <a:p>
            <a:pPr indent="0" lvl="0" marL="0" rtl="0" algn="l">
              <a:spcBef>
                <a:spcPts val="0"/>
              </a:spcBef>
              <a:spcAft>
                <a:spcPts val="0"/>
              </a:spcAft>
              <a:buNone/>
            </a:pPr>
            <a:r>
              <a:t/>
            </a:r>
            <a:endParaRPr sz="1400">
              <a:solidFill>
                <a:srgbClr val="1A1A1A"/>
              </a:solidFill>
            </a:endParaRPr>
          </a:p>
          <a:p>
            <a:pPr indent="0" lvl="0" marL="0" rtl="0" algn="l">
              <a:spcBef>
                <a:spcPts val="0"/>
              </a:spcBef>
              <a:spcAft>
                <a:spcPts val="0"/>
              </a:spcAft>
              <a:buNone/>
            </a:pPr>
            <a:r>
              <a:rPr lang="en-US" sz="1400">
                <a:solidFill>
                  <a:srgbClr val="1A1A1A"/>
                </a:solidFill>
              </a:rPr>
              <a:t>We use Qwen2.5-Coder-1.5B-Instruct as our base model. It’s a decoder-only code model with 1.5 billion parameters. We compare three variants: the unfine-tuned base SLM, a control SFT model trained on the first correct candidate, and a runtime-aware SFT model trained on the fastest correct candidate. </a:t>
            </a:r>
            <a:endParaRPr sz="1400">
              <a:solidFill>
                <a:srgbClr val="1A1A1A"/>
              </a:solidFill>
            </a:endParaRPr>
          </a:p>
          <a:p>
            <a:pPr indent="0" lvl="0" marL="0" rtl="0" algn="l">
              <a:spcBef>
                <a:spcPts val="0"/>
              </a:spcBef>
              <a:spcAft>
                <a:spcPts val="0"/>
              </a:spcAft>
              <a:buNone/>
            </a:pPr>
            <a:r>
              <a:t/>
            </a:r>
            <a:endParaRPr sz="1400">
              <a:solidFill>
                <a:srgbClr val="1A1A1A"/>
              </a:solidFill>
            </a:endParaRPr>
          </a:p>
          <a:p>
            <a:pPr indent="0" lvl="0" marL="0" rtl="0" algn="l">
              <a:spcBef>
                <a:spcPts val="0"/>
              </a:spcBef>
              <a:spcAft>
                <a:spcPts val="0"/>
              </a:spcAft>
              <a:buNone/>
            </a:pPr>
            <a:r>
              <a:rPr lang="en-US" sz="1400">
                <a:solidFill>
                  <a:srgbClr val="1A1A1A"/>
                </a:solidFill>
              </a:rPr>
              <a:t>For data, we start from EffiCoder. The raw dataset has 9451 problems. After filtering for eligible tasks, we get 6917 candidates, and after benchmarking the reference solutions and keeping only clean passing examples, we get 6646 problems. We use an 80/10/10 train, val, test split for our dataset. </a:t>
            </a:r>
            <a:endParaRPr sz="1400">
              <a:solidFill>
                <a:srgbClr val="1A1A1A"/>
              </a:solidFill>
            </a:endParaRPr>
          </a:p>
          <a:p>
            <a:pPr indent="0" lvl="0" marL="0" rtl="0" algn="l">
              <a:spcBef>
                <a:spcPts val="0"/>
              </a:spcBef>
              <a:spcAft>
                <a:spcPts val="0"/>
              </a:spcAft>
              <a:buNone/>
            </a:pPr>
            <a:r>
              <a:t/>
            </a:r>
            <a:endParaRPr sz="1400">
              <a:solidFill>
                <a:srgbClr val="1A1A1A"/>
              </a:solidFill>
            </a:endParaRPr>
          </a:p>
          <a:p>
            <a:pPr indent="0" lvl="0" marL="0" rtl="0" algn="l">
              <a:spcBef>
                <a:spcPts val="0"/>
              </a:spcBef>
              <a:spcAft>
                <a:spcPts val="0"/>
              </a:spcAft>
              <a:buNone/>
            </a:pPr>
            <a:r>
              <a:rPr lang="en-US" sz="1400">
                <a:solidFill>
                  <a:srgbClr val="1A1A1A"/>
                </a:solidFill>
              </a:rPr>
              <a:t>Hardware-wise, different stages ran on different environments: candidate generation and profiling used an A100 on </a:t>
            </a:r>
            <a:r>
              <a:rPr lang="en-US" sz="1400" u="sng">
                <a:solidFill>
                  <a:schemeClr val="hlink"/>
                </a:solidFill>
                <a:hlinkClick r:id="rId2"/>
              </a:rPr>
              <a:t>vast.ai</a:t>
            </a:r>
            <a:r>
              <a:rPr lang="en-US" sz="1400">
                <a:solidFill>
                  <a:srgbClr val="1A1A1A"/>
                </a:solidFill>
              </a:rPr>
              <a:t>, fine-tuning used a T4 on GCP, and serving experiments used an A100. The main software stack was PyTorch, Transformers, qLoRA-related libraries, TensorBoard, W&amp;B, and HuggingFace plus vLLM for serving</a:t>
            </a:r>
            <a:endParaRPr sz="1400">
              <a:solidFill>
                <a:srgbClr val="1A1A1A"/>
              </a:solidFill>
            </a:endParaRPr>
          </a:p>
          <a:p>
            <a:pPr indent="0" lvl="0" marL="0" rtl="0" algn="l">
              <a:spcBef>
                <a:spcPts val="0"/>
              </a:spcBef>
              <a:spcAft>
                <a:spcPts val="0"/>
              </a:spcAft>
              <a:buNone/>
            </a:pPr>
            <a:r>
              <a:t/>
            </a:r>
            <a:endParaRPr sz="1400">
              <a:solidFill>
                <a:srgbClr val="1A1A1A"/>
              </a:solidFill>
            </a:endParaRPr>
          </a:p>
          <a:p>
            <a:pPr indent="0" lvl="0" marL="0" rtl="0" algn="l">
              <a:spcBef>
                <a:spcPts val="0"/>
              </a:spcBef>
              <a:spcAft>
                <a:spcPts val="0"/>
              </a:spcAft>
              <a:buNone/>
            </a:pPr>
            <a:r>
              <a:t/>
            </a:r>
            <a:endParaRPr sz="1400">
              <a:solidFill>
                <a:srgbClr val="1A1A1A"/>
              </a:solidFill>
            </a:endParaRPr>
          </a:p>
          <a:p>
            <a:pPr indent="0" lvl="0" marL="0" rtl="0" algn="l">
              <a:spcBef>
                <a:spcPts val="0"/>
              </a:spcBef>
              <a:spcAft>
                <a:spcPts val="0"/>
              </a:spcAft>
              <a:buNone/>
            </a:pPr>
            <a:r>
              <a:t/>
            </a:r>
            <a:endParaRPr sz="1400">
              <a:solidFill>
                <a:srgbClr val="1A1A1A"/>
              </a:solidFill>
            </a:endParaRPr>
          </a:p>
          <a:p>
            <a:pPr indent="0" lvl="0" marL="0" rtl="0" algn="l">
              <a:spcBef>
                <a:spcPts val="0"/>
              </a:spcBef>
              <a:spcAft>
                <a:spcPts val="0"/>
              </a:spcAft>
              <a:buNone/>
            </a:pPr>
            <a:r>
              <a:t/>
            </a:r>
            <a:endParaRPr sz="1400">
              <a:solidFill>
                <a:srgbClr val="1A1A1A"/>
              </a:solidFill>
            </a:endParaRPr>
          </a:p>
        </p:txBody>
      </p:sp>
      <p:sp>
        <p:nvSpPr>
          <p:cNvPr id="39" name="Google Shape;39;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 name="Google Shape;57;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Our approach has three parts. First, we use qLoRA fine-tuning so we can adapt Qwen2.5-Coder-1.5B cheaply. The base model is loaded in 4-bit precision and kept frozen, while we train small LoRA adapter weights. This makes fine-tuning feasible on limited GPU resources like a T4.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Second, we introduce a runtime-aware fine-tuning objective. For each EffiCoder training problem, the base model generates candidate solutions. We check which candidates pass the tests, benchmark their execution time, and then build two datasets: the control model trains on the first correct candidate, while the runtime-aware model trains on the fastest correct candidate. The idea is to teach the model to prefer code that is correct and also faster.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Third, we </a:t>
            </a:r>
            <a:r>
              <a:rPr lang="en-US"/>
              <a:t>evaluate</a:t>
            </a:r>
            <a:r>
              <a:rPr lang="en-US"/>
              <a:t> serving efficiency. We use a </a:t>
            </a:r>
            <a:r>
              <a:rPr lang="en-US"/>
              <a:t>smaller 1.5B model instead of a larger 7B model, and compare HuggingFace serving with optimized vLLM serving. This lets us study both model-level gains from fine-tuning and systems-level gains from the inference backend. </a:t>
            </a:r>
            <a:endParaRPr/>
          </a:p>
        </p:txBody>
      </p:sp>
      <p:sp>
        <p:nvSpPr>
          <p:cNvPr id="58" name="Google Shape;58;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 name="Google Shape;76;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600"/>
              </a:spcBef>
              <a:spcAft>
                <a:spcPts val="0"/>
              </a:spcAft>
              <a:buClr>
                <a:schemeClr val="dk1"/>
              </a:buClr>
              <a:buSzPts val="1100"/>
              <a:buFont typeface="Arial"/>
              <a:buNone/>
            </a:pPr>
            <a:r>
              <a:rPr lang="en-US" sz="1000">
                <a:solidFill>
                  <a:srgbClr val="333333"/>
                </a:solidFill>
                <a:latin typeface="Arial"/>
                <a:ea typeface="Arial"/>
                <a:cs typeface="Arial"/>
                <a:sym typeface="Arial"/>
              </a:rPr>
              <a:t>Here are the main headline results. On the serving side, switching from HuggingFace inference to vLLM increased output-token throughput from about 229 to 1891 tokens per second, which is an 8.3x improvement. On model quality, fine-tuning improved Pass@1 from 34.5% for the base model to 64.2%, which is a 29.7 percentage point gain. We also see that vLLM keeps the GPU much more saturated, increasing serving GPU utilization from around 37% with HuggingFace to around 97%.</a:t>
            </a:r>
            <a:endParaRPr sz="1000">
              <a:solidFill>
                <a:srgbClr val="333333"/>
              </a:solidFill>
              <a:latin typeface="Arial"/>
              <a:ea typeface="Arial"/>
              <a:cs typeface="Arial"/>
              <a:sym typeface="Arial"/>
            </a:endParaRPr>
          </a:p>
          <a:p>
            <a:pPr indent="0" lvl="0" marL="0" rtl="0" algn="l">
              <a:lnSpc>
                <a:spcPct val="150000"/>
              </a:lnSpc>
              <a:spcBef>
                <a:spcPts val="600"/>
              </a:spcBef>
              <a:spcAft>
                <a:spcPts val="0"/>
              </a:spcAft>
              <a:buClr>
                <a:schemeClr val="dk1"/>
              </a:buClr>
              <a:buSzPts val="1100"/>
              <a:buFont typeface="Arial"/>
              <a:buNone/>
            </a:pPr>
            <a:r>
              <a:rPr lang="en-US" sz="1000">
                <a:solidFill>
                  <a:srgbClr val="333333"/>
                </a:solidFill>
                <a:latin typeface="Arial"/>
                <a:ea typeface="Arial"/>
                <a:cs typeface="Arial"/>
                <a:sym typeface="Arial"/>
              </a:rPr>
              <a:t>So the high-level takeaway is that fine-tuning improves correctness, while optimized serving gives the largest throughput gain.</a:t>
            </a:r>
            <a:endParaRPr sz="1000">
              <a:solidFill>
                <a:srgbClr val="333333"/>
              </a:solidFill>
              <a:latin typeface="Arial"/>
              <a:ea typeface="Arial"/>
              <a:cs typeface="Arial"/>
              <a:sym typeface="Arial"/>
            </a:endParaRPr>
          </a:p>
          <a:p>
            <a:pPr indent="0" lvl="0" marL="0" rtl="0" algn="l">
              <a:spcBef>
                <a:spcPts val="600"/>
              </a:spcBef>
              <a:spcAft>
                <a:spcPts val="0"/>
              </a:spcAft>
              <a:buNone/>
            </a:pPr>
            <a:r>
              <a:t/>
            </a:r>
            <a:endParaRPr sz="1000"/>
          </a:p>
        </p:txBody>
      </p:sp>
      <p:sp>
        <p:nvSpPr>
          <p:cNvPr id="77" name="Google Shape;77;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6" name="Google Shape;96;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SzPts val="1100"/>
              <a:buNone/>
            </a:pPr>
            <a:r>
              <a:rPr lang="en-US"/>
              <a:t>This shows our ablation study evaluated on our held-out test split, using an 80/10/10 train, validation, test split.</a:t>
            </a:r>
            <a:endParaRPr/>
          </a:p>
          <a:p>
            <a:pPr indent="0" lvl="0" marL="0" rtl="0" algn="l">
              <a:lnSpc>
                <a:spcPct val="115000"/>
              </a:lnSpc>
              <a:spcBef>
                <a:spcPts val="0"/>
              </a:spcBef>
              <a:spcAft>
                <a:spcPts val="0"/>
              </a:spcAft>
              <a:buSzPts val="1100"/>
              <a:buNone/>
            </a:pPr>
            <a:r>
              <a:t/>
            </a:r>
            <a:endParaRPr/>
          </a:p>
          <a:p>
            <a:pPr indent="0" lvl="0" marL="0" rtl="0" algn="l">
              <a:lnSpc>
                <a:spcPct val="115000"/>
              </a:lnSpc>
              <a:spcBef>
                <a:spcPts val="0"/>
              </a:spcBef>
              <a:spcAft>
                <a:spcPts val="0"/>
              </a:spcAft>
              <a:buSzPts val="1100"/>
              <a:buNone/>
            </a:pPr>
            <a:r>
              <a:rPr lang="en-US"/>
              <a:t>On the left, we show the Pass@1 metric. The base model starts at 34.5%, and fine-tuning nearly doubles that to around 64% for both SFT variants. On the right, generation latency also improves, dropping from 0.787 seconds down to about 0.68 seconds.                                                                                                                                                                                                                                 </a:t>
            </a:r>
            <a:endParaRPr/>
          </a:p>
          <a:p>
            <a:pPr indent="0" lvl="0" marL="0" rtl="0" algn="l">
              <a:lnSpc>
                <a:spcPct val="115000"/>
              </a:lnSpc>
              <a:spcBef>
                <a:spcPts val="0"/>
              </a:spcBef>
              <a:spcAft>
                <a:spcPts val="0"/>
              </a:spcAft>
              <a:buSzPts val="1100"/>
              <a:buNone/>
            </a:pPr>
            <a:r>
              <a:t/>
            </a:r>
            <a:endParaRPr/>
          </a:p>
          <a:p>
            <a:pPr indent="0" lvl="0" marL="0" rtl="0" algn="l">
              <a:lnSpc>
                <a:spcPct val="115000"/>
              </a:lnSpc>
              <a:spcBef>
                <a:spcPts val="0"/>
              </a:spcBef>
              <a:spcAft>
                <a:spcPts val="0"/>
              </a:spcAft>
              <a:buSzPts val="1100"/>
              <a:buNone/>
            </a:pPr>
            <a:r>
              <a:rPr lang="en-US"/>
              <a:t>Interestingly, Control and Runtime-Aware SFT perform similarly. Our runtime-aware approach trains on the fastest correct candidate per problem, but when we analyzed the training data, the median speedup between candidates was only 1.02x. Because the two training sets ended up almost identical, the model had no strong signal to learn from. Generating a dataset with a stronger runtime signal is one improvement we identify in our next steps.</a:t>
            </a:r>
            <a:endParaRPr/>
          </a:p>
          <a:p>
            <a:pPr indent="0" lvl="0" marL="0" rtl="0" algn="l">
              <a:lnSpc>
                <a:spcPct val="115000"/>
              </a:lnSpc>
              <a:spcBef>
                <a:spcPts val="0"/>
              </a:spcBef>
              <a:spcAft>
                <a:spcPts val="0"/>
              </a:spcAft>
              <a:buSzPts val="1100"/>
              <a:buNone/>
            </a:pPr>
            <a:r>
              <a:t/>
            </a:r>
            <a:endParaRPr/>
          </a:p>
          <a:p>
            <a:pPr indent="0" lvl="0" marL="0" rtl="0" algn="l">
              <a:spcBef>
                <a:spcPts val="0"/>
              </a:spcBef>
              <a:spcAft>
                <a:spcPts val="0"/>
              </a:spcAft>
              <a:buNone/>
            </a:pPr>
            <a:r>
              <a:t/>
            </a:r>
            <a:endParaRPr/>
          </a:p>
        </p:txBody>
      </p:sp>
      <p:sp>
        <p:nvSpPr>
          <p:cNvPr id="97" name="Google Shape;97;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8" name="Google Shape;108;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For profiling, we used PyTorch Profiler and TensorBoard traces, and a custom operator profiler to inspect inference behavior and </a:t>
            </a:r>
            <a:r>
              <a:rPr lang="en-US"/>
              <a:t>identify top PyTorch and CUDA operators. We tracked GPU and Tensor Core utilization, CPU–GPU execution split, memory usage, latency, and attention/GEMM-heavy operators. All models were profiled under identical prompts, generation settings, batch size, token limits, and GPU environment, with warmup and repeated runs.</a:t>
            </a:r>
            <a:endParaRPr/>
          </a:p>
          <a:p>
            <a:pPr indent="0" lvl="0" marL="0" rtl="0" algn="l">
              <a:spcBef>
                <a:spcPts val="0"/>
              </a:spcBef>
              <a:spcAft>
                <a:spcPts val="0"/>
              </a:spcAft>
              <a:buNone/>
            </a:pPr>
            <a:r>
              <a:rPr lang="en-US"/>
              <a:t> </a:t>
            </a:r>
            <a:endParaRPr/>
          </a:p>
        </p:txBody>
      </p:sp>
      <p:sp>
        <p:nvSpPr>
          <p:cNvPr id="109" name="Google Shape;109;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2" name="Google Shape;122;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Here looking at the screenshot of the TensorBoard overview, the GPU utilization is around 74% for the base model, while Tensor Core utilization is only at 19%. This is </a:t>
            </a:r>
            <a:r>
              <a:rPr lang="en-US"/>
              <a:t>separate</a:t>
            </a:r>
            <a:r>
              <a:rPr lang="en-US"/>
              <a:t> from the serving benchmark GPU utilization: here we are looking inside one generation workload to </a:t>
            </a:r>
            <a:r>
              <a:rPr lang="en-US"/>
              <a:t>understand</a:t>
            </a:r>
            <a:r>
              <a:rPr lang="en-US"/>
              <a:t> where time is spent.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execution summary shows that about 75% of step time is GPU kernel execution and about 18% is CPU execution. DataLoader does not show up as a top operator, so data loading is not a </a:t>
            </a:r>
            <a:r>
              <a:rPr lang="en-US"/>
              <a:t>bottleneck here. Instead, most GPU time goes into standard transformer operations such as linear layers, matrix multiplication, and scaled-dot-product attention.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We also see cudaLaunchKernel, cudaStreamSynchronize and aten::item among the top operators. That aligns with the model’s autoregressive decoding pattern: the model generates one token at a time, repeatedly launching many small kernels and synchronizing between CPU and GPU.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key takeaway is that the base, </a:t>
            </a:r>
            <a:r>
              <a:rPr lang="en-US"/>
              <a:t>control</a:t>
            </a:r>
            <a:r>
              <a:rPr lang="en-US"/>
              <a:t>, and runtime-aware models have very similar kernel behavior. Since we use qLoRA, only the adapter weights are trained; the base architecture and inference graph stay the same. So fine-tuning changes what the model </a:t>
            </a:r>
            <a:r>
              <a:rPr lang="en-US"/>
              <a:t>generates</a:t>
            </a:r>
            <a:r>
              <a:rPr lang="en-US"/>
              <a:t>, but not the underlying GPU kernel mix. This aligns with our serving results: fine-tuning changes the generated outputs, while vLLM changes how </a:t>
            </a:r>
            <a:r>
              <a:rPr lang="en-US"/>
              <a:t>efficiently</a:t>
            </a:r>
            <a:r>
              <a:rPr lang="en-US"/>
              <a:t> inference is executed. </a:t>
            </a:r>
            <a:endParaRPr/>
          </a:p>
        </p:txBody>
      </p:sp>
      <p:sp>
        <p:nvSpPr>
          <p:cNvPr id="123" name="Google Shape;123;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9" name="Google Shape;139;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lang="en-US"/>
              <a:t>choose highest video quality. pause after last cell is run (GPU stats)</a:t>
            </a:r>
            <a:br>
              <a:rPr lang="en-US"/>
            </a:br>
            <a:br>
              <a:rPr lang="en-US"/>
            </a:br>
            <a:r>
              <a:rPr lang="en-US"/>
              <a:t>For our demo, we will show our Runtime-Aware SFT generating a correct and </a:t>
            </a:r>
            <a:r>
              <a:rPr lang="en-US"/>
              <a:t>efficient </a:t>
            </a:r>
            <a:r>
              <a:rPr lang="en-US"/>
              <a:t>solution for the famous Two Sum coding problem. </a:t>
            </a:r>
            <a:r>
              <a:rPr lang="en-US"/>
              <a:t>All the tokenizer and setup has been run off camera to speedup the demonstration.</a:t>
            </a:r>
            <a:endParaRPr/>
          </a:p>
          <a:p>
            <a:pPr indent="0" lvl="0" marL="0" rtl="0" algn="l">
              <a:lnSpc>
                <a:spcPct val="115000"/>
              </a:lnSpc>
              <a:spcBef>
                <a:spcPts val="0"/>
              </a:spcBef>
              <a:spcAft>
                <a:spcPts val="0"/>
              </a:spcAft>
              <a:buClr>
                <a:schemeClr val="dk1"/>
              </a:buClr>
              <a:buSzPts val="1100"/>
              <a:buFont typeface="Arial"/>
              <a:buNone/>
            </a:pPr>
            <a:r>
              <a:t/>
            </a:r>
            <a:endParaRPr/>
          </a:p>
          <a:p>
            <a:pPr indent="0" lvl="0" marL="0" rtl="0" algn="l">
              <a:lnSpc>
                <a:spcPct val="115000"/>
              </a:lnSpc>
              <a:spcBef>
                <a:spcPts val="0"/>
              </a:spcBef>
              <a:spcAft>
                <a:spcPts val="0"/>
              </a:spcAft>
              <a:buClr>
                <a:schemeClr val="dk1"/>
              </a:buClr>
              <a:buSzPts val="1100"/>
              <a:buFont typeface="Arial"/>
              <a:buNone/>
            </a:pPr>
            <a:r>
              <a:rPr lang="en-US"/>
              <a:t>So while we are prompting the model to write up a solution for two sum, I’ll go over a bit of background about the problem. The naive approach has a big O of n squared complexity due to the nested loops but we want to see if our SFT finds the efficient big O of n hash-map solution. Here you can see all five tests pass. And we can also verify that it generated the correct and efficient hash-map approach. </a:t>
            </a:r>
            <a:endParaRPr/>
          </a:p>
          <a:p>
            <a:pPr indent="0" lvl="0" marL="0" rtl="0" algn="l">
              <a:lnSpc>
                <a:spcPct val="115000"/>
              </a:lnSpc>
              <a:spcBef>
                <a:spcPts val="0"/>
              </a:spcBef>
              <a:spcAft>
                <a:spcPts val="0"/>
              </a:spcAft>
              <a:buClr>
                <a:schemeClr val="dk1"/>
              </a:buClr>
              <a:buSzPts val="1100"/>
              <a:buFont typeface="Arial"/>
              <a:buNone/>
            </a:pPr>
            <a:r>
              <a:t/>
            </a:r>
            <a:endParaRPr/>
          </a:p>
          <a:p>
            <a:pPr indent="0" lvl="0" marL="0" rtl="0" algn="l">
              <a:lnSpc>
                <a:spcPct val="115000"/>
              </a:lnSpc>
              <a:spcBef>
                <a:spcPts val="0"/>
              </a:spcBef>
              <a:spcAft>
                <a:spcPts val="0"/>
              </a:spcAft>
              <a:buClr>
                <a:schemeClr val="dk1"/>
              </a:buClr>
              <a:buSzPts val="1100"/>
              <a:buFont typeface="Arial"/>
              <a:buNone/>
            </a:pPr>
            <a:r>
              <a:rPr lang="en-US"/>
              <a:t>Now taking a look at the system side for our GPU stats from </a:t>
            </a:r>
            <a:r>
              <a:rPr lang="en-US" u="sng">
                <a:solidFill>
                  <a:schemeClr val="hlink"/>
                </a:solidFill>
                <a:hlinkClick r:id="rId2"/>
              </a:rPr>
              <a:t>Vast.ai</a:t>
            </a:r>
            <a:r>
              <a:rPr lang="en-US"/>
              <a:t>. When we profiled HuggingFace on an A100, 51% of the step time was on the CPU. The generate loop runs one token at a time in Python, stalling the GPU between every forward pass resulting in only 37% GPU utilization. The fix was for this was vLLM. PagedAttention and continuous batching boost utilization from 37% to 97%, keeping the GPU much more saturated.</a:t>
            </a:r>
            <a:br>
              <a:rPr lang="en-US"/>
            </a:br>
            <a:endParaRPr/>
          </a:p>
        </p:txBody>
      </p:sp>
      <p:sp>
        <p:nvSpPr>
          <p:cNvPr id="140" name="Google Shape;140;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0" name="Google Shape;150;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SzPts val="1100"/>
              <a:buNone/>
            </a:pPr>
            <a:r>
              <a:rPr lang="en-US"/>
              <a:t>This slide summarizes what worked and what didn't. As you’ve seen, qLoRA fine-tuning substantially improved correctness, and vLLM gave the biggest systems gain. Profiling was valuable for diagnosing where time was actually going.</a:t>
            </a:r>
            <a:endParaRPr/>
          </a:p>
          <a:p>
            <a:pPr indent="0" lvl="0" marL="0" rtl="0" algn="l">
              <a:lnSpc>
                <a:spcPct val="115000"/>
              </a:lnSpc>
              <a:spcBef>
                <a:spcPts val="0"/>
              </a:spcBef>
              <a:spcAft>
                <a:spcPts val="0"/>
              </a:spcAft>
              <a:buSzPts val="1100"/>
              <a:buNone/>
            </a:pPr>
            <a:r>
              <a:rPr lang="en-US"/>
              <a:t>On the other hand, runtime-aware SFT didn't meaningfully beat control SFT, so selecting the fastest correct candidate for this particular dataset wasn't enough. And since qLoRA only modifies adapter weights, it didn't change GPU utilization. Addressing that would require deeper kernel or serving-level optimization</a:t>
            </a:r>
            <a:endParaRPr/>
          </a:p>
          <a:p>
            <a:pPr indent="0" lvl="0" marL="0" rtl="0" algn="l">
              <a:lnSpc>
                <a:spcPct val="115000"/>
              </a:lnSpc>
              <a:spcBef>
                <a:spcPts val="0"/>
              </a:spcBef>
              <a:spcAft>
                <a:spcPts val="0"/>
              </a:spcAft>
              <a:buSzPts val="1100"/>
              <a:buNone/>
            </a:pPr>
            <a:r>
              <a:t/>
            </a:r>
            <a:endParaRPr/>
          </a:p>
          <a:p>
            <a:pPr indent="0" lvl="0" marL="0" rtl="0" algn="l">
              <a:lnSpc>
                <a:spcPct val="115000"/>
              </a:lnSpc>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
        <p:nvSpPr>
          <p:cNvPr id="151" name="Google Shape;151;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4" name="Google Shape;164;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Some possible next steps are to run broader </a:t>
            </a:r>
            <a:r>
              <a:rPr lang="en-US"/>
              <a:t>hyperparameter</a:t>
            </a:r>
            <a:r>
              <a:rPr lang="en-US"/>
              <a:t> tuning and expand the dataset to </a:t>
            </a:r>
            <a:r>
              <a:rPr lang="en-US"/>
              <a:t>improve</a:t>
            </a:r>
            <a:r>
              <a:rPr lang="en-US"/>
              <a:t> runtime performance over the control model. We also want to further optimize serving overhead using larger batching, prefix caching, and CUDA graphs. Finally, another direction is exploring DPO-style preference training on correct-solution pairs with meaningful runtime gaps, so the model learns to prefer the faster implementations over slower correct ones.</a:t>
            </a:r>
            <a:endParaRPr/>
          </a:p>
        </p:txBody>
      </p:sp>
      <p:sp>
        <p:nvSpPr>
          <p:cNvPr id="165" name="Google Shape;165;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5" name="Google Shape;175;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6B6F76"/>
              </a:buClr>
              <a:buSzPts val="1100"/>
              <a:buFont typeface="Calibri"/>
              <a:buNone/>
            </a:pPr>
            <a:r>
              <a:rPr i="1" lang="en-US" sz="1100">
                <a:solidFill>
                  <a:srgbClr val="6B6F76"/>
                </a:solidFill>
              </a:rPr>
              <a:t>Collaboration: regular [weekly / twice-weekly] meetings via [Zoom / in person], shared [Slack / Discord] channel, code review on every PR.</a:t>
            </a:r>
            <a:endParaRPr sz="1100"/>
          </a:p>
          <a:p>
            <a:pPr indent="0" lvl="0" marL="0" rtl="0" algn="l">
              <a:spcBef>
                <a:spcPts val="0"/>
              </a:spcBef>
              <a:spcAft>
                <a:spcPts val="0"/>
              </a:spcAft>
              <a:buNone/>
            </a:pPr>
            <a:r>
              <a:t/>
            </a:r>
            <a:endParaRPr/>
          </a:p>
        </p:txBody>
      </p:sp>
      <p:sp>
        <p:nvSpPr>
          <p:cNvPr id="176" name="Google Shape;176;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7" name="Google Shape;187;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8" name="Google Shape;188;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7" name="Google Shape;197;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8" name="Google Shape;198;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3dc30184492_2_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3dc30184492_2_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9" name="Google Shape;209;g3dc30184492_2_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github.com/jasmineztruong8/efficient-codegen/tree/main" TargetMode="External"/><Relationship Id="rId4" Type="http://schemas.openxmlformats.org/officeDocument/2006/relationships/hyperlink" Target="https://wandb.ai/efficient-codegen/hpml-efficient-codegen"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hyperlink" Target="https://arxiv.org/pdf/2410.10209" TargetMode="External"/><Relationship Id="rId4" Type="http://schemas.openxmlformats.org/officeDocument/2006/relationships/hyperlink" Target="https://arxiv.org/pdf/2506.02153" TargetMode="External"/><Relationship Id="rId5" Type="http://schemas.openxmlformats.org/officeDocument/2006/relationships/hyperlink" Target="https://arxiv.org/pdf/2409.12186"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hyperlink" Target="http://vast.ai"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hyperlink" Target="http://drive.google.com/file/d/1SFhNuevU5_3vZkh7mk6T8Ck48R7I4-21/view" TargetMode="External"/><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hyperlink" Target="http://generation.py" TargetMode="External"/><Relationship Id="rId4" Type="http://schemas.openxmlformats.org/officeDocument/2006/relationships/hyperlink" Target="http://roofline.py"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hyperlink" Target="https://github.com/jasmineztruong8/efficient-codegen/tree/main" TargetMode="External"/><Relationship Id="rId4" Type="http://schemas.openxmlformats.org/officeDocument/2006/relationships/hyperlink" Target="https://wandb.ai/efficient-codegen/hpml-efficient-codegen"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hyperlink" Target="http://drive.google.com/file/d/1JIE-FXzRp-u8EjvFouthZofi197caoVA/view" TargetMode="External"/><Relationship Id="rId4" Type="http://schemas.openxmlformats.org/officeDocument/2006/relationships/image" Target="../media/image5.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C1F26"/>
        </a:solidFill>
      </p:bgPr>
    </p:bg>
    <p:spTree>
      <p:nvGrpSpPr>
        <p:cNvPr id="15" name="Shape 15"/>
        <p:cNvGrpSpPr/>
        <p:nvPr/>
      </p:nvGrpSpPr>
      <p:grpSpPr>
        <a:xfrm>
          <a:off x="0" y="0"/>
          <a:ext cx="0" cy="0"/>
          <a:chOff x="0" y="0"/>
          <a:chExt cx="0" cy="0"/>
        </a:xfrm>
      </p:grpSpPr>
      <p:sp>
        <p:nvSpPr>
          <p:cNvPr id="16" name="Google Shape;16;p1"/>
          <p:cNvSpPr/>
          <p:nvPr/>
        </p:nvSpPr>
        <p:spPr>
          <a:xfrm>
            <a:off x="548640" y="548640"/>
            <a:ext cx="109728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BCC4"/>
              </a:buClr>
              <a:buSzPts val="1200"/>
              <a:buFont typeface="Calibri"/>
              <a:buNone/>
            </a:pPr>
            <a:r>
              <a:rPr b="0" i="0" lang="en-US" sz="1200" u="none" cap="none" strike="noStrike">
                <a:solidFill>
                  <a:srgbClr val="B8BCC4"/>
                </a:solidFill>
                <a:latin typeface="Calibri"/>
                <a:ea typeface="Calibri"/>
                <a:cs typeface="Calibri"/>
                <a:sym typeface="Calibri"/>
              </a:rPr>
              <a:t>HPML Final Project  ·  Spring 2026</a:t>
            </a:r>
            <a:endParaRPr b="0" i="0" sz="1200" u="none" cap="none" strike="noStrike">
              <a:solidFill>
                <a:schemeClr val="dk1"/>
              </a:solidFill>
              <a:latin typeface="Calibri"/>
              <a:ea typeface="Calibri"/>
              <a:cs typeface="Calibri"/>
              <a:sym typeface="Calibri"/>
            </a:endParaRPr>
          </a:p>
        </p:txBody>
      </p:sp>
      <p:sp>
        <p:nvSpPr>
          <p:cNvPr id="17" name="Google Shape;17;p1"/>
          <p:cNvSpPr/>
          <p:nvPr/>
        </p:nvSpPr>
        <p:spPr>
          <a:xfrm>
            <a:off x="548640" y="2011680"/>
            <a:ext cx="10972800" cy="128016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b="1" lang="en-US" sz="5400">
                <a:solidFill>
                  <a:srgbClr val="FFFFFF"/>
                </a:solidFill>
                <a:latin typeface="Calibri"/>
                <a:ea typeface="Calibri"/>
                <a:cs typeface="Calibri"/>
                <a:sym typeface="Calibri"/>
              </a:rPr>
              <a:t>Optimization of SLMs for Efficient Code Generation</a:t>
            </a:r>
            <a:endParaRPr b="1" sz="5400">
              <a:solidFill>
                <a:srgbClr val="FFFFFF"/>
              </a:solidFill>
              <a:latin typeface="Calibri"/>
              <a:ea typeface="Calibri"/>
              <a:cs typeface="Calibri"/>
              <a:sym typeface="Calibri"/>
            </a:endParaRPr>
          </a:p>
          <a:p>
            <a:pPr indent="0" lvl="0" marL="0" marR="0" rtl="0" algn="l">
              <a:spcBef>
                <a:spcPts val="0"/>
              </a:spcBef>
              <a:spcAft>
                <a:spcPts val="0"/>
              </a:spcAft>
              <a:buClr>
                <a:srgbClr val="FFFFFF"/>
              </a:buClr>
              <a:buSzPts val="5400"/>
              <a:buFont typeface="Calibri"/>
              <a:buNone/>
            </a:pPr>
            <a:r>
              <a:t/>
            </a:r>
            <a:endParaRPr b="1" sz="5400">
              <a:solidFill>
                <a:srgbClr val="FFFFFF"/>
              </a:solidFill>
              <a:latin typeface="Calibri"/>
              <a:ea typeface="Calibri"/>
              <a:cs typeface="Calibri"/>
              <a:sym typeface="Calibri"/>
            </a:endParaRPr>
          </a:p>
        </p:txBody>
      </p:sp>
      <p:sp>
        <p:nvSpPr>
          <p:cNvPr id="18" name="Google Shape;18;p1"/>
          <p:cNvSpPr/>
          <p:nvPr/>
        </p:nvSpPr>
        <p:spPr>
          <a:xfrm>
            <a:off x="548640" y="3383280"/>
            <a:ext cx="1097280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BCC4"/>
              </a:buClr>
              <a:buSzPts val="2000"/>
              <a:buFont typeface="Calibri"/>
              <a:buNone/>
            </a:pPr>
            <a:r>
              <a:rPr i="1" lang="en-US" sz="2000">
                <a:solidFill>
                  <a:srgbClr val="B8BCC4"/>
                </a:solidFill>
                <a:latin typeface="Calibri"/>
                <a:ea typeface="Calibri"/>
                <a:cs typeface="Calibri"/>
                <a:sym typeface="Calibri"/>
              </a:rPr>
              <a:t>We optimized Qwen2.5-Coder-1.5B for efficient code generation through runtime-aware fine-tuning and serving optimization, improving Pass@1 from 34.5% to 64.2% and increasing serving throughput by up to 8.3x with vLLM.</a:t>
            </a:r>
            <a:endParaRPr b="0" i="0" sz="2000" u="none" cap="none" strike="noStrike">
              <a:solidFill>
                <a:schemeClr val="dk1"/>
              </a:solidFill>
              <a:latin typeface="Calibri"/>
              <a:ea typeface="Calibri"/>
              <a:cs typeface="Calibri"/>
              <a:sym typeface="Calibri"/>
            </a:endParaRPr>
          </a:p>
        </p:txBody>
      </p:sp>
      <p:sp>
        <p:nvSpPr>
          <p:cNvPr id="19" name="Google Shape;19;p1"/>
          <p:cNvSpPr/>
          <p:nvPr/>
        </p:nvSpPr>
        <p:spPr>
          <a:xfrm>
            <a:off x="548640" y="4572000"/>
            <a:ext cx="5486400" cy="1463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600"/>
              <a:buFont typeface="Calibri"/>
              <a:buNone/>
            </a:pPr>
            <a:r>
              <a:rPr b="1" lang="en-US" sz="1600">
                <a:solidFill>
                  <a:srgbClr val="FFFFFF"/>
                </a:solidFill>
                <a:latin typeface="Calibri"/>
                <a:ea typeface="Calibri"/>
                <a:cs typeface="Calibri"/>
                <a:sym typeface="Calibri"/>
              </a:rPr>
              <a:t>Team 22</a:t>
            </a:r>
            <a:endParaRPr b="0" i="0" sz="16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C8CCD2"/>
              </a:buClr>
              <a:buSzPts val="1300"/>
              <a:buFont typeface="Calibri"/>
              <a:buNone/>
            </a:pPr>
            <a:r>
              <a:rPr lang="en-US" sz="1300">
                <a:solidFill>
                  <a:srgbClr val="C8CCD2"/>
                </a:solidFill>
                <a:latin typeface="Calibri"/>
                <a:ea typeface="Calibri"/>
                <a:cs typeface="Calibri"/>
                <a:sym typeface="Calibri"/>
              </a:rPr>
              <a:t>Arnav Mahajan</a:t>
            </a:r>
            <a:r>
              <a:rPr b="0" i="0" lang="en-US" sz="1300" u="none" cap="none" strike="noStrike">
                <a:solidFill>
                  <a:srgbClr val="C8CCD2"/>
                </a:solidFill>
                <a:latin typeface="Calibri"/>
                <a:ea typeface="Calibri"/>
                <a:cs typeface="Calibri"/>
                <a:sym typeface="Calibri"/>
              </a:rPr>
              <a:t> · </a:t>
            </a:r>
            <a:r>
              <a:rPr lang="en-US" sz="1300">
                <a:solidFill>
                  <a:srgbClr val="C8CCD2"/>
                </a:solidFill>
                <a:latin typeface="Calibri"/>
                <a:ea typeface="Calibri"/>
                <a:cs typeface="Calibri"/>
                <a:sym typeface="Calibri"/>
              </a:rPr>
              <a:t>am6442</a:t>
            </a:r>
            <a:endParaRPr b="0" i="0" sz="16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C8CCD2"/>
              </a:buClr>
              <a:buSzPts val="1300"/>
              <a:buFont typeface="Calibri"/>
              <a:buNone/>
            </a:pPr>
            <a:r>
              <a:rPr lang="en-US" sz="1300">
                <a:solidFill>
                  <a:srgbClr val="C8CCD2"/>
                </a:solidFill>
                <a:latin typeface="Calibri"/>
                <a:ea typeface="Calibri"/>
                <a:cs typeface="Calibri"/>
                <a:sym typeface="Calibri"/>
              </a:rPr>
              <a:t>Jasmine Truong</a:t>
            </a:r>
            <a:r>
              <a:rPr b="0" i="0" lang="en-US" sz="1300" u="none" cap="none" strike="noStrike">
                <a:solidFill>
                  <a:srgbClr val="C8CCD2"/>
                </a:solidFill>
                <a:latin typeface="Calibri"/>
                <a:ea typeface="Calibri"/>
                <a:cs typeface="Calibri"/>
                <a:sym typeface="Calibri"/>
              </a:rPr>
              <a:t> · </a:t>
            </a:r>
            <a:r>
              <a:rPr lang="en-US" sz="1300">
                <a:solidFill>
                  <a:srgbClr val="C8CCD2"/>
                </a:solidFill>
                <a:latin typeface="Calibri"/>
                <a:ea typeface="Calibri"/>
                <a:cs typeface="Calibri"/>
                <a:sym typeface="Calibri"/>
              </a:rPr>
              <a:t>jt3595</a:t>
            </a:r>
            <a:endParaRPr sz="1600">
              <a:solidFill>
                <a:schemeClr val="dk1"/>
              </a:solidFill>
              <a:latin typeface="Calibri"/>
              <a:ea typeface="Calibri"/>
              <a:cs typeface="Calibri"/>
              <a:sym typeface="Calibri"/>
            </a:endParaRPr>
          </a:p>
          <a:p>
            <a:pPr indent="0" lvl="0" marL="0" marR="0" rtl="0" algn="l">
              <a:spcBef>
                <a:spcPts val="0"/>
              </a:spcBef>
              <a:spcAft>
                <a:spcPts val="0"/>
              </a:spcAft>
              <a:buClr>
                <a:srgbClr val="C8CCD2"/>
              </a:buClr>
              <a:buSzPts val="1300"/>
              <a:buFont typeface="Calibri"/>
              <a:buNone/>
            </a:pPr>
            <a:r>
              <a:rPr lang="en-US" sz="1300">
                <a:solidFill>
                  <a:srgbClr val="C8CCD2"/>
                </a:solidFill>
                <a:latin typeface="Calibri"/>
                <a:ea typeface="Calibri"/>
                <a:cs typeface="Calibri"/>
                <a:sym typeface="Calibri"/>
              </a:rPr>
              <a:t>Jianyi Gao</a:t>
            </a:r>
            <a:r>
              <a:rPr b="0" i="0" lang="en-US" sz="1300" u="none" cap="none" strike="noStrike">
                <a:solidFill>
                  <a:srgbClr val="C8CCD2"/>
                </a:solidFill>
                <a:latin typeface="Calibri"/>
                <a:ea typeface="Calibri"/>
                <a:cs typeface="Calibri"/>
                <a:sym typeface="Calibri"/>
              </a:rPr>
              <a:t> · </a:t>
            </a:r>
            <a:r>
              <a:rPr lang="en-US" sz="1300">
                <a:solidFill>
                  <a:srgbClr val="C8CCD2"/>
                </a:solidFill>
                <a:latin typeface="Calibri"/>
                <a:ea typeface="Calibri"/>
                <a:cs typeface="Calibri"/>
                <a:sym typeface="Calibri"/>
              </a:rPr>
              <a:t>jg4553</a:t>
            </a:r>
            <a:endParaRPr b="0" i="0" sz="16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C8CCD2"/>
              </a:buClr>
              <a:buSzPts val="1300"/>
              <a:buFont typeface="Calibri"/>
              <a:buNone/>
            </a:pPr>
            <a:r>
              <a:rPr lang="en-US" sz="1300">
                <a:solidFill>
                  <a:srgbClr val="C8CCD2"/>
                </a:solidFill>
                <a:latin typeface="Calibri"/>
                <a:ea typeface="Calibri"/>
                <a:cs typeface="Calibri"/>
                <a:sym typeface="Calibri"/>
              </a:rPr>
              <a:t>Yingxin Zhang</a:t>
            </a:r>
            <a:r>
              <a:rPr b="0" i="0" lang="en-US" sz="1300" u="none" cap="none" strike="noStrike">
                <a:solidFill>
                  <a:srgbClr val="C8CCD2"/>
                </a:solidFill>
                <a:latin typeface="Calibri"/>
                <a:ea typeface="Calibri"/>
                <a:cs typeface="Calibri"/>
                <a:sym typeface="Calibri"/>
              </a:rPr>
              <a:t> · </a:t>
            </a:r>
            <a:r>
              <a:rPr lang="en-US" sz="1300">
                <a:solidFill>
                  <a:srgbClr val="C8CCD2"/>
                </a:solidFill>
                <a:latin typeface="Calibri"/>
                <a:ea typeface="Calibri"/>
                <a:cs typeface="Calibri"/>
                <a:sym typeface="Calibri"/>
              </a:rPr>
              <a:t>yz3202</a:t>
            </a:r>
            <a:endParaRPr b="0" i="0" sz="1600" u="none" cap="none" strike="noStrike">
              <a:solidFill>
                <a:schemeClr val="dk1"/>
              </a:solidFill>
              <a:latin typeface="Calibri"/>
              <a:ea typeface="Calibri"/>
              <a:cs typeface="Calibri"/>
              <a:sym typeface="Calibri"/>
            </a:endParaRPr>
          </a:p>
        </p:txBody>
      </p:sp>
      <p:sp>
        <p:nvSpPr>
          <p:cNvPr id="20" name="Google Shape;20;p1"/>
          <p:cNvSpPr/>
          <p:nvPr/>
        </p:nvSpPr>
        <p:spPr>
          <a:xfrm>
            <a:off x="6400800" y="4572000"/>
            <a:ext cx="5486400" cy="1463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i="0" lang="en-US" sz="1300" u="none" cap="none" strike="noStrike">
                <a:solidFill>
                  <a:schemeClr val="lt1"/>
                </a:solidFill>
                <a:latin typeface="Calibri"/>
                <a:ea typeface="Calibri"/>
                <a:cs typeface="Calibri"/>
                <a:sym typeface="Calibri"/>
              </a:rPr>
              <a:t>GitHub:  </a:t>
            </a:r>
            <a:r>
              <a:rPr lang="en-US" sz="1300" u="sng">
                <a:solidFill>
                  <a:schemeClr val="lt1"/>
                </a:solidFill>
                <a:latin typeface="Calibri"/>
                <a:ea typeface="Calibri"/>
                <a:cs typeface="Calibri"/>
                <a:sym typeface="Calibri"/>
                <a:hlinkClick r:id="rId3">
                  <a:extLst>
                    <a:ext uri="{A12FA001-AC4F-418D-AE19-62706E023703}">
                      <ahyp:hlinkClr val="tx"/>
                    </a:ext>
                  </a:extLst>
                </a:hlinkClick>
              </a:rPr>
              <a:t>https://github.com/jasmineztruong8/efficient-codegen/tree/main</a:t>
            </a:r>
            <a:endParaRPr i="0" sz="1300" u="none" cap="none" strike="noStrike">
              <a:solidFill>
                <a:schemeClr val="lt1"/>
              </a:solidFill>
              <a:latin typeface="Calibri"/>
              <a:ea typeface="Calibri"/>
              <a:cs typeface="Calibri"/>
              <a:sym typeface="Calibri"/>
            </a:endParaRPr>
          </a:p>
          <a:p>
            <a:pPr indent="0" lvl="0" marL="0" marR="0" rtl="0" algn="l">
              <a:spcBef>
                <a:spcPts val="0"/>
              </a:spcBef>
              <a:spcAft>
                <a:spcPts val="0"/>
              </a:spcAft>
              <a:buClr>
                <a:srgbClr val="FFFFFF"/>
              </a:buClr>
              <a:buSzPts val="1300"/>
              <a:buFont typeface="Calibri"/>
              <a:buNone/>
            </a:pPr>
            <a:r>
              <a:rPr i="0" lang="en-US" sz="1300" u="none" cap="none" strike="noStrike">
                <a:solidFill>
                  <a:schemeClr val="lt1"/>
                </a:solidFill>
                <a:latin typeface="Calibri"/>
                <a:ea typeface="Calibri"/>
                <a:cs typeface="Calibri"/>
                <a:sym typeface="Calibri"/>
              </a:rPr>
              <a:t>Tracking:  </a:t>
            </a:r>
            <a:r>
              <a:rPr lang="en-US" sz="1300" u="sng">
                <a:solidFill>
                  <a:schemeClr val="lt1"/>
                </a:solidFill>
                <a:latin typeface="Calibri"/>
                <a:ea typeface="Calibri"/>
                <a:cs typeface="Calibri"/>
                <a:sym typeface="Calibri"/>
                <a:hlinkClick r:id="rId4">
                  <a:extLst>
                    <a:ext uri="{A12FA001-AC4F-418D-AE19-62706E023703}">
                      <ahyp:hlinkClr val="tx"/>
                    </a:ext>
                  </a:extLst>
                </a:hlinkClick>
              </a:rPr>
              <a:t>https://wandb.ai/efficient-codegen/hpml-efficient-codegen</a:t>
            </a:r>
            <a:endParaRPr i="0" sz="1300" u="none" cap="none" strike="noStrike">
              <a:solidFill>
                <a:schemeClr val="lt1"/>
              </a:solidFill>
              <a:latin typeface="Calibri"/>
              <a:ea typeface="Calibri"/>
              <a:cs typeface="Calibri"/>
              <a:sym typeface="Calibri"/>
            </a:endParaRPr>
          </a:p>
        </p:txBody>
      </p:sp>
      <p:sp>
        <p:nvSpPr>
          <p:cNvPr id="21" name="Google Shape;21;p1"/>
          <p:cNvSpPr/>
          <p:nvPr/>
        </p:nvSpPr>
        <p:spPr>
          <a:xfrm>
            <a:off x="548640" y="6400800"/>
            <a:ext cx="10972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E939A"/>
              </a:buClr>
              <a:buSzPts val="1000"/>
              <a:buFont typeface="Calibri"/>
              <a:buNone/>
            </a:pPr>
            <a:r>
              <a:rPr b="0" i="1" lang="en-US" sz="1000" u="none" cap="none" strike="noStrike">
                <a:solidFill>
                  <a:srgbClr val="8E939A"/>
                </a:solidFill>
                <a:latin typeface="Calibri"/>
                <a:ea typeface="Calibri"/>
                <a:cs typeface="Calibri"/>
                <a:sym typeface="Calibri"/>
              </a:rPr>
              <a:t>Dr. Kaoutar El Maghraoui  ·  Columbia University  ·  Week of May 4, 2026</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 name="Shape 26"/>
        <p:cNvGrpSpPr/>
        <p:nvPr/>
      </p:nvGrpSpPr>
      <p:grpSpPr>
        <a:xfrm>
          <a:off x="0" y="0"/>
          <a:ext cx="0" cy="0"/>
          <a:chOff x="0" y="0"/>
          <a:chExt cx="0" cy="0"/>
        </a:xfrm>
      </p:grpSpPr>
      <p:sp>
        <p:nvSpPr>
          <p:cNvPr id="27" name="Google Shape;27;p2"/>
          <p:cNvSpPr/>
          <p:nvPr/>
        </p:nvSpPr>
        <p:spPr>
          <a:xfrm>
            <a:off x="457200" y="502920"/>
            <a:ext cx="11274552"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3200"/>
              <a:buFont typeface="Calibri"/>
              <a:buNone/>
            </a:pPr>
            <a:r>
              <a:rPr b="1" i="0" lang="en-US" sz="3200" u="none" cap="none" strike="noStrike">
                <a:solidFill>
                  <a:srgbClr val="1A1A1A"/>
                </a:solidFill>
                <a:latin typeface="Calibri"/>
                <a:ea typeface="Calibri"/>
                <a:cs typeface="Calibri"/>
                <a:sym typeface="Calibri"/>
              </a:rPr>
              <a:t>Motivation &amp; Problem</a:t>
            </a:r>
            <a:endParaRPr b="0" i="0" sz="3200" u="none" cap="none" strike="noStrike">
              <a:solidFill>
                <a:schemeClr val="dk1"/>
              </a:solidFill>
              <a:latin typeface="Calibri"/>
              <a:ea typeface="Calibri"/>
              <a:cs typeface="Calibri"/>
              <a:sym typeface="Calibri"/>
            </a:endParaRPr>
          </a:p>
        </p:txBody>
      </p:sp>
      <p:cxnSp>
        <p:nvCxnSpPr>
          <p:cNvPr id="28" name="Google Shape;28;p2"/>
          <p:cNvCxnSpPr/>
          <p:nvPr/>
        </p:nvCxnSpPr>
        <p:spPr>
          <a:xfrm>
            <a:off x="457200" y="1188720"/>
            <a:ext cx="11274552" cy="0"/>
          </a:xfrm>
          <a:prstGeom prst="straightConnector1">
            <a:avLst/>
          </a:prstGeom>
          <a:noFill/>
          <a:ln cap="flat" cmpd="sng" w="9525">
            <a:solidFill>
              <a:srgbClr val="D9D9D9"/>
            </a:solidFill>
            <a:prstDash val="solid"/>
            <a:round/>
            <a:headEnd len="sm" w="sm" type="none"/>
            <a:tailEnd len="sm" w="sm" type="none"/>
          </a:ln>
        </p:spPr>
      </p:cxnSp>
      <p:sp>
        <p:nvSpPr>
          <p:cNvPr id="29" name="Google Shape;29;p2"/>
          <p:cNvSpPr/>
          <p:nvPr/>
        </p:nvSpPr>
        <p:spPr>
          <a:xfrm>
            <a:off x="457200" y="1325880"/>
            <a:ext cx="10972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F76"/>
              </a:buClr>
              <a:buSzPts val="1000"/>
              <a:buFont typeface="Calibri"/>
              <a:buNone/>
            </a:pPr>
            <a:r>
              <a:rPr b="0" i="1" lang="en-US" sz="1000" u="none" cap="none" strike="noStrike">
                <a:solidFill>
                  <a:srgbClr val="6B6F76"/>
                </a:solidFill>
                <a:latin typeface="Calibri"/>
                <a:ea typeface="Calibri"/>
                <a:cs typeface="Calibri"/>
                <a:sym typeface="Calibri"/>
              </a:rPr>
              <a:t>Time budget: 1 minute.</a:t>
            </a:r>
            <a:endParaRPr b="0" i="0" sz="1000" u="none" cap="none" strike="noStrike">
              <a:solidFill>
                <a:schemeClr val="dk1"/>
              </a:solidFill>
              <a:latin typeface="Calibri"/>
              <a:ea typeface="Calibri"/>
              <a:cs typeface="Calibri"/>
              <a:sym typeface="Calibri"/>
            </a:endParaRPr>
          </a:p>
        </p:txBody>
      </p:sp>
      <p:sp>
        <p:nvSpPr>
          <p:cNvPr id="30" name="Google Shape;30;p2"/>
          <p:cNvSpPr/>
          <p:nvPr/>
        </p:nvSpPr>
        <p:spPr>
          <a:xfrm>
            <a:off x="457200" y="1828800"/>
            <a:ext cx="5486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600"/>
              <a:buFont typeface="Calibri"/>
              <a:buNone/>
            </a:pPr>
            <a:r>
              <a:rPr b="1" i="0" lang="en-US" sz="1600" u="none" cap="none" strike="noStrike">
                <a:solidFill>
                  <a:srgbClr val="1A1A1A"/>
                </a:solidFill>
                <a:latin typeface="Calibri"/>
                <a:ea typeface="Calibri"/>
                <a:cs typeface="Calibri"/>
                <a:sym typeface="Calibri"/>
              </a:rPr>
              <a:t>Why this matters</a:t>
            </a:r>
            <a:endParaRPr b="0" i="0" sz="1600" u="none" cap="none" strike="noStrike">
              <a:solidFill>
                <a:schemeClr val="dk1"/>
              </a:solidFill>
              <a:latin typeface="Calibri"/>
              <a:ea typeface="Calibri"/>
              <a:cs typeface="Calibri"/>
              <a:sym typeface="Calibri"/>
            </a:endParaRPr>
          </a:p>
        </p:txBody>
      </p:sp>
      <p:sp>
        <p:nvSpPr>
          <p:cNvPr id="31" name="Google Shape;31;p2"/>
          <p:cNvSpPr/>
          <p:nvPr/>
        </p:nvSpPr>
        <p:spPr>
          <a:xfrm>
            <a:off x="457200" y="2286000"/>
            <a:ext cx="5486400" cy="365760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1A1A1A"/>
              </a:buClr>
              <a:buSzPts val="1500"/>
              <a:buFont typeface="Calibri"/>
              <a:buChar char="•"/>
            </a:pPr>
            <a:r>
              <a:rPr lang="en-US" sz="1500">
                <a:solidFill>
                  <a:srgbClr val="1A1A1A"/>
                </a:solidFill>
                <a:latin typeface="Calibri"/>
                <a:ea typeface="Calibri"/>
                <a:cs typeface="Calibri"/>
                <a:sym typeface="Calibri"/>
              </a:rPr>
              <a:t>Code Generation through LLMs is widely used throughout the </a:t>
            </a:r>
            <a:r>
              <a:rPr lang="en-US" sz="1500">
                <a:solidFill>
                  <a:srgbClr val="1A1A1A"/>
                </a:solidFill>
                <a:latin typeface="Calibri"/>
                <a:ea typeface="Calibri"/>
                <a:cs typeface="Calibri"/>
                <a:sym typeface="Calibri"/>
              </a:rPr>
              <a:t>industry</a:t>
            </a:r>
            <a:r>
              <a:rPr lang="en-US" sz="1500">
                <a:solidFill>
                  <a:srgbClr val="1A1A1A"/>
                </a:solidFill>
                <a:latin typeface="Calibri"/>
                <a:ea typeface="Calibri"/>
                <a:cs typeface="Calibri"/>
                <a:sym typeface="Calibri"/>
              </a:rPr>
              <a:t> both for AI-assisted workflows and autonomous agents as part of their tool space.</a:t>
            </a:r>
            <a:endParaRPr b="0" i="0" sz="15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1A1A1A"/>
              </a:buClr>
              <a:buSzPts val="1500"/>
              <a:buFont typeface="Calibri"/>
              <a:buChar char="•"/>
            </a:pPr>
            <a:r>
              <a:rPr lang="en-US" sz="1500">
                <a:solidFill>
                  <a:srgbClr val="1A1A1A"/>
                </a:solidFill>
                <a:latin typeface="Calibri"/>
                <a:ea typeface="Calibri"/>
                <a:cs typeface="Calibri"/>
                <a:sym typeface="Calibri"/>
              </a:rPr>
              <a:t>While LLM generated code is generally benchmarked for accuracy / correctness, latency becomes a critical factor for a variety of </a:t>
            </a:r>
            <a:r>
              <a:rPr lang="en-US" sz="1500">
                <a:solidFill>
                  <a:srgbClr val="1A1A1A"/>
                </a:solidFill>
                <a:latin typeface="Calibri"/>
                <a:ea typeface="Calibri"/>
                <a:cs typeface="Calibri"/>
                <a:sym typeface="Calibri"/>
              </a:rPr>
              <a:t>use cases</a:t>
            </a:r>
            <a:r>
              <a:rPr lang="en-US" sz="1500">
                <a:solidFill>
                  <a:srgbClr val="1A1A1A"/>
                </a:solidFill>
                <a:latin typeface="Calibri"/>
                <a:ea typeface="Calibri"/>
                <a:cs typeface="Calibri"/>
                <a:sym typeface="Calibri"/>
              </a:rPr>
              <a:t> such as user-facing agents or codebases requiring high performance.</a:t>
            </a:r>
            <a:endParaRPr b="0" i="0" sz="15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1A1A1A"/>
              </a:buClr>
              <a:buSzPts val="1500"/>
              <a:buFont typeface="Calibri"/>
              <a:buChar char="•"/>
            </a:pPr>
            <a:r>
              <a:rPr lang="en-US" sz="1500">
                <a:solidFill>
                  <a:srgbClr val="1A1A1A"/>
                </a:solidFill>
                <a:latin typeface="Calibri"/>
                <a:ea typeface="Calibri"/>
                <a:cs typeface="Calibri"/>
                <a:sym typeface="Calibri"/>
              </a:rPr>
              <a:t>Motivated by papers like </a:t>
            </a:r>
            <a:r>
              <a:rPr lang="en-US" sz="1500" u="sng">
                <a:solidFill>
                  <a:schemeClr val="hlink"/>
                </a:solidFill>
                <a:latin typeface="Calibri"/>
                <a:ea typeface="Calibri"/>
                <a:cs typeface="Calibri"/>
                <a:sym typeface="Calibri"/>
                <a:hlinkClick r:id="rId3"/>
              </a:rPr>
              <a:t>EffiCoder</a:t>
            </a:r>
            <a:r>
              <a:rPr lang="en-US" sz="1500">
                <a:solidFill>
                  <a:srgbClr val="1A1A1A"/>
                </a:solidFill>
                <a:latin typeface="Calibri"/>
                <a:ea typeface="Calibri"/>
                <a:cs typeface="Calibri"/>
                <a:sym typeface="Calibri"/>
              </a:rPr>
              <a:t>, </a:t>
            </a:r>
            <a:r>
              <a:rPr lang="en-US" sz="1500" u="sng">
                <a:solidFill>
                  <a:schemeClr val="hlink"/>
                </a:solidFill>
                <a:latin typeface="Calibri"/>
                <a:ea typeface="Calibri"/>
                <a:cs typeface="Calibri"/>
                <a:sym typeface="Calibri"/>
                <a:hlinkClick r:id="rId4"/>
              </a:rPr>
              <a:t>Small Language Models are the Future of Agentic AI</a:t>
            </a:r>
            <a:r>
              <a:rPr lang="en-US" sz="1500">
                <a:solidFill>
                  <a:srgbClr val="1A1A1A"/>
                </a:solidFill>
                <a:latin typeface="Calibri"/>
                <a:ea typeface="Calibri"/>
                <a:cs typeface="Calibri"/>
                <a:sym typeface="Calibri"/>
              </a:rPr>
              <a:t>, and </a:t>
            </a:r>
            <a:r>
              <a:rPr lang="en-US" sz="1500" u="sng">
                <a:solidFill>
                  <a:schemeClr val="hlink"/>
                </a:solidFill>
                <a:latin typeface="Calibri"/>
                <a:ea typeface="Calibri"/>
                <a:cs typeface="Calibri"/>
                <a:sym typeface="Calibri"/>
                <a:hlinkClick r:id="rId5"/>
              </a:rPr>
              <a:t>Qwen 2.5b Coder Technical</a:t>
            </a:r>
            <a:r>
              <a:rPr lang="en-US" sz="1500">
                <a:solidFill>
                  <a:srgbClr val="1A1A1A"/>
                </a:solidFill>
                <a:latin typeface="Calibri"/>
                <a:ea typeface="Calibri"/>
                <a:cs typeface="Calibri"/>
                <a:sym typeface="Calibri"/>
              </a:rPr>
              <a:t>, we efficiently fine-tuning a SLM against a </a:t>
            </a:r>
            <a:r>
              <a:rPr i="1" lang="en-US" sz="1500">
                <a:solidFill>
                  <a:srgbClr val="1A1A1A"/>
                </a:solidFill>
                <a:latin typeface="Calibri"/>
                <a:ea typeface="Calibri"/>
                <a:cs typeface="Calibri"/>
                <a:sym typeface="Calibri"/>
              </a:rPr>
              <a:t>runtime-aware code generation objective</a:t>
            </a:r>
            <a:r>
              <a:rPr lang="en-US" sz="1500">
                <a:solidFill>
                  <a:srgbClr val="1A1A1A"/>
                </a:solidFill>
                <a:latin typeface="Calibri"/>
                <a:ea typeface="Calibri"/>
                <a:cs typeface="Calibri"/>
                <a:sym typeface="Calibri"/>
              </a:rPr>
              <a:t> in order to minimize latency while maintaining code correctness in order to </a:t>
            </a:r>
            <a:r>
              <a:rPr lang="en-US" sz="1500">
                <a:solidFill>
                  <a:srgbClr val="1A1A1A"/>
                </a:solidFill>
                <a:latin typeface="Calibri"/>
                <a:ea typeface="Calibri"/>
                <a:cs typeface="Calibri"/>
                <a:sym typeface="Calibri"/>
              </a:rPr>
              <a:t>better</a:t>
            </a:r>
            <a:r>
              <a:rPr lang="en-US" sz="1500">
                <a:solidFill>
                  <a:srgbClr val="1A1A1A"/>
                </a:solidFill>
                <a:latin typeface="Calibri"/>
                <a:ea typeface="Calibri"/>
                <a:cs typeface="Calibri"/>
                <a:sym typeface="Calibri"/>
              </a:rPr>
              <a:t> serve these applications </a:t>
            </a:r>
            <a:r>
              <a:rPr i="1" lang="en-US" sz="1500">
                <a:solidFill>
                  <a:srgbClr val="1A1A1A"/>
                </a:solidFill>
                <a:latin typeface="Calibri"/>
                <a:ea typeface="Calibri"/>
                <a:cs typeface="Calibri"/>
                <a:sym typeface="Calibri"/>
              </a:rPr>
              <a:t>faster</a:t>
            </a:r>
            <a:r>
              <a:rPr lang="en-US" sz="1500">
                <a:solidFill>
                  <a:srgbClr val="1A1A1A"/>
                </a:solidFill>
                <a:latin typeface="Calibri"/>
                <a:ea typeface="Calibri"/>
                <a:cs typeface="Calibri"/>
                <a:sym typeface="Calibri"/>
              </a:rPr>
              <a:t> both in code generation (through a very SLM) and code execution (in optimized code).</a:t>
            </a:r>
            <a:endParaRPr b="0" sz="1500" u="none" cap="none" strike="noStrike">
              <a:solidFill>
                <a:schemeClr val="dk1"/>
              </a:solidFill>
              <a:latin typeface="Calibri"/>
              <a:ea typeface="Calibri"/>
              <a:cs typeface="Calibri"/>
              <a:sym typeface="Calibri"/>
            </a:endParaRPr>
          </a:p>
        </p:txBody>
      </p:sp>
      <p:sp>
        <p:nvSpPr>
          <p:cNvPr id="32" name="Google Shape;32;p2"/>
          <p:cNvSpPr/>
          <p:nvPr/>
        </p:nvSpPr>
        <p:spPr>
          <a:xfrm>
            <a:off x="6263640" y="1828800"/>
            <a:ext cx="5486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600"/>
              <a:buFont typeface="Calibri"/>
              <a:buNone/>
            </a:pPr>
            <a:r>
              <a:rPr b="1" i="0" lang="en-US" sz="1600" u="none" cap="none" strike="noStrike">
                <a:solidFill>
                  <a:srgbClr val="1A1A1A"/>
                </a:solidFill>
                <a:latin typeface="Calibri"/>
                <a:ea typeface="Calibri"/>
                <a:cs typeface="Calibri"/>
                <a:sym typeface="Calibri"/>
              </a:rPr>
              <a:t>Problem statement</a:t>
            </a:r>
            <a:endParaRPr b="0" i="0" sz="1600" u="none" cap="none" strike="noStrike">
              <a:solidFill>
                <a:schemeClr val="dk1"/>
              </a:solidFill>
              <a:latin typeface="Calibri"/>
              <a:ea typeface="Calibri"/>
              <a:cs typeface="Calibri"/>
              <a:sym typeface="Calibri"/>
            </a:endParaRPr>
          </a:p>
        </p:txBody>
      </p:sp>
      <p:sp>
        <p:nvSpPr>
          <p:cNvPr id="33" name="Google Shape;33;p2"/>
          <p:cNvSpPr/>
          <p:nvPr/>
        </p:nvSpPr>
        <p:spPr>
          <a:xfrm>
            <a:off x="6263640" y="2286000"/>
            <a:ext cx="5486400" cy="3657600"/>
          </a:xfrm>
          <a:prstGeom prst="rect">
            <a:avLst/>
          </a:prstGeom>
          <a:noFill/>
          <a:ln>
            <a:noFill/>
          </a:ln>
        </p:spPr>
        <p:txBody>
          <a:bodyPr anchorCtr="0" anchor="t" bIns="45700" lIns="91425" spcFirstLastPara="1" rIns="91425" wrap="square" tIns="45700">
            <a:noAutofit/>
          </a:bodyPr>
          <a:lstStyle/>
          <a:p>
            <a:pPr indent="0" lvl="0" marL="0" marR="0" rtl="0" algn="l">
              <a:spcBef>
                <a:spcPts val="800"/>
              </a:spcBef>
              <a:spcAft>
                <a:spcPts val="0"/>
              </a:spcAft>
              <a:buClr>
                <a:srgbClr val="1A1A1A"/>
              </a:buClr>
              <a:buSzPts val="1500"/>
              <a:buFont typeface="Calibri"/>
              <a:buNone/>
            </a:pPr>
            <a:r>
              <a:rPr b="0" i="0" lang="en-US" sz="1500" u="none" cap="none" strike="noStrike">
                <a:solidFill>
                  <a:srgbClr val="1A1A1A"/>
                </a:solidFill>
                <a:latin typeface="Calibri"/>
                <a:ea typeface="Calibri"/>
                <a:cs typeface="Calibri"/>
                <a:sym typeface="Calibri"/>
              </a:rPr>
              <a:t> We optimize Q</a:t>
            </a:r>
            <a:r>
              <a:rPr lang="en-US" sz="1500">
                <a:solidFill>
                  <a:srgbClr val="1A1A1A"/>
                </a:solidFill>
                <a:latin typeface="Calibri"/>
                <a:ea typeface="Calibri"/>
                <a:cs typeface="Calibri"/>
                <a:sym typeface="Calibri"/>
              </a:rPr>
              <a:t>wen2.5-Coder-1.5B-Instruct for EffiCoder Python code-generation tasks, targeting low Pass@1, inefficient generated code, and low serving throughput in the baseline HuggingFace inference pipeline. </a:t>
            </a:r>
            <a:endParaRPr sz="1500">
              <a:solidFill>
                <a:srgbClr val="1A1A1A"/>
              </a:solidFill>
              <a:latin typeface="Calibri"/>
              <a:ea typeface="Calibri"/>
              <a:cs typeface="Calibri"/>
              <a:sym typeface="Calibri"/>
            </a:endParaRPr>
          </a:p>
          <a:p>
            <a:pPr indent="0" lvl="0" marL="0" marR="0" rtl="0" algn="l">
              <a:spcBef>
                <a:spcPts val="800"/>
              </a:spcBef>
              <a:spcAft>
                <a:spcPts val="0"/>
              </a:spcAft>
              <a:buClr>
                <a:srgbClr val="1A1A1A"/>
              </a:buClr>
              <a:buSzPts val="1500"/>
              <a:buFont typeface="Calibri"/>
              <a:buNone/>
            </a:pPr>
            <a:r>
              <a:t/>
            </a:r>
            <a:endParaRPr sz="1500">
              <a:solidFill>
                <a:srgbClr val="1A1A1A"/>
              </a:solidFill>
              <a:latin typeface="Calibri"/>
              <a:ea typeface="Calibri"/>
              <a:cs typeface="Calibri"/>
              <a:sym typeface="Calibri"/>
            </a:endParaRPr>
          </a:p>
          <a:p>
            <a:pPr indent="0" lvl="0" marL="0" rtl="0" algn="l">
              <a:spcBef>
                <a:spcPts val="800"/>
              </a:spcBef>
              <a:spcAft>
                <a:spcPts val="0"/>
              </a:spcAft>
              <a:buClr>
                <a:srgbClr val="1A1A1A"/>
              </a:buClr>
              <a:buSzPts val="1500"/>
              <a:buFont typeface="Calibri"/>
              <a:buNone/>
            </a:pPr>
            <a:r>
              <a:rPr b="1" lang="en-US" sz="1500">
                <a:solidFill>
                  <a:srgbClr val="1A1A1A"/>
                </a:solidFill>
                <a:latin typeface="Calibri"/>
                <a:ea typeface="Calibri"/>
                <a:cs typeface="Calibri"/>
                <a:sym typeface="Calibri"/>
              </a:rPr>
              <a:t>Goal: </a:t>
            </a:r>
            <a:r>
              <a:rPr lang="en-US" sz="1500">
                <a:solidFill>
                  <a:srgbClr val="1A1A1A"/>
                </a:solidFill>
                <a:latin typeface="Calibri"/>
                <a:ea typeface="Calibri"/>
                <a:cs typeface="Calibri"/>
                <a:sym typeface="Calibri"/>
              </a:rPr>
              <a:t>train a runtime-aware code-generation model that improves Pass@1 while evaluating serving throughput with optimized inference.</a:t>
            </a:r>
            <a:endParaRPr i="0" sz="1500" u="none" cap="none" strike="noStrike">
              <a:solidFill>
                <a:schemeClr val="dk1"/>
              </a:solidFill>
              <a:latin typeface="Calibri"/>
              <a:ea typeface="Calibri"/>
              <a:cs typeface="Calibri"/>
              <a:sym typeface="Calibri"/>
            </a:endParaRPr>
          </a:p>
        </p:txBody>
      </p:sp>
      <p:sp>
        <p:nvSpPr>
          <p:cNvPr id="34" name="Google Shape;34;p2"/>
          <p:cNvSpPr/>
          <p:nvPr/>
        </p:nvSpPr>
        <p:spPr>
          <a:xfrm>
            <a:off x="457200" y="653796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F76"/>
              </a:buClr>
              <a:buSzPts val="1000"/>
              <a:buFont typeface="Calibri"/>
              <a:buNone/>
            </a:pPr>
            <a:r>
              <a:rPr b="0" i="1" lang="en-US" sz="1000" u="none" cap="none" strike="noStrike">
                <a:solidFill>
                  <a:srgbClr val="6B6F76"/>
                </a:solidFill>
                <a:latin typeface="Calibri"/>
                <a:ea typeface="Calibri"/>
                <a:cs typeface="Calibri"/>
                <a:sym typeface="Calibri"/>
              </a:rPr>
              <a:t>HPML · Spring 2026</a:t>
            </a:r>
            <a:endParaRPr b="0" i="0" sz="1000" u="none" cap="none" strike="noStrike">
              <a:solidFill>
                <a:schemeClr val="dk1"/>
              </a:solidFill>
              <a:latin typeface="Calibri"/>
              <a:ea typeface="Calibri"/>
              <a:cs typeface="Calibri"/>
              <a:sym typeface="Calibri"/>
            </a:endParaRPr>
          </a:p>
        </p:txBody>
      </p:sp>
      <p:sp>
        <p:nvSpPr>
          <p:cNvPr id="35" name="Google Shape;35;p2"/>
          <p:cNvSpPr/>
          <p:nvPr/>
        </p:nvSpPr>
        <p:spPr>
          <a:xfrm>
            <a:off x="6245352" y="6537960"/>
            <a:ext cx="54864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6F76"/>
              </a:buClr>
              <a:buSzPts val="1000"/>
              <a:buFont typeface="Calibri"/>
              <a:buNone/>
            </a:pPr>
            <a:r>
              <a:rPr b="0" i="0" lang="en-US" sz="1000" u="none" cap="none" strike="noStrike">
                <a:solidFill>
                  <a:srgbClr val="6B6F76"/>
                </a:solidFill>
                <a:latin typeface="Calibri"/>
                <a:ea typeface="Calibri"/>
                <a:cs typeface="Calibri"/>
                <a:sym typeface="Calibri"/>
              </a:rPr>
              <a:t>2 / 14</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0" name="Shape 40"/>
        <p:cNvGrpSpPr/>
        <p:nvPr/>
      </p:nvGrpSpPr>
      <p:grpSpPr>
        <a:xfrm>
          <a:off x="0" y="0"/>
          <a:ext cx="0" cy="0"/>
          <a:chOff x="0" y="0"/>
          <a:chExt cx="0" cy="0"/>
        </a:xfrm>
      </p:grpSpPr>
      <p:sp>
        <p:nvSpPr>
          <p:cNvPr id="41" name="Google Shape;41;p3"/>
          <p:cNvSpPr/>
          <p:nvPr/>
        </p:nvSpPr>
        <p:spPr>
          <a:xfrm>
            <a:off x="457200" y="502920"/>
            <a:ext cx="11274552"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3200"/>
              <a:buFont typeface="Calibri"/>
              <a:buNone/>
            </a:pPr>
            <a:r>
              <a:rPr b="1" i="0" lang="en-US" sz="3200" u="none" cap="none" strike="noStrike">
                <a:solidFill>
                  <a:srgbClr val="1A1A1A"/>
                </a:solidFill>
                <a:latin typeface="Calibri"/>
                <a:ea typeface="Calibri"/>
                <a:cs typeface="Calibri"/>
                <a:sym typeface="Calibri"/>
              </a:rPr>
              <a:t>Technical Approach — Model &amp; Data</a:t>
            </a:r>
            <a:endParaRPr b="0" i="0" sz="3200" u="none" cap="none" strike="noStrike">
              <a:solidFill>
                <a:schemeClr val="dk1"/>
              </a:solidFill>
              <a:latin typeface="Calibri"/>
              <a:ea typeface="Calibri"/>
              <a:cs typeface="Calibri"/>
              <a:sym typeface="Calibri"/>
            </a:endParaRPr>
          </a:p>
        </p:txBody>
      </p:sp>
      <p:cxnSp>
        <p:nvCxnSpPr>
          <p:cNvPr id="42" name="Google Shape;42;p3"/>
          <p:cNvCxnSpPr/>
          <p:nvPr/>
        </p:nvCxnSpPr>
        <p:spPr>
          <a:xfrm>
            <a:off x="457200" y="1188720"/>
            <a:ext cx="11274552" cy="0"/>
          </a:xfrm>
          <a:prstGeom prst="straightConnector1">
            <a:avLst/>
          </a:prstGeom>
          <a:noFill/>
          <a:ln cap="flat" cmpd="sng" w="9525">
            <a:solidFill>
              <a:srgbClr val="D9D9D9"/>
            </a:solidFill>
            <a:prstDash val="solid"/>
            <a:round/>
            <a:headEnd len="sm" w="sm" type="none"/>
            <a:tailEnd len="sm" w="sm" type="none"/>
          </a:ln>
        </p:spPr>
      </p:cxnSp>
      <p:sp>
        <p:nvSpPr>
          <p:cNvPr id="43" name="Google Shape;43;p3"/>
          <p:cNvSpPr/>
          <p:nvPr/>
        </p:nvSpPr>
        <p:spPr>
          <a:xfrm>
            <a:off x="457200" y="1325880"/>
            <a:ext cx="10972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F76"/>
              </a:buClr>
              <a:buSzPts val="1000"/>
              <a:buFont typeface="Calibri"/>
              <a:buNone/>
            </a:pPr>
            <a:r>
              <a:rPr b="0" i="1" lang="en-US" sz="1000" u="none" cap="none" strike="noStrike">
                <a:solidFill>
                  <a:srgbClr val="6B6F76"/>
                </a:solidFill>
                <a:latin typeface="Calibri"/>
                <a:ea typeface="Calibri"/>
                <a:cs typeface="Calibri"/>
                <a:sym typeface="Calibri"/>
              </a:rPr>
              <a:t>Time budget: ~1 min of the 3-min approach section.</a:t>
            </a:r>
            <a:endParaRPr b="0" i="0" sz="1000" u="none" cap="none" strike="noStrike">
              <a:solidFill>
                <a:schemeClr val="dk1"/>
              </a:solidFill>
              <a:latin typeface="Calibri"/>
              <a:ea typeface="Calibri"/>
              <a:cs typeface="Calibri"/>
              <a:sym typeface="Calibri"/>
            </a:endParaRPr>
          </a:p>
        </p:txBody>
      </p:sp>
      <p:sp>
        <p:nvSpPr>
          <p:cNvPr id="44" name="Google Shape;44;p3"/>
          <p:cNvSpPr/>
          <p:nvPr/>
        </p:nvSpPr>
        <p:spPr>
          <a:xfrm>
            <a:off x="457200" y="1828800"/>
            <a:ext cx="3584448" cy="4114800"/>
          </a:xfrm>
          <a:prstGeom prst="rect">
            <a:avLst/>
          </a:prstGeom>
          <a:solidFill>
            <a:srgbClr val="FFFFFF"/>
          </a:solid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3"/>
          <p:cNvSpPr/>
          <p:nvPr/>
        </p:nvSpPr>
        <p:spPr>
          <a:xfrm>
            <a:off x="685800" y="2011680"/>
            <a:ext cx="3127248"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600"/>
              <a:buFont typeface="Calibri"/>
              <a:buNone/>
            </a:pPr>
            <a:r>
              <a:rPr b="1" i="0" lang="en-US" sz="1600" u="none" cap="none" strike="noStrike">
                <a:solidFill>
                  <a:srgbClr val="1A1A1A"/>
                </a:solidFill>
                <a:latin typeface="Calibri"/>
                <a:ea typeface="Calibri"/>
                <a:cs typeface="Calibri"/>
                <a:sym typeface="Calibri"/>
              </a:rPr>
              <a:t>Model</a:t>
            </a:r>
            <a:endParaRPr b="0" i="0" sz="1600" u="none" cap="none" strike="noStrike">
              <a:solidFill>
                <a:schemeClr val="dk1"/>
              </a:solidFill>
              <a:latin typeface="Calibri"/>
              <a:ea typeface="Calibri"/>
              <a:cs typeface="Calibri"/>
              <a:sym typeface="Calibri"/>
            </a:endParaRPr>
          </a:p>
        </p:txBody>
      </p:sp>
      <p:sp>
        <p:nvSpPr>
          <p:cNvPr id="46" name="Google Shape;46;p3"/>
          <p:cNvSpPr/>
          <p:nvPr/>
        </p:nvSpPr>
        <p:spPr>
          <a:xfrm>
            <a:off x="685800" y="2468880"/>
            <a:ext cx="3127248" cy="3200400"/>
          </a:xfrm>
          <a:prstGeom prst="rect">
            <a:avLst/>
          </a:prstGeom>
          <a:noFill/>
          <a:ln>
            <a:noFill/>
          </a:ln>
        </p:spPr>
        <p:txBody>
          <a:bodyPr anchorCtr="0" anchor="t" bIns="0" lIns="0" spcFirstLastPara="1" rIns="0" wrap="square" tIns="0">
            <a:noAutofit/>
          </a:bodyPr>
          <a:lstStyle/>
          <a:p>
            <a:pPr indent="-336550" lvl="0" marL="457200" marR="0" rtl="0" algn="l">
              <a:lnSpc>
                <a:spcPct val="115000"/>
              </a:lnSpc>
              <a:spcBef>
                <a:spcPts val="0"/>
              </a:spcBef>
              <a:spcAft>
                <a:spcPts val="0"/>
              </a:spcAft>
              <a:buClr>
                <a:srgbClr val="1A1A1A"/>
              </a:buClr>
              <a:buSzPts val="1700"/>
              <a:buFont typeface="Calibri"/>
              <a:buChar char="●"/>
            </a:pPr>
            <a:r>
              <a:rPr lang="en-US" sz="1700">
                <a:solidFill>
                  <a:srgbClr val="1A1A1A"/>
                </a:solidFill>
                <a:latin typeface="Calibri"/>
                <a:ea typeface="Calibri"/>
                <a:cs typeface="Calibri"/>
                <a:sym typeface="Calibri"/>
              </a:rPr>
              <a:t>Qwen2.5-Coder-1.5B-Instruct</a:t>
            </a:r>
            <a:endParaRPr sz="1700">
              <a:solidFill>
                <a:srgbClr val="1A1A1A"/>
              </a:solidFill>
              <a:latin typeface="Calibri"/>
              <a:ea typeface="Calibri"/>
              <a:cs typeface="Calibri"/>
              <a:sym typeface="Calibri"/>
            </a:endParaRPr>
          </a:p>
          <a:p>
            <a:pPr indent="-336550" lvl="0" marL="457200" marR="0" rtl="0" algn="l">
              <a:lnSpc>
                <a:spcPct val="115000"/>
              </a:lnSpc>
              <a:spcBef>
                <a:spcPts val="0"/>
              </a:spcBef>
              <a:spcAft>
                <a:spcPts val="0"/>
              </a:spcAft>
              <a:buClr>
                <a:srgbClr val="1A1A1A"/>
              </a:buClr>
              <a:buSzPts val="1700"/>
              <a:buFont typeface="Calibri"/>
              <a:buChar char="●"/>
            </a:pPr>
            <a:r>
              <a:rPr lang="en-US" sz="1700">
                <a:solidFill>
                  <a:srgbClr val="1A1A1A"/>
                </a:solidFill>
                <a:latin typeface="Calibri"/>
                <a:ea typeface="Calibri"/>
                <a:cs typeface="Calibri"/>
                <a:sym typeface="Calibri"/>
              </a:rPr>
              <a:t>Decoder-only code LLM, 1.5B params</a:t>
            </a:r>
            <a:endParaRPr sz="1700">
              <a:solidFill>
                <a:srgbClr val="1A1A1A"/>
              </a:solidFill>
              <a:latin typeface="Calibri"/>
              <a:ea typeface="Calibri"/>
              <a:cs typeface="Calibri"/>
              <a:sym typeface="Calibri"/>
            </a:endParaRPr>
          </a:p>
          <a:p>
            <a:pPr indent="-336550" lvl="0" marL="457200" marR="0" rtl="0" algn="l">
              <a:lnSpc>
                <a:spcPct val="115000"/>
              </a:lnSpc>
              <a:spcBef>
                <a:spcPts val="0"/>
              </a:spcBef>
              <a:spcAft>
                <a:spcPts val="0"/>
              </a:spcAft>
              <a:buClr>
                <a:srgbClr val="1A1A1A"/>
              </a:buClr>
              <a:buSzPts val="1700"/>
              <a:buFont typeface="Calibri"/>
              <a:buChar char="●"/>
            </a:pPr>
            <a:r>
              <a:rPr lang="en-US" sz="1700">
                <a:solidFill>
                  <a:srgbClr val="1A1A1A"/>
                </a:solidFill>
                <a:latin typeface="Calibri"/>
                <a:ea typeface="Calibri"/>
                <a:cs typeface="Calibri"/>
                <a:sym typeface="Calibri"/>
              </a:rPr>
              <a:t>Compared 3 variants: </a:t>
            </a:r>
            <a:endParaRPr sz="1700">
              <a:solidFill>
                <a:srgbClr val="1A1A1A"/>
              </a:solidFill>
              <a:latin typeface="Calibri"/>
              <a:ea typeface="Calibri"/>
              <a:cs typeface="Calibri"/>
              <a:sym typeface="Calibri"/>
            </a:endParaRPr>
          </a:p>
          <a:p>
            <a:pPr indent="-336550" lvl="1" marL="914400" marR="0" rtl="0" algn="l">
              <a:lnSpc>
                <a:spcPct val="115000"/>
              </a:lnSpc>
              <a:spcBef>
                <a:spcPts val="0"/>
              </a:spcBef>
              <a:spcAft>
                <a:spcPts val="0"/>
              </a:spcAft>
              <a:buClr>
                <a:srgbClr val="1A1A1A"/>
              </a:buClr>
              <a:buSzPts val="1700"/>
              <a:buFont typeface="Calibri"/>
              <a:buChar char="○"/>
            </a:pPr>
            <a:r>
              <a:rPr lang="en-US" sz="1700">
                <a:solidFill>
                  <a:srgbClr val="1A1A1A"/>
                </a:solidFill>
                <a:latin typeface="Calibri"/>
                <a:ea typeface="Calibri"/>
                <a:cs typeface="Calibri"/>
                <a:sym typeface="Calibri"/>
              </a:rPr>
              <a:t>Base SLM </a:t>
            </a:r>
            <a:endParaRPr sz="1700">
              <a:solidFill>
                <a:srgbClr val="1A1A1A"/>
              </a:solidFill>
              <a:latin typeface="Calibri"/>
              <a:ea typeface="Calibri"/>
              <a:cs typeface="Calibri"/>
              <a:sym typeface="Calibri"/>
            </a:endParaRPr>
          </a:p>
          <a:p>
            <a:pPr indent="-336550" lvl="1" marL="914400" marR="0" rtl="0" algn="l">
              <a:lnSpc>
                <a:spcPct val="115000"/>
              </a:lnSpc>
              <a:spcBef>
                <a:spcPts val="0"/>
              </a:spcBef>
              <a:spcAft>
                <a:spcPts val="0"/>
              </a:spcAft>
              <a:buClr>
                <a:srgbClr val="1A1A1A"/>
              </a:buClr>
              <a:buSzPts val="1700"/>
              <a:buFont typeface="Calibri"/>
              <a:buChar char="○"/>
            </a:pPr>
            <a:r>
              <a:rPr lang="en-US" sz="1700">
                <a:solidFill>
                  <a:srgbClr val="1A1A1A"/>
                </a:solidFill>
                <a:latin typeface="Calibri"/>
                <a:ea typeface="Calibri"/>
                <a:cs typeface="Calibri"/>
                <a:sym typeface="Calibri"/>
              </a:rPr>
              <a:t>Control SFT: first correct candidate</a:t>
            </a:r>
            <a:endParaRPr sz="1700">
              <a:solidFill>
                <a:srgbClr val="1A1A1A"/>
              </a:solidFill>
              <a:latin typeface="Calibri"/>
              <a:ea typeface="Calibri"/>
              <a:cs typeface="Calibri"/>
              <a:sym typeface="Calibri"/>
            </a:endParaRPr>
          </a:p>
          <a:p>
            <a:pPr indent="-317500" lvl="1" marL="914400" marR="0" rtl="0" algn="l">
              <a:lnSpc>
                <a:spcPct val="115000"/>
              </a:lnSpc>
              <a:spcBef>
                <a:spcPts val="0"/>
              </a:spcBef>
              <a:spcAft>
                <a:spcPts val="0"/>
              </a:spcAft>
              <a:buClr>
                <a:srgbClr val="1A1A1A"/>
              </a:buClr>
              <a:buSzPts val="1400"/>
              <a:buFont typeface="Calibri"/>
              <a:buChar char="○"/>
            </a:pPr>
            <a:r>
              <a:rPr lang="en-US" sz="1700">
                <a:solidFill>
                  <a:srgbClr val="1A1A1A"/>
                </a:solidFill>
                <a:latin typeface="Calibri"/>
                <a:ea typeface="Calibri"/>
                <a:cs typeface="Calibri"/>
                <a:sym typeface="Calibri"/>
              </a:rPr>
              <a:t>Runtime-aware SFT: fastest correct candidat</a:t>
            </a:r>
            <a:r>
              <a:rPr lang="en-US" sz="1500">
                <a:solidFill>
                  <a:srgbClr val="1A1A1A"/>
                </a:solidFill>
                <a:latin typeface="Calibri"/>
                <a:ea typeface="Calibri"/>
                <a:cs typeface="Calibri"/>
                <a:sym typeface="Calibri"/>
              </a:rPr>
              <a:t>e</a:t>
            </a:r>
            <a:endParaRPr sz="1500">
              <a:solidFill>
                <a:srgbClr val="1A1A1A"/>
              </a:solidFill>
              <a:latin typeface="Calibri"/>
              <a:ea typeface="Calibri"/>
              <a:cs typeface="Calibri"/>
              <a:sym typeface="Calibri"/>
            </a:endParaRPr>
          </a:p>
        </p:txBody>
      </p:sp>
      <p:sp>
        <p:nvSpPr>
          <p:cNvPr id="47" name="Google Shape;47;p3"/>
          <p:cNvSpPr/>
          <p:nvPr/>
        </p:nvSpPr>
        <p:spPr>
          <a:xfrm>
            <a:off x="4315968" y="1828800"/>
            <a:ext cx="3584448" cy="4114800"/>
          </a:xfrm>
          <a:prstGeom prst="rect">
            <a:avLst/>
          </a:prstGeom>
          <a:solidFill>
            <a:srgbClr val="FFFFFF"/>
          </a:solid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3"/>
          <p:cNvSpPr/>
          <p:nvPr/>
        </p:nvSpPr>
        <p:spPr>
          <a:xfrm>
            <a:off x="4544568" y="2011680"/>
            <a:ext cx="3127248"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600"/>
              <a:buFont typeface="Calibri"/>
              <a:buNone/>
            </a:pPr>
            <a:r>
              <a:rPr b="1" i="0" lang="en-US" sz="1600" u="none" cap="none" strike="noStrike">
                <a:solidFill>
                  <a:srgbClr val="1A1A1A"/>
                </a:solidFill>
                <a:latin typeface="Calibri"/>
                <a:ea typeface="Calibri"/>
                <a:cs typeface="Calibri"/>
                <a:sym typeface="Calibri"/>
              </a:rPr>
              <a:t>Dataset</a:t>
            </a:r>
            <a:endParaRPr b="0" i="0" sz="1600" u="none" cap="none" strike="noStrike">
              <a:solidFill>
                <a:schemeClr val="dk1"/>
              </a:solidFill>
              <a:latin typeface="Calibri"/>
              <a:ea typeface="Calibri"/>
              <a:cs typeface="Calibri"/>
              <a:sym typeface="Calibri"/>
            </a:endParaRPr>
          </a:p>
        </p:txBody>
      </p:sp>
      <p:sp>
        <p:nvSpPr>
          <p:cNvPr id="49" name="Google Shape;49;p3"/>
          <p:cNvSpPr/>
          <p:nvPr/>
        </p:nvSpPr>
        <p:spPr>
          <a:xfrm>
            <a:off x="4544575" y="2468875"/>
            <a:ext cx="3184500" cy="3200400"/>
          </a:xfrm>
          <a:prstGeom prst="rect">
            <a:avLst/>
          </a:prstGeom>
          <a:noFill/>
          <a:ln>
            <a:noFill/>
          </a:ln>
        </p:spPr>
        <p:txBody>
          <a:bodyPr anchorCtr="0" anchor="t" bIns="0" lIns="0" spcFirstLastPara="1" rIns="0" wrap="square" tIns="0">
            <a:noAutofit/>
          </a:bodyPr>
          <a:lstStyle/>
          <a:p>
            <a:pPr indent="-336550" lvl="0" marL="457200" marR="0" rtl="0" algn="l">
              <a:spcBef>
                <a:spcPts val="0"/>
              </a:spcBef>
              <a:spcAft>
                <a:spcPts val="0"/>
              </a:spcAft>
              <a:buClr>
                <a:schemeClr val="dk1"/>
              </a:buClr>
              <a:buSzPts val="1700"/>
              <a:buFont typeface="Calibri"/>
              <a:buChar char="●"/>
            </a:pPr>
            <a:r>
              <a:rPr lang="en-US" sz="1700">
                <a:solidFill>
                  <a:schemeClr val="dk1"/>
                </a:solidFill>
                <a:latin typeface="Calibri"/>
                <a:ea typeface="Calibri"/>
                <a:cs typeface="Calibri"/>
                <a:sym typeface="Calibri"/>
              </a:rPr>
              <a:t>Dataset: EffiCoder</a:t>
            </a:r>
            <a:endParaRPr sz="1700">
              <a:solidFill>
                <a:schemeClr val="dk1"/>
              </a:solidFill>
              <a:latin typeface="Calibri"/>
              <a:ea typeface="Calibri"/>
              <a:cs typeface="Calibri"/>
              <a:sym typeface="Calibri"/>
            </a:endParaRPr>
          </a:p>
          <a:p>
            <a:pPr indent="-336550" lvl="0" marL="457200" marR="0" rtl="0" algn="l">
              <a:spcBef>
                <a:spcPts val="0"/>
              </a:spcBef>
              <a:spcAft>
                <a:spcPts val="0"/>
              </a:spcAft>
              <a:buClr>
                <a:schemeClr val="dk1"/>
              </a:buClr>
              <a:buSzPts val="1700"/>
              <a:buFont typeface="Calibri"/>
              <a:buChar char="●"/>
            </a:pPr>
            <a:r>
              <a:rPr lang="en-US" sz="1700">
                <a:solidFill>
                  <a:schemeClr val="dk1"/>
                </a:solidFill>
                <a:latin typeface="Calibri"/>
                <a:ea typeface="Calibri"/>
                <a:cs typeface="Calibri"/>
                <a:sym typeface="Calibri"/>
              </a:rPr>
              <a:t>Raw Size: 9451</a:t>
            </a:r>
            <a:endParaRPr sz="1700">
              <a:solidFill>
                <a:schemeClr val="dk1"/>
              </a:solidFill>
              <a:latin typeface="Calibri"/>
              <a:ea typeface="Calibri"/>
              <a:cs typeface="Calibri"/>
              <a:sym typeface="Calibri"/>
            </a:endParaRPr>
          </a:p>
          <a:p>
            <a:pPr indent="-336550" lvl="0" marL="457200" marR="0" rtl="0" algn="l">
              <a:spcBef>
                <a:spcPts val="0"/>
              </a:spcBef>
              <a:spcAft>
                <a:spcPts val="0"/>
              </a:spcAft>
              <a:buClr>
                <a:schemeClr val="dk1"/>
              </a:buClr>
              <a:buSzPts val="1700"/>
              <a:buFont typeface="Calibri"/>
              <a:buChar char="●"/>
            </a:pPr>
            <a:r>
              <a:rPr lang="en-US" sz="1700">
                <a:solidFill>
                  <a:schemeClr val="dk1"/>
                </a:solidFill>
                <a:latin typeface="Calibri"/>
                <a:ea typeface="Calibri"/>
                <a:cs typeface="Calibri"/>
                <a:sym typeface="Calibri"/>
              </a:rPr>
              <a:t>Eligible candidates: 6917</a:t>
            </a:r>
            <a:endParaRPr sz="1700">
              <a:solidFill>
                <a:schemeClr val="dk1"/>
              </a:solidFill>
              <a:latin typeface="Calibri"/>
              <a:ea typeface="Calibri"/>
              <a:cs typeface="Calibri"/>
              <a:sym typeface="Calibri"/>
            </a:endParaRPr>
          </a:p>
          <a:p>
            <a:pPr indent="-336550" lvl="0" marL="457200" marR="0" rtl="0" algn="l">
              <a:spcBef>
                <a:spcPts val="0"/>
              </a:spcBef>
              <a:spcAft>
                <a:spcPts val="0"/>
              </a:spcAft>
              <a:buClr>
                <a:schemeClr val="dk1"/>
              </a:buClr>
              <a:buSzPts val="1700"/>
              <a:buFont typeface="Calibri"/>
              <a:buChar char="●"/>
            </a:pPr>
            <a:r>
              <a:rPr lang="en-US" sz="1700">
                <a:solidFill>
                  <a:schemeClr val="dk1"/>
                </a:solidFill>
                <a:latin typeface="Calibri"/>
                <a:ea typeface="Calibri"/>
                <a:cs typeface="Calibri"/>
                <a:sym typeface="Calibri"/>
              </a:rPr>
              <a:t>Clean passing dataset after benchmarking reference solutions: 6646</a:t>
            </a:r>
            <a:endParaRPr sz="1700">
              <a:solidFill>
                <a:schemeClr val="dk1"/>
              </a:solidFill>
              <a:latin typeface="Calibri"/>
              <a:ea typeface="Calibri"/>
              <a:cs typeface="Calibri"/>
              <a:sym typeface="Calibri"/>
            </a:endParaRPr>
          </a:p>
          <a:p>
            <a:pPr indent="-336550" lvl="0" marL="457200" marR="0" rtl="0" algn="l">
              <a:spcBef>
                <a:spcPts val="0"/>
              </a:spcBef>
              <a:spcAft>
                <a:spcPts val="0"/>
              </a:spcAft>
              <a:buClr>
                <a:schemeClr val="dk1"/>
              </a:buClr>
              <a:buSzPts val="1700"/>
              <a:buFont typeface="Calibri"/>
              <a:buChar char="●"/>
            </a:pPr>
            <a:r>
              <a:rPr lang="en-US" sz="1700">
                <a:solidFill>
                  <a:schemeClr val="dk1"/>
                </a:solidFill>
                <a:latin typeface="Calibri"/>
                <a:ea typeface="Calibri"/>
                <a:cs typeface="Calibri"/>
                <a:sym typeface="Calibri"/>
              </a:rPr>
              <a:t>Final Split: (80/10/10)</a:t>
            </a:r>
            <a:endParaRPr sz="1700">
              <a:solidFill>
                <a:schemeClr val="dk1"/>
              </a:solidFill>
              <a:latin typeface="Calibri"/>
              <a:ea typeface="Calibri"/>
              <a:cs typeface="Calibri"/>
              <a:sym typeface="Calibri"/>
            </a:endParaRPr>
          </a:p>
          <a:p>
            <a:pPr indent="-336550" lvl="1" marL="914400" rtl="0" algn="l">
              <a:spcBef>
                <a:spcPts val="0"/>
              </a:spcBef>
              <a:spcAft>
                <a:spcPts val="0"/>
              </a:spcAft>
              <a:buClr>
                <a:schemeClr val="dk1"/>
              </a:buClr>
              <a:buSzPts val="1700"/>
              <a:buFont typeface="Calibri"/>
              <a:buChar char="○"/>
            </a:pPr>
            <a:r>
              <a:rPr lang="en-US" sz="1700">
                <a:solidFill>
                  <a:schemeClr val="dk1"/>
                </a:solidFill>
                <a:latin typeface="Calibri"/>
                <a:ea typeface="Calibri"/>
                <a:cs typeface="Calibri"/>
                <a:sym typeface="Calibri"/>
              </a:rPr>
              <a:t>Train: 5316</a:t>
            </a:r>
            <a:endParaRPr sz="1700">
              <a:solidFill>
                <a:schemeClr val="dk1"/>
              </a:solidFill>
              <a:latin typeface="Calibri"/>
              <a:ea typeface="Calibri"/>
              <a:cs typeface="Calibri"/>
              <a:sym typeface="Calibri"/>
            </a:endParaRPr>
          </a:p>
          <a:p>
            <a:pPr indent="-336550" lvl="1" marL="914400" rtl="0" algn="l">
              <a:spcBef>
                <a:spcPts val="0"/>
              </a:spcBef>
              <a:spcAft>
                <a:spcPts val="0"/>
              </a:spcAft>
              <a:buClr>
                <a:schemeClr val="dk1"/>
              </a:buClr>
              <a:buSzPts val="1700"/>
              <a:buFont typeface="Calibri"/>
              <a:buChar char="○"/>
            </a:pPr>
            <a:r>
              <a:rPr lang="en-US" sz="1700">
                <a:solidFill>
                  <a:schemeClr val="dk1"/>
                </a:solidFill>
                <a:latin typeface="Calibri"/>
                <a:ea typeface="Calibri"/>
                <a:cs typeface="Calibri"/>
                <a:sym typeface="Calibri"/>
              </a:rPr>
              <a:t>Validation: 664</a:t>
            </a:r>
            <a:endParaRPr sz="1700">
              <a:solidFill>
                <a:schemeClr val="dk1"/>
              </a:solidFill>
              <a:latin typeface="Calibri"/>
              <a:ea typeface="Calibri"/>
              <a:cs typeface="Calibri"/>
              <a:sym typeface="Calibri"/>
            </a:endParaRPr>
          </a:p>
          <a:p>
            <a:pPr indent="-336550" lvl="1" marL="914400" rtl="0" algn="l">
              <a:spcBef>
                <a:spcPts val="0"/>
              </a:spcBef>
              <a:spcAft>
                <a:spcPts val="0"/>
              </a:spcAft>
              <a:buClr>
                <a:schemeClr val="dk1"/>
              </a:buClr>
              <a:buSzPts val="1700"/>
              <a:buFont typeface="Calibri"/>
              <a:buChar char="○"/>
            </a:pPr>
            <a:r>
              <a:rPr lang="en-US" sz="1700">
                <a:solidFill>
                  <a:schemeClr val="dk1"/>
                </a:solidFill>
                <a:latin typeface="Calibri"/>
                <a:ea typeface="Calibri"/>
                <a:cs typeface="Calibri"/>
                <a:sym typeface="Calibri"/>
              </a:rPr>
              <a:t>Test: 666</a:t>
            </a:r>
            <a:endParaRPr sz="1700">
              <a:solidFill>
                <a:schemeClr val="dk1"/>
              </a:solidFill>
              <a:latin typeface="Calibri"/>
              <a:ea typeface="Calibri"/>
              <a:cs typeface="Calibri"/>
              <a:sym typeface="Calibri"/>
            </a:endParaRPr>
          </a:p>
          <a:p>
            <a:pPr indent="-336550" lvl="0" marL="457200" marR="0" rtl="0" algn="l">
              <a:spcBef>
                <a:spcPts val="0"/>
              </a:spcBef>
              <a:spcAft>
                <a:spcPts val="0"/>
              </a:spcAft>
              <a:buClr>
                <a:schemeClr val="dk1"/>
              </a:buClr>
              <a:buSzPts val="1700"/>
              <a:buFont typeface="Calibri"/>
              <a:buChar char="●"/>
            </a:pPr>
            <a:r>
              <a:rPr lang="en-US" sz="1700">
                <a:solidFill>
                  <a:schemeClr val="dk1"/>
                </a:solidFill>
                <a:latin typeface="Calibri"/>
                <a:ea typeface="Calibri"/>
                <a:cs typeface="Calibri"/>
                <a:sym typeface="Calibri"/>
              </a:rPr>
              <a:t>License: Official EffiCoder release; code repo Apache-2.0</a:t>
            </a:r>
            <a:endParaRPr sz="17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700">
              <a:solidFill>
                <a:schemeClr val="dk1"/>
              </a:solidFill>
              <a:latin typeface="Calibri"/>
              <a:ea typeface="Calibri"/>
              <a:cs typeface="Calibri"/>
              <a:sym typeface="Calibri"/>
            </a:endParaRPr>
          </a:p>
        </p:txBody>
      </p:sp>
      <p:sp>
        <p:nvSpPr>
          <p:cNvPr id="50" name="Google Shape;50;p3"/>
          <p:cNvSpPr/>
          <p:nvPr/>
        </p:nvSpPr>
        <p:spPr>
          <a:xfrm>
            <a:off x="8174736" y="1828800"/>
            <a:ext cx="3584448" cy="4114800"/>
          </a:xfrm>
          <a:prstGeom prst="rect">
            <a:avLst/>
          </a:prstGeom>
          <a:solidFill>
            <a:srgbClr val="FFFFFF"/>
          </a:solid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3"/>
          <p:cNvSpPr/>
          <p:nvPr/>
        </p:nvSpPr>
        <p:spPr>
          <a:xfrm>
            <a:off x="8403336" y="2011680"/>
            <a:ext cx="3127248"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600"/>
              <a:buFont typeface="Calibri"/>
              <a:buNone/>
            </a:pPr>
            <a:r>
              <a:rPr b="1" i="0" lang="en-US" sz="1600" u="none" cap="none" strike="noStrike">
                <a:solidFill>
                  <a:srgbClr val="1A1A1A"/>
                </a:solidFill>
                <a:latin typeface="Calibri"/>
                <a:ea typeface="Calibri"/>
                <a:cs typeface="Calibri"/>
                <a:sym typeface="Calibri"/>
              </a:rPr>
              <a:t>Hardware</a:t>
            </a:r>
            <a:endParaRPr b="0" i="0" sz="1600" u="none" cap="none" strike="noStrike">
              <a:solidFill>
                <a:schemeClr val="dk1"/>
              </a:solidFill>
              <a:latin typeface="Calibri"/>
              <a:ea typeface="Calibri"/>
              <a:cs typeface="Calibri"/>
              <a:sym typeface="Calibri"/>
            </a:endParaRPr>
          </a:p>
        </p:txBody>
      </p:sp>
      <p:sp>
        <p:nvSpPr>
          <p:cNvPr id="52" name="Google Shape;52;p3"/>
          <p:cNvSpPr/>
          <p:nvPr/>
        </p:nvSpPr>
        <p:spPr>
          <a:xfrm>
            <a:off x="8403336" y="2468880"/>
            <a:ext cx="3127248" cy="3200400"/>
          </a:xfrm>
          <a:prstGeom prst="rect">
            <a:avLst/>
          </a:prstGeom>
          <a:noFill/>
          <a:ln>
            <a:noFill/>
          </a:ln>
        </p:spPr>
        <p:txBody>
          <a:bodyPr anchorCtr="0" anchor="t" bIns="0" lIns="0" spcFirstLastPara="1" rIns="0" wrap="square" tIns="0">
            <a:noAutofit/>
          </a:bodyPr>
          <a:lstStyle/>
          <a:p>
            <a:pPr indent="-336550" lvl="0" marL="457200" marR="0" rtl="0" algn="l">
              <a:lnSpc>
                <a:spcPct val="115000"/>
              </a:lnSpc>
              <a:spcBef>
                <a:spcPts val="0"/>
              </a:spcBef>
              <a:spcAft>
                <a:spcPts val="0"/>
              </a:spcAft>
              <a:buSzPts val="1700"/>
              <a:buFont typeface="Calibri"/>
              <a:buChar char="●"/>
            </a:pPr>
            <a:r>
              <a:rPr lang="en-US" sz="1700">
                <a:solidFill>
                  <a:schemeClr val="dk1"/>
                </a:solidFill>
                <a:latin typeface="Calibri"/>
                <a:ea typeface="Calibri"/>
                <a:cs typeface="Calibri"/>
                <a:sym typeface="Calibri"/>
              </a:rPr>
              <a:t>Candidate generation &amp; profiling:</a:t>
            </a:r>
            <a:r>
              <a:rPr lang="en-US" sz="1700">
                <a:solidFill>
                  <a:schemeClr val="dk1"/>
                </a:solidFill>
                <a:latin typeface="Calibri"/>
                <a:ea typeface="Calibri"/>
                <a:cs typeface="Calibri"/>
                <a:sym typeface="Calibri"/>
              </a:rPr>
              <a:t> </a:t>
            </a:r>
            <a:r>
              <a:rPr lang="en-US" sz="1700" u="sng">
                <a:solidFill>
                  <a:schemeClr val="hlink"/>
                </a:solidFill>
                <a:latin typeface="Calibri"/>
                <a:ea typeface="Calibri"/>
                <a:cs typeface="Calibri"/>
                <a:sym typeface="Calibri"/>
                <a:hlinkClick r:id="rId3"/>
              </a:rPr>
              <a:t>Vast.ai</a:t>
            </a:r>
            <a:r>
              <a:rPr lang="en-US" sz="1700">
                <a:solidFill>
                  <a:schemeClr val="dk1"/>
                </a:solidFill>
                <a:latin typeface="Calibri"/>
                <a:ea typeface="Calibri"/>
                <a:cs typeface="Calibri"/>
                <a:sym typeface="Calibri"/>
              </a:rPr>
              <a:t> </a:t>
            </a:r>
            <a:r>
              <a:rPr lang="en-US" sz="1700">
                <a:solidFill>
                  <a:schemeClr val="dk1"/>
                </a:solidFill>
                <a:latin typeface="Calibri"/>
                <a:ea typeface="Calibri"/>
                <a:cs typeface="Calibri"/>
                <a:sym typeface="Calibri"/>
              </a:rPr>
              <a:t>A100 40GB</a:t>
            </a:r>
            <a:endParaRPr sz="1700">
              <a:solidFill>
                <a:schemeClr val="dk1"/>
              </a:solidFill>
              <a:latin typeface="Calibri"/>
              <a:ea typeface="Calibri"/>
              <a:cs typeface="Calibri"/>
              <a:sym typeface="Calibri"/>
            </a:endParaRPr>
          </a:p>
          <a:p>
            <a:pPr indent="-336550" lvl="0" marL="457200" marR="0" rtl="0" algn="l">
              <a:lnSpc>
                <a:spcPct val="115000"/>
              </a:lnSpc>
              <a:spcBef>
                <a:spcPts val="0"/>
              </a:spcBef>
              <a:spcAft>
                <a:spcPts val="0"/>
              </a:spcAft>
              <a:buClr>
                <a:schemeClr val="dk1"/>
              </a:buClr>
              <a:buSzPts val="1700"/>
              <a:buFont typeface="Calibri"/>
              <a:buChar char="●"/>
            </a:pPr>
            <a:r>
              <a:rPr lang="en-US" sz="1700">
                <a:solidFill>
                  <a:schemeClr val="dk1"/>
                </a:solidFill>
                <a:latin typeface="Calibri"/>
                <a:ea typeface="Calibri"/>
                <a:cs typeface="Calibri"/>
                <a:sym typeface="Calibri"/>
              </a:rPr>
              <a:t>Fine-tuning: </a:t>
            </a:r>
            <a:r>
              <a:rPr lang="en-US" sz="1700">
                <a:solidFill>
                  <a:schemeClr val="dk1"/>
                </a:solidFill>
                <a:latin typeface="Calibri"/>
                <a:ea typeface="Calibri"/>
                <a:cs typeface="Calibri"/>
                <a:sym typeface="Calibri"/>
                <a:extLst>
                  <a:ext uri="http://customooxmlschemas.google.com/">
                    <go:slidesCustomData xmlns:go="http://customooxmlschemas.google.com/" textRoundtripDataId="0"/>
                  </a:ext>
                </a:extLst>
              </a:rPr>
              <a:t>GCP  </a:t>
            </a:r>
            <a:r>
              <a:rPr lang="en-US" sz="1700">
                <a:solidFill>
                  <a:schemeClr val="dk1"/>
                </a:solidFill>
                <a:latin typeface="Calibri"/>
                <a:ea typeface="Calibri"/>
                <a:cs typeface="Calibri"/>
                <a:sym typeface="Calibri"/>
              </a:rPr>
              <a:t>A100</a:t>
            </a:r>
            <a:endParaRPr sz="1700">
              <a:solidFill>
                <a:schemeClr val="dk1"/>
              </a:solidFill>
              <a:latin typeface="Calibri"/>
              <a:ea typeface="Calibri"/>
              <a:cs typeface="Calibri"/>
              <a:sym typeface="Calibri"/>
            </a:endParaRPr>
          </a:p>
          <a:p>
            <a:pPr indent="-336550" lvl="0" marL="457200" marR="0" rtl="0" algn="l">
              <a:lnSpc>
                <a:spcPct val="115000"/>
              </a:lnSpc>
              <a:spcBef>
                <a:spcPts val="0"/>
              </a:spcBef>
              <a:spcAft>
                <a:spcPts val="0"/>
              </a:spcAft>
              <a:buClr>
                <a:schemeClr val="dk1"/>
              </a:buClr>
              <a:buSzPts val="1700"/>
              <a:buFont typeface="Calibri"/>
              <a:buChar char="●"/>
            </a:pPr>
            <a:r>
              <a:rPr lang="en-US" sz="1700">
                <a:solidFill>
                  <a:schemeClr val="dk1"/>
                </a:solidFill>
                <a:latin typeface="Calibri"/>
                <a:ea typeface="Calibri"/>
                <a:cs typeface="Calibri"/>
                <a:sym typeface="Calibri"/>
              </a:rPr>
              <a:t>Serving: A100</a:t>
            </a:r>
            <a:endParaRPr sz="1700">
              <a:solidFill>
                <a:schemeClr val="dk1"/>
              </a:solidFill>
              <a:latin typeface="Calibri"/>
              <a:ea typeface="Calibri"/>
              <a:cs typeface="Calibri"/>
              <a:sym typeface="Calibri"/>
            </a:endParaRPr>
          </a:p>
          <a:p>
            <a:pPr indent="-336550" lvl="0" marL="457200" marR="0" rtl="0" algn="l">
              <a:lnSpc>
                <a:spcPct val="115000"/>
              </a:lnSpc>
              <a:spcBef>
                <a:spcPts val="0"/>
              </a:spcBef>
              <a:spcAft>
                <a:spcPts val="0"/>
              </a:spcAft>
              <a:buClr>
                <a:schemeClr val="dk1"/>
              </a:buClr>
              <a:buSzPts val="1700"/>
              <a:buFont typeface="Calibri"/>
              <a:buChar char="●"/>
            </a:pPr>
            <a:r>
              <a:rPr lang="en-US" sz="1700">
                <a:solidFill>
                  <a:schemeClr val="dk1"/>
                </a:solidFill>
                <a:latin typeface="Calibri"/>
                <a:ea typeface="Calibri"/>
                <a:cs typeface="Calibri"/>
                <a:sym typeface="Calibri"/>
              </a:rPr>
              <a:t>Stack: PyTorch, Transformers</a:t>
            </a:r>
            <a:endParaRPr sz="1700">
              <a:solidFill>
                <a:schemeClr val="dk1"/>
              </a:solidFill>
              <a:latin typeface="Calibri"/>
              <a:ea typeface="Calibri"/>
              <a:cs typeface="Calibri"/>
              <a:sym typeface="Calibri"/>
            </a:endParaRPr>
          </a:p>
          <a:p>
            <a:pPr indent="-336550" lvl="0" marL="457200" marR="0" rtl="0" algn="l">
              <a:lnSpc>
                <a:spcPct val="115000"/>
              </a:lnSpc>
              <a:spcBef>
                <a:spcPts val="0"/>
              </a:spcBef>
              <a:spcAft>
                <a:spcPts val="0"/>
              </a:spcAft>
              <a:buClr>
                <a:schemeClr val="dk1"/>
              </a:buClr>
              <a:buSzPts val="1700"/>
              <a:buFont typeface="Calibri"/>
              <a:buChar char="●"/>
            </a:pPr>
            <a:r>
              <a:rPr lang="en-US" sz="1700">
                <a:solidFill>
                  <a:schemeClr val="dk1"/>
                </a:solidFill>
                <a:latin typeface="Calibri"/>
                <a:ea typeface="Calibri"/>
                <a:cs typeface="Calibri"/>
                <a:sym typeface="Calibri"/>
              </a:rPr>
              <a:t>Profiling: PyTorch Profiler, TensorBoard, W&amp;B</a:t>
            </a:r>
            <a:endParaRPr sz="1700">
              <a:solidFill>
                <a:schemeClr val="dk1"/>
              </a:solidFill>
              <a:latin typeface="Calibri"/>
              <a:ea typeface="Calibri"/>
              <a:cs typeface="Calibri"/>
              <a:sym typeface="Calibri"/>
            </a:endParaRPr>
          </a:p>
          <a:p>
            <a:pPr indent="-336550" lvl="0" marL="457200" marR="0" rtl="0" algn="l">
              <a:lnSpc>
                <a:spcPct val="115000"/>
              </a:lnSpc>
              <a:spcBef>
                <a:spcPts val="0"/>
              </a:spcBef>
              <a:spcAft>
                <a:spcPts val="0"/>
              </a:spcAft>
              <a:buClr>
                <a:schemeClr val="dk1"/>
              </a:buClr>
              <a:buSzPts val="1700"/>
              <a:buFont typeface="Calibri"/>
              <a:buChar char="●"/>
            </a:pPr>
            <a:r>
              <a:rPr lang="en-US" sz="1700">
                <a:solidFill>
                  <a:schemeClr val="dk1"/>
                </a:solidFill>
                <a:latin typeface="Calibri"/>
                <a:ea typeface="Calibri"/>
                <a:cs typeface="Calibri"/>
                <a:sym typeface="Calibri"/>
              </a:rPr>
              <a:t>Serving: HuggingFace + vLLM</a:t>
            </a:r>
            <a:endParaRPr sz="1700">
              <a:solidFill>
                <a:schemeClr val="dk1"/>
              </a:solidFill>
              <a:latin typeface="Calibri"/>
              <a:ea typeface="Calibri"/>
              <a:cs typeface="Calibri"/>
              <a:sym typeface="Calibri"/>
            </a:endParaRPr>
          </a:p>
        </p:txBody>
      </p:sp>
      <p:sp>
        <p:nvSpPr>
          <p:cNvPr id="53" name="Google Shape;53;p3"/>
          <p:cNvSpPr/>
          <p:nvPr/>
        </p:nvSpPr>
        <p:spPr>
          <a:xfrm>
            <a:off x="457200" y="653796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F76"/>
              </a:buClr>
              <a:buSzPts val="1000"/>
              <a:buFont typeface="Calibri"/>
              <a:buNone/>
            </a:pPr>
            <a:r>
              <a:rPr b="0" i="1" lang="en-US" sz="1000" u="none" cap="none" strike="noStrike">
                <a:solidFill>
                  <a:srgbClr val="6B6F76"/>
                </a:solidFill>
                <a:latin typeface="Calibri"/>
                <a:ea typeface="Calibri"/>
                <a:cs typeface="Calibri"/>
                <a:sym typeface="Calibri"/>
              </a:rPr>
              <a:t>HPML · Spring 2026</a:t>
            </a:r>
            <a:endParaRPr b="0" i="0" sz="1000" u="none" cap="none" strike="noStrike">
              <a:solidFill>
                <a:schemeClr val="dk1"/>
              </a:solidFill>
              <a:latin typeface="Calibri"/>
              <a:ea typeface="Calibri"/>
              <a:cs typeface="Calibri"/>
              <a:sym typeface="Calibri"/>
            </a:endParaRPr>
          </a:p>
        </p:txBody>
      </p:sp>
      <p:sp>
        <p:nvSpPr>
          <p:cNvPr id="54" name="Google Shape;54;p3"/>
          <p:cNvSpPr/>
          <p:nvPr/>
        </p:nvSpPr>
        <p:spPr>
          <a:xfrm>
            <a:off x="6245352" y="6537960"/>
            <a:ext cx="54864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6F76"/>
              </a:buClr>
              <a:buSzPts val="1000"/>
              <a:buFont typeface="Calibri"/>
              <a:buNone/>
            </a:pPr>
            <a:r>
              <a:rPr b="0" i="0" lang="en-US" sz="1000" u="none" cap="none" strike="noStrike">
                <a:solidFill>
                  <a:srgbClr val="6B6F76"/>
                </a:solidFill>
                <a:latin typeface="Calibri"/>
                <a:ea typeface="Calibri"/>
                <a:cs typeface="Calibri"/>
                <a:sym typeface="Calibri"/>
              </a:rPr>
              <a:t>3 / 14</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9" name="Shape 59"/>
        <p:cNvGrpSpPr/>
        <p:nvPr/>
      </p:nvGrpSpPr>
      <p:grpSpPr>
        <a:xfrm>
          <a:off x="0" y="0"/>
          <a:ext cx="0" cy="0"/>
          <a:chOff x="0" y="0"/>
          <a:chExt cx="0" cy="0"/>
        </a:xfrm>
      </p:grpSpPr>
      <p:sp>
        <p:nvSpPr>
          <p:cNvPr id="60" name="Google Shape;60;p4"/>
          <p:cNvSpPr/>
          <p:nvPr/>
        </p:nvSpPr>
        <p:spPr>
          <a:xfrm>
            <a:off x="457200" y="502920"/>
            <a:ext cx="11274552"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3200"/>
              <a:buFont typeface="Calibri"/>
              <a:buNone/>
            </a:pPr>
            <a:r>
              <a:rPr b="1" i="0" lang="en-US" sz="3200" u="none" cap="none" strike="noStrike">
                <a:solidFill>
                  <a:srgbClr val="1A1A1A"/>
                </a:solidFill>
                <a:latin typeface="Calibri"/>
                <a:ea typeface="Calibri"/>
                <a:cs typeface="Calibri"/>
                <a:sym typeface="Calibri"/>
              </a:rPr>
              <a:t>Technical Approach — Optimizations Applied</a:t>
            </a:r>
            <a:endParaRPr b="0" i="0" sz="3200" u="none" cap="none" strike="noStrike">
              <a:solidFill>
                <a:schemeClr val="dk1"/>
              </a:solidFill>
              <a:latin typeface="Calibri"/>
              <a:ea typeface="Calibri"/>
              <a:cs typeface="Calibri"/>
              <a:sym typeface="Calibri"/>
            </a:endParaRPr>
          </a:p>
        </p:txBody>
      </p:sp>
      <p:cxnSp>
        <p:nvCxnSpPr>
          <p:cNvPr id="61" name="Google Shape;61;p4"/>
          <p:cNvCxnSpPr/>
          <p:nvPr/>
        </p:nvCxnSpPr>
        <p:spPr>
          <a:xfrm>
            <a:off x="457200" y="1188720"/>
            <a:ext cx="11274552" cy="0"/>
          </a:xfrm>
          <a:prstGeom prst="straightConnector1">
            <a:avLst/>
          </a:prstGeom>
          <a:noFill/>
          <a:ln cap="flat" cmpd="sng" w="9525">
            <a:solidFill>
              <a:srgbClr val="D9D9D9"/>
            </a:solidFill>
            <a:prstDash val="solid"/>
            <a:round/>
            <a:headEnd len="sm" w="sm" type="none"/>
            <a:tailEnd len="sm" w="sm" type="none"/>
          </a:ln>
        </p:spPr>
      </p:cxnSp>
      <p:sp>
        <p:nvSpPr>
          <p:cNvPr id="62" name="Google Shape;62;p4"/>
          <p:cNvSpPr/>
          <p:nvPr/>
        </p:nvSpPr>
        <p:spPr>
          <a:xfrm>
            <a:off x="457200" y="1325880"/>
            <a:ext cx="10972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F76"/>
              </a:buClr>
              <a:buSzPts val="1000"/>
              <a:buFont typeface="Calibri"/>
              <a:buNone/>
            </a:pPr>
            <a:r>
              <a:rPr b="0" i="1" lang="en-US" sz="1000" u="none" cap="none" strike="noStrike">
                <a:solidFill>
                  <a:srgbClr val="6B6F76"/>
                </a:solidFill>
                <a:latin typeface="Calibri"/>
                <a:ea typeface="Calibri"/>
                <a:cs typeface="Calibri"/>
                <a:sym typeface="Calibri"/>
              </a:rPr>
              <a:t>Time budget: ~2 min. Name each optimization, give a 1-line intuition for why it should help.</a:t>
            </a:r>
            <a:endParaRPr b="0" i="0" sz="1000" u="none" cap="none" strike="noStrike">
              <a:solidFill>
                <a:schemeClr val="dk1"/>
              </a:solidFill>
              <a:latin typeface="Calibri"/>
              <a:ea typeface="Calibri"/>
              <a:cs typeface="Calibri"/>
              <a:sym typeface="Calibri"/>
            </a:endParaRPr>
          </a:p>
        </p:txBody>
      </p:sp>
      <p:sp>
        <p:nvSpPr>
          <p:cNvPr id="63" name="Google Shape;63;p4"/>
          <p:cNvSpPr/>
          <p:nvPr/>
        </p:nvSpPr>
        <p:spPr>
          <a:xfrm>
            <a:off x="457200" y="1874520"/>
            <a:ext cx="457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200"/>
              <a:buFont typeface="Calibri"/>
              <a:buNone/>
            </a:pPr>
            <a:r>
              <a:rPr b="1" i="0" lang="en-US" sz="2200" u="none" cap="none" strike="noStrike">
                <a:solidFill>
                  <a:srgbClr val="1A1A1A"/>
                </a:solidFill>
                <a:latin typeface="Calibri"/>
                <a:ea typeface="Calibri"/>
                <a:cs typeface="Calibri"/>
                <a:sym typeface="Calibri"/>
              </a:rPr>
              <a:t>1.</a:t>
            </a:r>
            <a:endParaRPr b="0" i="0" sz="2200" u="none" cap="none" strike="noStrike">
              <a:solidFill>
                <a:schemeClr val="dk1"/>
              </a:solidFill>
              <a:latin typeface="Calibri"/>
              <a:ea typeface="Calibri"/>
              <a:cs typeface="Calibri"/>
              <a:sym typeface="Calibri"/>
            </a:endParaRPr>
          </a:p>
        </p:txBody>
      </p:sp>
      <p:sp>
        <p:nvSpPr>
          <p:cNvPr id="64" name="Google Shape;64;p4"/>
          <p:cNvSpPr/>
          <p:nvPr/>
        </p:nvSpPr>
        <p:spPr>
          <a:xfrm>
            <a:off x="960120" y="1874520"/>
            <a:ext cx="106984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000"/>
              <a:buFont typeface="Calibri"/>
              <a:buNone/>
            </a:pPr>
            <a:r>
              <a:rPr b="1" lang="en-US" sz="2000">
                <a:solidFill>
                  <a:srgbClr val="1A1A1A"/>
                </a:solidFill>
                <a:latin typeface="Calibri"/>
                <a:ea typeface="Calibri"/>
                <a:cs typeface="Calibri"/>
                <a:sym typeface="Calibri"/>
              </a:rPr>
              <a:t>qLoRA Fine Tuning</a:t>
            </a:r>
            <a:endParaRPr b="0" i="0" sz="2000" u="none" cap="none" strike="noStrike">
              <a:solidFill>
                <a:schemeClr val="dk1"/>
              </a:solidFill>
              <a:latin typeface="Calibri"/>
              <a:ea typeface="Calibri"/>
              <a:cs typeface="Calibri"/>
              <a:sym typeface="Calibri"/>
            </a:endParaRPr>
          </a:p>
        </p:txBody>
      </p:sp>
      <p:sp>
        <p:nvSpPr>
          <p:cNvPr id="65" name="Google Shape;65;p4"/>
          <p:cNvSpPr/>
          <p:nvPr/>
        </p:nvSpPr>
        <p:spPr>
          <a:xfrm>
            <a:off x="960120" y="2377440"/>
            <a:ext cx="1069848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F76"/>
              </a:buClr>
              <a:buSzPts val="1400"/>
              <a:buFont typeface="Calibri"/>
              <a:buNone/>
            </a:pPr>
            <a:r>
              <a:rPr lang="en-US">
                <a:solidFill>
                  <a:srgbClr val="6B6F76"/>
                </a:solidFill>
                <a:latin typeface="Calibri"/>
                <a:ea typeface="Calibri"/>
                <a:cs typeface="Calibri"/>
                <a:sym typeface="Calibri"/>
              </a:rPr>
              <a:t>Use qLoRA fine tuning to efficiently fine-tune base model by freezing and quantizing weights in base model</a:t>
            </a:r>
            <a:endParaRPr b="0" i="0" sz="1400" u="none" cap="none" strike="noStrike">
              <a:solidFill>
                <a:schemeClr val="dk1"/>
              </a:solidFill>
              <a:latin typeface="Calibri"/>
              <a:ea typeface="Calibri"/>
              <a:cs typeface="Calibri"/>
              <a:sym typeface="Calibri"/>
            </a:endParaRPr>
          </a:p>
        </p:txBody>
      </p:sp>
      <p:sp>
        <p:nvSpPr>
          <p:cNvPr id="66" name="Google Shape;66;p4"/>
          <p:cNvSpPr/>
          <p:nvPr/>
        </p:nvSpPr>
        <p:spPr>
          <a:xfrm>
            <a:off x="457200" y="3291840"/>
            <a:ext cx="457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200"/>
              <a:buFont typeface="Calibri"/>
              <a:buNone/>
            </a:pPr>
            <a:r>
              <a:rPr b="1" i="0" lang="en-US" sz="2200" u="none" cap="none" strike="noStrike">
                <a:solidFill>
                  <a:srgbClr val="1A1A1A"/>
                </a:solidFill>
                <a:latin typeface="Calibri"/>
                <a:ea typeface="Calibri"/>
                <a:cs typeface="Calibri"/>
                <a:sym typeface="Calibri"/>
              </a:rPr>
              <a:t>2.</a:t>
            </a:r>
            <a:endParaRPr b="0" i="0" sz="2200" u="none" cap="none" strike="noStrike">
              <a:solidFill>
                <a:schemeClr val="dk1"/>
              </a:solidFill>
              <a:latin typeface="Calibri"/>
              <a:ea typeface="Calibri"/>
              <a:cs typeface="Calibri"/>
              <a:sym typeface="Calibri"/>
            </a:endParaRPr>
          </a:p>
        </p:txBody>
      </p:sp>
      <p:sp>
        <p:nvSpPr>
          <p:cNvPr id="67" name="Google Shape;67;p4"/>
          <p:cNvSpPr/>
          <p:nvPr/>
        </p:nvSpPr>
        <p:spPr>
          <a:xfrm>
            <a:off x="960120" y="3291840"/>
            <a:ext cx="106984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000"/>
              <a:buFont typeface="Calibri"/>
              <a:buNone/>
            </a:pPr>
            <a:r>
              <a:rPr b="1" lang="en-US" sz="2000">
                <a:solidFill>
                  <a:srgbClr val="1A1A1A"/>
                </a:solidFill>
                <a:latin typeface="Calibri"/>
                <a:ea typeface="Calibri"/>
                <a:cs typeface="Calibri"/>
                <a:sym typeface="Calibri"/>
              </a:rPr>
              <a:t>Runtime-aware Fine Tuning Objective</a:t>
            </a:r>
            <a:endParaRPr b="0" i="0" sz="2000" u="none" cap="none" strike="noStrike">
              <a:solidFill>
                <a:schemeClr val="dk1"/>
              </a:solidFill>
              <a:latin typeface="Calibri"/>
              <a:ea typeface="Calibri"/>
              <a:cs typeface="Calibri"/>
              <a:sym typeface="Calibri"/>
            </a:endParaRPr>
          </a:p>
        </p:txBody>
      </p:sp>
      <p:sp>
        <p:nvSpPr>
          <p:cNvPr id="68" name="Google Shape;68;p4"/>
          <p:cNvSpPr/>
          <p:nvPr/>
        </p:nvSpPr>
        <p:spPr>
          <a:xfrm>
            <a:off x="960120" y="3794760"/>
            <a:ext cx="1069848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F76"/>
              </a:buClr>
              <a:buSzPts val="1400"/>
              <a:buFont typeface="Calibri"/>
              <a:buNone/>
            </a:pPr>
            <a:r>
              <a:rPr lang="en-US">
                <a:solidFill>
                  <a:srgbClr val="6B6F76"/>
                </a:solidFill>
                <a:latin typeface="Calibri"/>
                <a:ea typeface="Calibri"/>
                <a:cs typeface="Calibri"/>
                <a:sym typeface="Calibri"/>
              </a:rPr>
              <a:t>Fine-tune against </a:t>
            </a:r>
            <a:r>
              <a:rPr i="1" lang="en-US">
                <a:solidFill>
                  <a:srgbClr val="6B6F76"/>
                </a:solidFill>
                <a:latin typeface="Calibri"/>
                <a:ea typeface="Calibri"/>
                <a:cs typeface="Calibri"/>
                <a:sym typeface="Calibri"/>
              </a:rPr>
              <a:t>fast</a:t>
            </a:r>
            <a:r>
              <a:rPr lang="en-US">
                <a:solidFill>
                  <a:srgbClr val="6B6F76"/>
                </a:solidFill>
                <a:latin typeface="Calibri"/>
                <a:ea typeface="Calibri"/>
                <a:cs typeface="Calibri"/>
                <a:sym typeface="Calibri"/>
              </a:rPr>
              <a:t> </a:t>
            </a:r>
            <a:r>
              <a:rPr i="1" lang="en-US">
                <a:solidFill>
                  <a:srgbClr val="6B6F76"/>
                </a:solidFill>
                <a:latin typeface="Calibri"/>
                <a:ea typeface="Calibri"/>
                <a:cs typeface="Calibri"/>
                <a:sym typeface="Calibri"/>
              </a:rPr>
              <a:t>and correct</a:t>
            </a:r>
            <a:r>
              <a:rPr lang="en-US">
                <a:solidFill>
                  <a:srgbClr val="6B6F76"/>
                </a:solidFill>
                <a:latin typeface="Calibri"/>
                <a:ea typeface="Calibri"/>
                <a:cs typeface="Calibri"/>
                <a:sym typeface="Calibri"/>
              </a:rPr>
              <a:t> code instead of just correct code in order to improve performance.</a:t>
            </a:r>
            <a:endParaRPr b="0" sz="1400" u="none" cap="none" strike="noStrike">
              <a:solidFill>
                <a:schemeClr val="dk1"/>
              </a:solidFill>
              <a:latin typeface="Calibri"/>
              <a:ea typeface="Calibri"/>
              <a:cs typeface="Calibri"/>
              <a:sym typeface="Calibri"/>
            </a:endParaRPr>
          </a:p>
        </p:txBody>
      </p:sp>
      <p:sp>
        <p:nvSpPr>
          <p:cNvPr id="69" name="Google Shape;69;p4"/>
          <p:cNvSpPr/>
          <p:nvPr/>
        </p:nvSpPr>
        <p:spPr>
          <a:xfrm>
            <a:off x="457200" y="4709160"/>
            <a:ext cx="457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200"/>
              <a:buFont typeface="Calibri"/>
              <a:buNone/>
            </a:pPr>
            <a:r>
              <a:rPr b="1" i="0" lang="en-US" sz="2200" u="none" cap="none" strike="noStrike">
                <a:solidFill>
                  <a:srgbClr val="1A1A1A"/>
                </a:solidFill>
                <a:latin typeface="Calibri"/>
                <a:ea typeface="Calibri"/>
                <a:cs typeface="Calibri"/>
                <a:sym typeface="Calibri"/>
              </a:rPr>
              <a:t>3.</a:t>
            </a:r>
            <a:endParaRPr b="0" i="0" sz="2200" u="none" cap="none" strike="noStrike">
              <a:solidFill>
                <a:schemeClr val="dk1"/>
              </a:solidFill>
              <a:latin typeface="Calibri"/>
              <a:ea typeface="Calibri"/>
              <a:cs typeface="Calibri"/>
              <a:sym typeface="Calibri"/>
            </a:endParaRPr>
          </a:p>
        </p:txBody>
      </p:sp>
      <p:sp>
        <p:nvSpPr>
          <p:cNvPr id="70" name="Google Shape;70;p4"/>
          <p:cNvSpPr/>
          <p:nvPr/>
        </p:nvSpPr>
        <p:spPr>
          <a:xfrm>
            <a:off x="960120" y="4709160"/>
            <a:ext cx="106984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000"/>
              <a:buFont typeface="Calibri"/>
              <a:buNone/>
            </a:pPr>
            <a:r>
              <a:rPr b="1" lang="en-US" sz="2000">
                <a:solidFill>
                  <a:srgbClr val="1A1A1A"/>
                </a:solidFill>
                <a:latin typeface="Calibri"/>
                <a:ea typeface="Calibri"/>
                <a:cs typeface="Calibri"/>
                <a:sym typeface="Calibri"/>
              </a:rPr>
              <a:t>Usage of a very small SLM (1.5B instead 7B) + Serving Engine Optimization</a:t>
            </a:r>
            <a:endParaRPr b="0" i="0" sz="2000" u="none" cap="none" strike="noStrike">
              <a:solidFill>
                <a:schemeClr val="dk1"/>
              </a:solidFill>
              <a:latin typeface="Calibri"/>
              <a:ea typeface="Calibri"/>
              <a:cs typeface="Calibri"/>
              <a:sym typeface="Calibri"/>
            </a:endParaRPr>
          </a:p>
        </p:txBody>
      </p:sp>
      <p:sp>
        <p:nvSpPr>
          <p:cNvPr id="71" name="Google Shape;71;p4"/>
          <p:cNvSpPr/>
          <p:nvPr/>
        </p:nvSpPr>
        <p:spPr>
          <a:xfrm>
            <a:off x="960120" y="5212080"/>
            <a:ext cx="1069848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F76"/>
              </a:buClr>
              <a:buSzPts val="1400"/>
              <a:buFont typeface="Calibri"/>
              <a:buNone/>
            </a:pPr>
            <a:r>
              <a:rPr lang="en-US">
                <a:solidFill>
                  <a:srgbClr val="6B6F76"/>
                </a:solidFill>
                <a:latin typeface="Calibri"/>
                <a:ea typeface="Calibri"/>
                <a:cs typeface="Calibri"/>
                <a:sym typeface="Calibri"/>
              </a:rPr>
              <a:t>Serving inference efficiently for code generation is just as important as execution time for latency critical applications.</a:t>
            </a:r>
            <a:endParaRPr b="0" i="0" sz="1400" u="none" cap="none" strike="noStrike">
              <a:solidFill>
                <a:schemeClr val="dk1"/>
              </a:solidFill>
              <a:latin typeface="Calibri"/>
              <a:ea typeface="Calibri"/>
              <a:cs typeface="Calibri"/>
              <a:sym typeface="Calibri"/>
            </a:endParaRPr>
          </a:p>
        </p:txBody>
      </p:sp>
      <p:sp>
        <p:nvSpPr>
          <p:cNvPr id="72" name="Google Shape;72;p4"/>
          <p:cNvSpPr/>
          <p:nvPr/>
        </p:nvSpPr>
        <p:spPr>
          <a:xfrm>
            <a:off x="457200" y="653796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F76"/>
              </a:buClr>
              <a:buSzPts val="1000"/>
              <a:buFont typeface="Calibri"/>
              <a:buNone/>
            </a:pPr>
            <a:r>
              <a:rPr b="0" i="1" lang="en-US" sz="1000" u="none" cap="none" strike="noStrike">
                <a:solidFill>
                  <a:srgbClr val="6B6F76"/>
                </a:solidFill>
                <a:latin typeface="Calibri"/>
                <a:ea typeface="Calibri"/>
                <a:cs typeface="Calibri"/>
                <a:sym typeface="Calibri"/>
              </a:rPr>
              <a:t>HPML · Spring 2026</a:t>
            </a:r>
            <a:endParaRPr b="0" i="0" sz="1000" u="none" cap="none" strike="noStrike">
              <a:solidFill>
                <a:schemeClr val="dk1"/>
              </a:solidFill>
              <a:latin typeface="Calibri"/>
              <a:ea typeface="Calibri"/>
              <a:cs typeface="Calibri"/>
              <a:sym typeface="Calibri"/>
            </a:endParaRPr>
          </a:p>
        </p:txBody>
      </p:sp>
      <p:sp>
        <p:nvSpPr>
          <p:cNvPr id="73" name="Google Shape;73;p4"/>
          <p:cNvSpPr/>
          <p:nvPr/>
        </p:nvSpPr>
        <p:spPr>
          <a:xfrm>
            <a:off x="6245352" y="6537960"/>
            <a:ext cx="54864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6F76"/>
              </a:buClr>
              <a:buSzPts val="1000"/>
              <a:buFont typeface="Calibri"/>
              <a:buNone/>
            </a:pPr>
            <a:r>
              <a:rPr b="0" i="0" lang="en-US" sz="1000" u="none" cap="none" strike="noStrike">
                <a:solidFill>
                  <a:srgbClr val="6B6F76"/>
                </a:solidFill>
                <a:latin typeface="Calibri"/>
                <a:ea typeface="Calibri"/>
                <a:cs typeface="Calibri"/>
                <a:sym typeface="Calibri"/>
              </a:rPr>
              <a:t>4 / 14</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8" name="Shape 78"/>
        <p:cNvGrpSpPr/>
        <p:nvPr/>
      </p:nvGrpSpPr>
      <p:grpSpPr>
        <a:xfrm>
          <a:off x="0" y="0"/>
          <a:ext cx="0" cy="0"/>
          <a:chOff x="0" y="0"/>
          <a:chExt cx="0" cy="0"/>
        </a:xfrm>
      </p:grpSpPr>
      <p:sp>
        <p:nvSpPr>
          <p:cNvPr id="79" name="Google Shape;79;p6"/>
          <p:cNvSpPr/>
          <p:nvPr/>
        </p:nvSpPr>
        <p:spPr>
          <a:xfrm>
            <a:off x="457200" y="502920"/>
            <a:ext cx="11274552"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3200"/>
              <a:buFont typeface="Calibri"/>
              <a:buNone/>
            </a:pPr>
            <a:r>
              <a:rPr b="1" i="0" lang="en-US" sz="3200" u="none" cap="none" strike="noStrike">
                <a:solidFill>
                  <a:srgbClr val="1A1A1A"/>
                </a:solidFill>
                <a:latin typeface="Calibri"/>
                <a:ea typeface="Calibri"/>
                <a:cs typeface="Calibri"/>
                <a:sym typeface="Calibri"/>
              </a:rPr>
              <a:t>Results — Headline Numbers</a:t>
            </a:r>
            <a:endParaRPr b="0" i="0" sz="3200" u="none" cap="none" strike="noStrike">
              <a:solidFill>
                <a:schemeClr val="dk1"/>
              </a:solidFill>
              <a:latin typeface="Calibri"/>
              <a:ea typeface="Calibri"/>
              <a:cs typeface="Calibri"/>
              <a:sym typeface="Calibri"/>
            </a:endParaRPr>
          </a:p>
        </p:txBody>
      </p:sp>
      <p:cxnSp>
        <p:nvCxnSpPr>
          <p:cNvPr id="80" name="Google Shape;80;p6"/>
          <p:cNvCxnSpPr/>
          <p:nvPr/>
        </p:nvCxnSpPr>
        <p:spPr>
          <a:xfrm>
            <a:off x="457200" y="1188720"/>
            <a:ext cx="11274552" cy="0"/>
          </a:xfrm>
          <a:prstGeom prst="straightConnector1">
            <a:avLst/>
          </a:prstGeom>
          <a:noFill/>
          <a:ln cap="flat" cmpd="sng" w="9525">
            <a:solidFill>
              <a:srgbClr val="D9D9D9"/>
            </a:solidFill>
            <a:prstDash val="solid"/>
            <a:round/>
            <a:headEnd len="sm" w="sm" type="none"/>
            <a:tailEnd len="sm" w="sm" type="none"/>
          </a:ln>
        </p:spPr>
      </p:cxnSp>
      <p:sp>
        <p:nvSpPr>
          <p:cNvPr id="81" name="Google Shape;81;p6"/>
          <p:cNvSpPr/>
          <p:nvPr/>
        </p:nvSpPr>
        <p:spPr>
          <a:xfrm>
            <a:off x="457200" y="1325880"/>
            <a:ext cx="10972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F76"/>
              </a:buClr>
              <a:buSzPts val="1000"/>
              <a:buFont typeface="Calibri"/>
              <a:buNone/>
            </a:pPr>
            <a:r>
              <a:rPr b="0" i="1" lang="en-US" sz="1000" u="none" cap="none" strike="noStrike">
                <a:solidFill>
                  <a:srgbClr val="6B6F76"/>
                </a:solidFill>
                <a:latin typeface="Calibri"/>
                <a:ea typeface="Calibri"/>
                <a:cs typeface="Calibri"/>
                <a:sym typeface="Calibri"/>
              </a:rPr>
              <a:t>Big numbers up front. Replace with your measured improvements.</a:t>
            </a:r>
            <a:endParaRPr b="0" i="0" sz="1000" u="none" cap="none" strike="noStrike">
              <a:solidFill>
                <a:schemeClr val="dk1"/>
              </a:solidFill>
              <a:latin typeface="Calibri"/>
              <a:ea typeface="Calibri"/>
              <a:cs typeface="Calibri"/>
              <a:sym typeface="Calibri"/>
            </a:endParaRPr>
          </a:p>
        </p:txBody>
      </p:sp>
      <p:sp>
        <p:nvSpPr>
          <p:cNvPr id="82" name="Google Shape;82;p6"/>
          <p:cNvSpPr/>
          <p:nvPr/>
        </p:nvSpPr>
        <p:spPr>
          <a:xfrm>
            <a:off x="457200" y="2286000"/>
            <a:ext cx="3584448" cy="1463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75B2A"/>
              </a:buClr>
              <a:buSzPts val="6400"/>
              <a:buFont typeface="Calibri"/>
              <a:buNone/>
            </a:pPr>
            <a:r>
              <a:rPr b="1" lang="en-US" sz="6400">
                <a:solidFill>
                  <a:srgbClr val="C75B2A"/>
                </a:solidFill>
                <a:latin typeface="Calibri"/>
                <a:ea typeface="Calibri"/>
                <a:cs typeface="Calibri"/>
                <a:sym typeface="Calibri"/>
              </a:rPr>
              <a:t>8.3</a:t>
            </a:r>
            <a:r>
              <a:rPr b="1" i="0" lang="en-US" sz="6400" u="none" cap="none" strike="noStrike">
                <a:solidFill>
                  <a:srgbClr val="C75B2A"/>
                </a:solidFill>
                <a:latin typeface="Calibri"/>
                <a:ea typeface="Calibri"/>
                <a:cs typeface="Calibri"/>
                <a:sym typeface="Calibri"/>
              </a:rPr>
              <a:t>x</a:t>
            </a:r>
            <a:endParaRPr b="0" i="0" sz="6400" u="none" cap="none" strike="noStrike">
              <a:solidFill>
                <a:schemeClr val="dk1"/>
              </a:solidFill>
              <a:latin typeface="Calibri"/>
              <a:ea typeface="Calibri"/>
              <a:cs typeface="Calibri"/>
              <a:sym typeface="Calibri"/>
            </a:endParaRPr>
          </a:p>
        </p:txBody>
      </p:sp>
      <p:sp>
        <p:nvSpPr>
          <p:cNvPr id="83" name="Google Shape;83;p6"/>
          <p:cNvSpPr/>
          <p:nvPr/>
        </p:nvSpPr>
        <p:spPr>
          <a:xfrm>
            <a:off x="457225" y="3817618"/>
            <a:ext cx="3584400" cy="36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1A"/>
              </a:buClr>
              <a:buSzPts val="1600"/>
              <a:buFont typeface="Calibri"/>
              <a:buNone/>
            </a:pPr>
            <a:r>
              <a:rPr b="1" lang="en-US" sz="1600">
                <a:solidFill>
                  <a:srgbClr val="1A1A1A"/>
                </a:solidFill>
                <a:latin typeface="Calibri"/>
                <a:ea typeface="Calibri"/>
                <a:cs typeface="Calibri"/>
                <a:sym typeface="Calibri"/>
              </a:rPr>
              <a:t>serving throughput</a:t>
            </a:r>
            <a:endParaRPr b="0" i="0" sz="1600" u="none" cap="none" strike="noStrike">
              <a:solidFill>
                <a:schemeClr val="dk1"/>
              </a:solidFill>
              <a:latin typeface="Calibri"/>
              <a:ea typeface="Calibri"/>
              <a:cs typeface="Calibri"/>
              <a:sym typeface="Calibri"/>
            </a:endParaRPr>
          </a:p>
        </p:txBody>
      </p:sp>
      <p:sp>
        <p:nvSpPr>
          <p:cNvPr id="84" name="Google Shape;84;p6"/>
          <p:cNvSpPr/>
          <p:nvPr/>
        </p:nvSpPr>
        <p:spPr>
          <a:xfrm>
            <a:off x="457200" y="4251960"/>
            <a:ext cx="3584448"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B6F76"/>
              </a:buClr>
              <a:buSzPts val="1200"/>
              <a:buFont typeface="Calibri"/>
              <a:buNone/>
            </a:pPr>
            <a:r>
              <a:rPr b="0" i="1" lang="en-US" sz="1200" u="none" cap="none" strike="noStrike">
                <a:solidFill>
                  <a:srgbClr val="6B6F76"/>
                </a:solidFill>
                <a:latin typeface="Calibri"/>
                <a:ea typeface="Calibri"/>
                <a:cs typeface="Calibri"/>
                <a:sym typeface="Calibri"/>
              </a:rPr>
              <a:t>[</a:t>
            </a:r>
            <a:r>
              <a:rPr i="1" lang="en-US" sz="1200">
                <a:solidFill>
                  <a:srgbClr val="6B6F76"/>
                </a:solidFill>
                <a:latin typeface="Calibri"/>
                <a:ea typeface="Calibri"/>
                <a:cs typeface="Calibri"/>
                <a:sym typeface="Calibri"/>
              </a:rPr>
              <a:t>228.6</a:t>
            </a:r>
            <a:r>
              <a:rPr b="0" i="1" lang="en-US" sz="1200" u="none" cap="none" strike="noStrike">
                <a:solidFill>
                  <a:srgbClr val="6B6F76"/>
                </a:solidFill>
                <a:latin typeface="Calibri"/>
                <a:ea typeface="Calibri"/>
                <a:cs typeface="Calibri"/>
                <a:sym typeface="Calibri"/>
              </a:rPr>
              <a:t> → </a:t>
            </a:r>
            <a:r>
              <a:rPr i="1" lang="en-US" sz="1200">
                <a:solidFill>
                  <a:srgbClr val="6B6F76"/>
                </a:solidFill>
                <a:latin typeface="Calibri"/>
                <a:ea typeface="Calibri"/>
                <a:cs typeface="Calibri"/>
                <a:sym typeface="Calibri"/>
              </a:rPr>
              <a:t>1891.1 tok/s</a:t>
            </a:r>
            <a:r>
              <a:rPr b="0" i="1" lang="en-US" sz="1200" u="none" cap="none" strike="noStrike">
                <a:solidFill>
                  <a:srgbClr val="6B6F76"/>
                </a:solidFill>
                <a:latin typeface="Calibri"/>
                <a:ea typeface="Calibri"/>
                <a:cs typeface="Calibri"/>
                <a:sym typeface="Calibri"/>
              </a:rPr>
              <a:t>]</a:t>
            </a:r>
            <a:endParaRPr b="0" i="0" sz="1200" u="none" cap="none" strike="noStrike">
              <a:solidFill>
                <a:schemeClr val="dk1"/>
              </a:solidFill>
              <a:latin typeface="Calibri"/>
              <a:ea typeface="Calibri"/>
              <a:cs typeface="Calibri"/>
              <a:sym typeface="Calibri"/>
            </a:endParaRPr>
          </a:p>
        </p:txBody>
      </p:sp>
      <p:sp>
        <p:nvSpPr>
          <p:cNvPr id="85" name="Google Shape;85;p6"/>
          <p:cNvSpPr/>
          <p:nvPr/>
        </p:nvSpPr>
        <p:spPr>
          <a:xfrm>
            <a:off x="4315968" y="2286000"/>
            <a:ext cx="3584448" cy="1463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75B2A"/>
              </a:buClr>
              <a:buSzPts val="6400"/>
              <a:buFont typeface="Calibri"/>
              <a:buNone/>
            </a:pPr>
            <a:r>
              <a:rPr b="1" lang="en-US" sz="6400">
                <a:solidFill>
                  <a:srgbClr val="C75B2A"/>
                </a:solidFill>
                <a:latin typeface="Calibri"/>
                <a:ea typeface="Calibri"/>
                <a:cs typeface="Calibri"/>
                <a:sym typeface="Calibri"/>
              </a:rPr>
              <a:t>+29.7</a:t>
            </a:r>
            <a:r>
              <a:rPr b="1" i="0" lang="en-US" sz="6400" u="none" cap="none" strike="noStrike">
                <a:solidFill>
                  <a:srgbClr val="C75B2A"/>
                </a:solidFill>
                <a:latin typeface="Calibri"/>
                <a:ea typeface="Calibri"/>
                <a:cs typeface="Calibri"/>
                <a:sym typeface="Calibri"/>
              </a:rPr>
              <a:t>%</a:t>
            </a:r>
            <a:endParaRPr b="0" i="0" sz="6400" u="none" cap="none" strike="noStrike">
              <a:solidFill>
                <a:schemeClr val="dk1"/>
              </a:solidFill>
              <a:latin typeface="Calibri"/>
              <a:ea typeface="Calibri"/>
              <a:cs typeface="Calibri"/>
              <a:sym typeface="Calibri"/>
            </a:endParaRPr>
          </a:p>
        </p:txBody>
      </p:sp>
      <p:sp>
        <p:nvSpPr>
          <p:cNvPr id="86" name="Google Shape;86;p6"/>
          <p:cNvSpPr/>
          <p:nvPr/>
        </p:nvSpPr>
        <p:spPr>
          <a:xfrm>
            <a:off x="4315968" y="3840480"/>
            <a:ext cx="3584448"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1A"/>
              </a:buClr>
              <a:buSzPts val="1600"/>
              <a:buFont typeface="Calibri"/>
              <a:buNone/>
            </a:pPr>
            <a:r>
              <a:rPr b="1" lang="en-US" sz="1600">
                <a:solidFill>
                  <a:srgbClr val="1A1A1A"/>
                </a:solidFill>
                <a:latin typeface="Calibri"/>
                <a:ea typeface="Calibri"/>
                <a:cs typeface="Calibri"/>
                <a:sym typeface="Calibri"/>
              </a:rPr>
              <a:t>higher Pass@1 score</a:t>
            </a:r>
            <a:endParaRPr b="0" i="0" sz="1600" u="none" cap="none" strike="noStrike">
              <a:solidFill>
                <a:schemeClr val="dk1"/>
              </a:solidFill>
              <a:latin typeface="Calibri"/>
              <a:ea typeface="Calibri"/>
              <a:cs typeface="Calibri"/>
              <a:sym typeface="Calibri"/>
            </a:endParaRPr>
          </a:p>
        </p:txBody>
      </p:sp>
      <p:sp>
        <p:nvSpPr>
          <p:cNvPr id="87" name="Google Shape;87;p6"/>
          <p:cNvSpPr/>
          <p:nvPr/>
        </p:nvSpPr>
        <p:spPr>
          <a:xfrm>
            <a:off x="4315968" y="4251960"/>
            <a:ext cx="3584448"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B6F76"/>
              </a:buClr>
              <a:buSzPts val="1200"/>
              <a:buFont typeface="Calibri"/>
              <a:buNone/>
            </a:pPr>
            <a:r>
              <a:rPr b="0" i="1" lang="en-US" sz="1200" u="none" cap="none" strike="noStrike">
                <a:solidFill>
                  <a:srgbClr val="6B6F76"/>
                </a:solidFill>
                <a:latin typeface="Calibri"/>
                <a:ea typeface="Calibri"/>
                <a:cs typeface="Calibri"/>
                <a:sym typeface="Calibri"/>
              </a:rPr>
              <a:t>[</a:t>
            </a:r>
            <a:r>
              <a:rPr i="1" lang="en-US" sz="1200">
                <a:solidFill>
                  <a:srgbClr val="6B6F76"/>
                </a:solidFill>
                <a:latin typeface="Calibri"/>
                <a:ea typeface="Calibri"/>
                <a:cs typeface="Calibri"/>
                <a:sym typeface="Calibri"/>
              </a:rPr>
              <a:t>34.5% → 64.2%]</a:t>
            </a:r>
            <a:endParaRPr b="0" i="0" sz="1200" u="none" cap="none" strike="noStrike">
              <a:solidFill>
                <a:schemeClr val="dk1"/>
              </a:solidFill>
              <a:latin typeface="Calibri"/>
              <a:ea typeface="Calibri"/>
              <a:cs typeface="Calibri"/>
              <a:sym typeface="Calibri"/>
            </a:endParaRPr>
          </a:p>
        </p:txBody>
      </p:sp>
      <p:sp>
        <p:nvSpPr>
          <p:cNvPr id="88" name="Google Shape;88;p6"/>
          <p:cNvSpPr/>
          <p:nvPr/>
        </p:nvSpPr>
        <p:spPr>
          <a:xfrm>
            <a:off x="8174736" y="2286000"/>
            <a:ext cx="3584448" cy="1463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75B2A"/>
              </a:buClr>
              <a:buSzPts val="6400"/>
              <a:buFont typeface="Calibri"/>
              <a:buNone/>
            </a:pPr>
            <a:r>
              <a:rPr b="1" lang="en-US" sz="6400">
                <a:solidFill>
                  <a:srgbClr val="C75B2A"/>
                </a:solidFill>
                <a:latin typeface="Calibri"/>
                <a:ea typeface="Calibri"/>
                <a:cs typeface="Calibri"/>
                <a:sym typeface="Calibri"/>
              </a:rPr>
              <a:t>97</a:t>
            </a:r>
            <a:r>
              <a:rPr b="1" i="0" lang="en-US" sz="6400" u="none" cap="none" strike="noStrike">
                <a:solidFill>
                  <a:srgbClr val="C75B2A"/>
                </a:solidFill>
                <a:latin typeface="Calibri"/>
                <a:ea typeface="Calibri"/>
                <a:cs typeface="Calibri"/>
                <a:sym typeface="Calibri"/>
              </a:rPr>
              <a:t>%</a:t>
            </a:r>
            <a:endParaRPr b="0" i="0" sz="6400" u="none" cap="none" strike="noStrike">
              <a:solidFill>
                <a:schemeClr val="dk1"/>
              </a:solidFill>
              <a:latin typeface="Calibri"/>
              <a:ea typeface="Calibri"/>
              <a:cs typeface="Calibri"/>
              <a:sym typeface="Calibri"/>
            </a:endParaRPr>
          </a:p>
        </p:txBody>
      </p:sp>
      <p:sp>
        <p:nvSpPr>
          <p:cNvPr id="89" name="Google Shape;89;p6"/>
          <p:cNvSpPr/>
          <p:nvPr/>
        </p:nvSpPr>
        <p:spPr>
          <a:xfrm>
            <a:off x="8174736" y="3840480"/>
            <a:ext cx="3584448"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1A"/>
              </a:buClr>
              <a:buSzPts val="1600"/>
              <a:buFont typeface="Calibri"/>
              <a:buNone/>
            </a:pPr>
            <a:r>
              <a:rPr b="1" lang="en-US" sz="1600">
                <a:solidFill>
                  <a:srgbClr val="1A1A1A"/>
                </a:solidFill>
                <a:latin typeface="Calibri"/>
                <a:ea typeface="Calibri"/>
                <a:cs typeface="Calibri"/>
                <a:sym typeface="Calibri"/>
              </a:rPr>
              <a:t>higher serving GPU utilization</a:t>
            </a:r>
            <a:endParaRPr b="0" i="0" sz="1600" u="none" cap="none" strike="noStrike">
              <a:solidFill>
                <a:schemeClr val="dk1"/>
              </a:solidFill>
              <a:latin typeface="Calibri"/>
              <a:ea typeface="Calibri"/>
              <a:cs typeface="Calibri"/>
              <a:sym typeface="Calibri"/>
            </a:endParaRPr>
          </a:p>
        </p:txBody>
      </p:sp>
      <p:sp>
        <p:nvSpPr>
          <p:cNvPr id="90" name="Google Shape;90;p6"/>
          <p:cNvSpPr/>
          <p:nvPr/>
        </p:nvSpPr>
        <p:spPr>
          <a:xfrm>
            <a:off x="8174736" y="4251960"/>
            <a:ext cx="3584448"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B6F76"/>
              </a:buClr>
              <a:buSzPts val="1200"/>
              <a:buFont typeface="Calibri"/>
              <a:buNone/>
            </a:pPr>
            <a:r>
              <a:rPr b="0" i="1" lang="en-US" sz="1200" u="none" cap="none" strike="noStrike">
                <a:solidFill>
                  <a:srgbClr val="6B6F76"/>
                </a:solidFill>
                <a:latin typeface="Calibri"/>
                <a:ea typeface="Calibri"/>
                <a:cs typeface="Calibri"/>
                <a:sym typeface="Calibri"/>
              </a:rPr>
              <a:t>[</a:t>
            </a:r>
            <a:r>
              <a:rPr i="1" lang="en-US" sz="1200">
                <a:solidFill>
                  <a:srgbClr val="6B6F76"/>
                </a:solidFill>
                <a:latin typeface="Calibri"/>
                <a:ea typeface="Calibri"/>
                <a:cs typeface="Calibri"/>
                <a:sym typeface="Calibri"/>
              </a:rPr>
              <a:t>HF ~37%</a:t>
            </a:r>
            <a:r>
              <a:rPr b="0" i="1" lang="en-US" sz="1200" u="none" cap="none" strike="noStrike">
                <a:solidFill>
                  <a:srgbClr val="6B6F76"/>
                </a:solidFill>
                <a:latin typeface="Calibri"/>
                <a:ea typeface="Calibri"/>
                <a:cs typeface="Calibri"/>
                <a:sym typeface="Calibri"/>
              </a:rPr>
              <a:t> → </a:t>
            </a:r>
            <a:r>
              <a:rPr i="1" lang="en-US" sz="1200">
                <a:solidFill>
                  <a:srgbClr val="6B6F76"/>
                </a:solidFill>
                <a:latin typeface="Calibri"/>
                <a:ea typeface="Calibri"/>
                <a:cs typeface="Calibri"/>
                <a:sym typeface="Calibri"/>
              </a:rPr>
              <a:t>vLLM ~97%</a:t>
            </a:r>
            <a:r>
              <a:rPr b="0" i="1" lang="en-US" sz="1200" u="none" cap="none" strike="noStrike">
                <a:solidFill>
                  <a:srgbClr val="6B6F76"/>
                </a:solidFill>
                <a:latin typeface="Calibri"/>
                <a:ea typeface="Calibri"/>
                <a:cs typeface="Calibri"/>
                <a:sym typeface="Calibri"/>
              </a:rPr>
              <a:t>]</a:t>
            </a:r>
            <a:endParaRPr b="0" i="0" sz="1200" u="none" cap="none" strike="noStrike">
              <a:solidFill>
                <a:schemeClr val="dk1"/>
              </a:solidFill>
              <a:latin typeface="Calibri"/>
              <a:ea typeface="Calibri"/>
              <a:cs typeface="Calibri"/>
              <a:sym typeface="Calibri"/>
            </a:endParaRPr>
          </a:p>
        </p:txBody>
      </p:sp>
      <p:sp>
        <p:nvSpPr>
          <p:cNvPr id="91" name="Google Shape;91;p6"/>
          <p:cNvSpPr/>
          <p:nvPr/>
        </p:nvSpPr>
        <p:spPr>
          <a:xfrm>
            <a:off x="457200" y="5852160"/>
            <a:ext cx="11274552"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B6F76"/>
              </a:buClr>
              <a:buSzPts val="1100"/>
              <a:buFont typeface="Calibri"/>
              <a:buNone/>
            </a:pPr>
            <a:r>
              <a:rPr b="0" i="1" lang="en-US" sz="1100" u="none" cap="none" strike="noStrike">
                <a:solidFill>
                  <a:srgbClr val="6B6F76"/>
                </a:solidFill>
                <a:latin typeface="Calibri"/>
                <a:ea typeface="Calibri"/>
                <a:cs typeface="Calibri"/>
                <a:sym typeface="Calibri"/>
              </a:rPr>
              <a:t>All measurements averaged over [N] runs on [hardware]. Error bars in backup slides.</a:t>
            </a:r>
            <a:endParaRPr b="0" i="0" sz="1100" u="none" cap="none" strike="noStrike">
              <a:solidFill>
                <a:schemeClr val="dk1"/>
              </a:solidFill>
              <a:latin typeface="Calibri"/>
              <a:ea typeface="Calibri"/>
              <a:cs typeface="Calibri"/>
              <a:sym typeface="Calibri"/>
            </a:endParaRPr>
          </a:p>
        </p:txBody>
      </p:sp>
      <p:sp>
        <p:nvSpPr>
          <p:cNvPr id="92" name="Google Shape;92;p6"/>
          <p:cNvSpPr/>
          <p:nvPr/>
        </p:nvSpPr>
        <p:spPr>
          <a:xfrm>
            <a:off x="457200" y="653796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F76"/>
              </a:buClr>
              <a:buSzPts val="1000"/>
              <a:buFont typeface="Calibri"/>
              <a:buNone/>
            </a:pPr>
            <a:r>
              <a:rPr b="0" i="1" lang="en-US" sz="1000" u="none" cap="none" strike="noStrike">
                <a:solidFill>
                  <a:srgbClr val="6B6F76"/>
                </a:solidFill>
                <a:latin typeface="Calibri"/>
                <a:ea typeface="Calibri"/>
                <a:cs typeface="Calibri"/>
                <a:sym typeface="Calibri"/>
              </a:rPr>
              <a:t>HPML · Spring 2026</a:t>
            </a:r>
            <a:endParaRPr b="0" i="0" sz="1000" u="none" cap="none" strike="noStrike">
              <a:solidFill>
                <a:schemeClr val="dk1"/>
              </a:solidFill>
              <a:latin typeface="Calibri"/>
              <a:ea typeface="Calibri"/>
              <a:cs typeface="Calibri"/>
              <a:sym typeface="Calibri"/>
            </a:endParaRPr>
          </a:p>
        </p:txBody>
      </p:sp>
      <p:sp>
        <p:nvSpPr>
          <p:cNvPr id="93" name="Google Shape;93;p6"/>
          <p:cNvSpPr/>
          <p:nvPr/>
        </p:nvSpPr>
        <p:spPr>
          <a:xfrm>
            <a:off x="6245352" y="6537960"/>
            <a:ext cx="54864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6F76"/>
              </a:buClr>
              <a:buSzPts val="1000"/>
              <a:buFont typeface="Calibri"/>
              <a:buNone/>
            </a:pPr>
            <a:r>
              <a:rPr b="0" i="0" lang="en-US" sz="1000" u="none" cap="none" strike="noStrike">
                <a:solidFill>
                  <a:srgbClr val="6B6F76"/>
                </a:solidFill>
                <a:latin typeface="Calibri"/>
                <a:ea typeface="Calibri"/>
                <a:cs typeface="Calibri"/>
                <a:sym typeface="Calibri"/>
              </a:rPr>
              <a:t>6 / 14</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8" name="Shape 98"/>
        <p:cNvGrpSpPr/>
        <p:nvPr/>
      </p:nvGrpSpPr>
      <p:grpSpPr>
        <a:xfrm>
          <a:off x="0" y="0"/>
          <a:ext cx="0" cy="0"/>
          <a:chOff x="0" y="0"/>
          <a:chExt cx="0" cy="0"/>
        </a:xfrm>
      </p:grpSpPr>
      <p:sp>
        <p:nvSpPr>
          <p:cNvPr id="99" name="Google Shape;99;p7"/>
          <p:cNvSpPr/>
          <p:nvPr/>
        </p:nvSpPr>
        <p:spPr>
          <a:xfrm>
            <a:off x="457200" y="502920"/>
            <a:ext cx="11274552"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3200"/>
              <a:buFont typeface="Calibri"/>
              <a:buNone/>
            </a:pPr>
            <a:r>
              <a:rPr b="1" i="0" lang="en-US" sz="3200" u="none" cap="none" strike="noStrike">
                <a:solidFill>
                  <a:srgbClr val="1A1A1A"/>
                </a:solidFill>
                <a:latin typeface="Calibri"/>
                <a:ea typeface="Calibri"/>
                <a:cs typeface="Calibri"/>
                <a:sym typeface="Calibri"/>
              </a:rPr>
              <a:t>Results — </a:t>
            </a:r>
            <a:r>
              <a:rPr b="1" lang="en-US" sz="3200">
                <a:solidFill>
                  <a:srgbClr val="1A1A1A"/>
                </a:solidFill>
                <a:latin typeface="Calibri"/>
                <a:ea typeface="Calibri"/>
                <a:cs typeface="Calibri"/>
                <a:sym typeface="Calibri"/>
              </a:rPr>
              <a:t>Base</a:t>
            </a:r>
            <a:r>
              <a:rPr b="1" i="0" lang="en-US" sz="3200" u="none" cap="none" strike="noStrike">
                <a:solidFill>
                  <a:srgbClr val="1A1A1A"/>
                </a:solidFill>
                <a:latin typeface="Calibri"/>
                <a:ea typeface="Calibri"/>
                <a:cs typeface="Calibri"/>
                <a:sym typeface="Calibri"/>
              </a:rPr>
              <a:t> vs. </a:t>
            </a:r>
            <a:r>
              <a:rPr b="1" lang="en-US" sz="3200">
                <a:solidFill>
                  <a:srgbClr val="1A1A1A"/>
                </a:solidFill>
                <a:latin typeface="Calibri"/>
                <a:ea typeface="Calibri"/>
                <a:cs typeface="Calibri"/>
                <a:sym typeface="Calibri"/>
              </a:rPr>
              <a:t>Control vs. Runtime-Aware</a:t>
            </a:r>
            <a:endParaRPr b="0" i="0" sz="3200" u="none" cap="none" strike="noStrike">
              <a:solidFill>
                <a:schemeClr val="dk1"/>
              </a:solidFill>
              <a:latin typeface="Calibri"/>
              <a:ea typeface="Calibri"/>
              <a:cs typeface="Calibri"/>
              <a:sym typeface="Calibri"/>
            </a:endParaRPr>
          </a:p>
        </p:txBody>
      </p:sp>
      <p:cxnSp>
        <p:nvCxnSpPr>
          <p:cNvPr id="100" name="Google Shape;100;p7"/>
          <p:cNvCxnSpPr/>
          <p:nvPr/>
        </p:nvCxnSpPr>
        <p:spPr>
          <a:xfrm>
            <a:off x="457200" y="1188720"/>
            <a:ext cx="11274552" cy="0"/>
          </a:xfrm>
          <a:prstGeom prst="straightConnector1">
            <a:avLst/>
          </a:prstGeom>
          <a:noFill/>
          <a:ln cap="flat" cmpd="sng" w="9525">
            <a:solidFill>
              <a:srgbClr val="D9D9D9"/>
            </a:solidFill>
            <a:prstDash val="solid"/>
            <a:round/>
            <a:headEnd len="sm" w="sm" type="none"/>
            <a:tailEnd len="sm" w="sm" type="none"/>
          </a:ln>
        </p:spPr>
      </p:cxnSp>
      <p:sp>
        <p:nvSpPr>
          <p:cNvPr id="101" name="Google Shape;101;p7"/>
          <p:cNvSpPr/>
          <p:nvPr/>
        </p:nvSpPr>
        <p:spPr>
          <a:xfrm>
            <a:off x="818115" y="4926175"/>
            <a:ext cx="39318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600"/>
              <a:buFont typeface="Calibri"/>
              <a:buNone/>
            </a:pPr>
            <a:r>
              <a:rPr b="1" i="0" lang="en-US" sz="1600" u="none" cap="none" strike="noStrike">
                <a:solidFill>
                  <a:srgbClr val="1A1A1A"/>
                </a:solidFill>
                <a:latin typeface="Calibri"/>
                <a:ea typeface="Calibri"/>
                <a:cs typeface="Calibri"/>
                <a:sym typeface="Calibri"/>
              </a:rPr>
              <a:t>Takeaways</a:t>
            </a:r>
            <a:endParaRPr b="0" i="0" sz="1600" u="none" cap="none" strike="noStrike">
              <a:solidFill>
                <a:schemeClr val="dk1"/>
              </a:solidFill>
              <a:latin typeface="Calibri"/>
              <a:ea typeface="Calibri"/>
              <a:cs typeface="Calibri"/>
              <a:sym typeface="Calibri"/>
            </a:endParaRPr>
          </a:p>
        </p:txBody>
      </p:sp>
      <p:sp>
        <p:nvSpPr>
          <p:cNvPr id="102" name="Google Shape;102;p7"/>
          <p:cNvSpPr/>
          <p:nvPr/>
        </p:nvSpPr>
        <p:spPr>
          <a:xfrm>
            <a:off x="818124" y="5249275"/>
            <a:ext cx="10450500" cy="1138500"/>
          </a:xfrm>
          <a:prstGeom prst="rect">
            <a:avLst/>
          </a:prstGeom>
          <a:noFill/>
          <a:ln>
            <a:noFill/>
          </a:ln>
        </p:spPr>
        <p:txBody>
          <a:bodyPr anchorCtr="0" anchor="t" bIns="45700" lIns="91425" spcFirstLastPara="1" rIns="91425" wrap="square" tIns="45700">
            <a:noAutofit/>
          </a:bodyPr>
          <a:lstStyle/>
          <a:p>
            <a:pPr indent="-311150" lvl="0" marL="457200" rtl="0" algn="l">
              <a:lnSpc>
                <a:spcPct val="115000"/>
              </a:lnSpc>
              <a:spcBef>
                <a:spcPts val="0"/>
              </a:spcBef>
              <a:spcAft>
                <a:spcPts val="0"/>
              </a:spcAft>
              <a:buClr>
                <a:srgbClr val="1A1A1A"/>
              </a:buClr>
              <a:buSzPts val="1300"/>
              <a:buFont typeface="Calibri"/>
              <a:buChar char="•"/>
            </a:pPr>
            <a:r>
              <a:rPr lang="en-US" sz="1300">
                <a:solidFill>
                  <a:srgbClr val="1A1A1A"/>
                </a:solidFill>
                <a:latin typeface="Calibri"/>
                <a:ea typeface="Calibri"/>
                <a:cs typeface="Calibri"/>
                <a:sym typeface="Calibri"/>
              </a:rPr>
              <a:t>Fine-tuning roughly doubles correctness: Base SLM 34.5% → Control SFT 64.2% Pass@1</a:t>
            </a:r>
            <a:endParaRPr sz="1300">
              <a:solidFill>
                <a:srgbClr val="1A1A1A"/>
              </a:solidFill>
              <a:latin typeface="Calibri"/>
              <a:ea typeface="Calibri"/>
              <a:cs typeface="Calibri"/>
              <a:sym typeface="Calibri"/>
            </a:endParaRPr>
          </a:p>
          <a:p>
            <a:pPr indent="-311150" lvl="0" marL="457200" rtl="0" algn="l">
              <a:lnSpc>
                <a:spcPct val="115000"/>
              </a:lnSpc>
              <a:spcBef>
                <a:spcPts val="0"/>
              </a:spcBef>
              <a:spcAft>
                <a:spcPts val="0"/>
              </a:spcAft>
              <a:buClr>
                <a:srgbClr val="1A1A1A"/>
              </a:buClr>
              <a:buSzPts val="1300"/>
              <a:buFont typeface="Calibri"/>
              <a:buChar char="•"/>
            </a:pPr>
            <a:r>
              <a:rPr lang="en-US" sz="1300">
                <a:solidFill>
                  <a:srgbClr val="1A1A1A"/>
                </a:solidFill>
                <a:latin typeface="Calibri"/>
                <a:ea typeface="Calibri"/>
                <a:cs typeface="Calibri"/>
                <a:sym typeface="Calibri"/>
              </a:rPr>
              <a:t>Fine-tuning also cuts generation </a:t>
            </a:r>
            <a:r>
              <a:rPr lang="en-US" sz="1300">
                <a:solidFill>
                  <a:srgbClr val="1A1A1A"/>
                </a:solidFill>
                <a:latin typeface="Calibri"/>
                <a:ea typeface="Calibri"/>
                <a:cs typeface="Calibri"/>
                <a:sym typeface="Calibri"/>
              </a:rPr>
              <a:t>latency</a:t>
            </a:r>
            <a:r>
              <a:rPr lang="en-US" sz="1300">
                <a:solidFill>
                  <a:srgbClr val="1A1A1A"/>
                </a:solidFill>
                <a:latin typeface="Calibri"/>
                <a:ea typeface="Calibri"/>
                <a:cs typeface="Calibri"/>
                <a:sym typeface="Calibri"/>
              </a:rPr>
              <a:t> from Base SLM 0.787s → Control 0.679s </a:t>
            </a:r>
            <a:endParaRPr sz="1300">
              <a:solidFill>
                <a:srgbClr val="1A1A1A"/>
              </a:solidFill>
              <a:latin typeface="Calibri"/>
              <a:ea typeface="Calibri"/>
              <a:cs typeface="Calibri"/>
              <a:sym typeface="Calibri"/>
            </a:endParaRPr>
          </a:p>
          <a:p>
            <a:pPr indent="-311150" lvl="0" marL="457200" rtl="0" algn="l">
              <a:lnSpc>
                <a:spcPct val="115000"/>
              </a:lnSpc>
              <a:spcBef>
                <a:spcPts val="0"/>
              </a:spcBef>
              <a:spcAft>
                <a:spcPts val="0"/>
              </a:spcAft>
              <a:buClr>
                <a:srgbClr val="1A1A1A"/>
              </a:buClr>
              <a:buSzPts val="1300"/>
              <a:buFont typeface="Calibri"/>
              <a:buChar char="•"/>
            </a:pPr>
            <a:r>
              <a:rPr lang="en-US" sz="1300">
                <a:solidFill>
                  <a:srgbClr val="1A1A1A"/>
                </a:solidFill>
                <a:latin typeface="Calibri"/>
                <a:ea typeface="Calibri"/>
                <a:cs typeface="Calibri"/>
                <a:sym typeface="Calibri"/>
              </a:rPr>
              <a:t>Co</a:t>
            </a:r>
            <a:r>
              <a:rPr lang="en-US" sz="1300">
                <a:solidFill>
                  <a:srgbClr val="1A1A1A"/>
                </a:solidFill>
                <a:latin typeface="Calibri"/>
                <a:ea typeface="Calibri"/>
                <a:cs typeface="Calibri"/>
                <a:sym typeface="Calibri"/>
              </a:rPr>
              <a:t>ntrol SFT and Runtime-Aware SFT p</a:t>
            </a:r>
            <a:r>
              <a:rPr lang="en-US" sz="1300">
                <a:solidFill>
                  <a:srgbClr val="1A1A1A"/>
                </a:solidFill>
                <a:latin typeface="Calibri"/>
                <a:ea typeface="Calibri"/>
                <a:cs typeface="Calibri"/>
                <a:sym typeface="Calibri"/>
              </a:rPr>
              <a:t>erform similarly, deeper analysis shows the training signal was too weak to push Runtime-Aware to perform better  than Control</a:t>
            </a:r>
            <a:endParaRPr b="0" i="0" sz="1300" u="none" cap="none" strike="noStrike">
              <a:solidFill>
                <a:schemeClr val="dk1"/>
              </a:solidFill>
              <a:latin typeface="Calibri"/>
              <a:ea typeface="Calibri"/>
              <a:cs typeface="Calibri"/>
              <a:sym typeface="Calibri"/>
            </a:endParaRPr>
          </a:p>
        </p:txBody>
      </p:sp>
      <p:sp>
        <p:nvSpPr>
          <p:cNvPr id="103" name="Google Shape;103;p7"/>
          <p:cNvSpPr/>
          <p:nvPr/>
        </p:nvSpPr>
        <p:spPr>
          <a:xfrm>
            <a:off x="457200" y="6537960"/>
            <a:ext cx="54864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F76"/>
              </a:buClr>
              <a:buSzPts val="1000"/>
              <a:buFont typeface="Calibri"/>
              <a:buNone/>
            </a:pPr>
            <a:r>
              <a:rPr b="0" i="1" lang="en-US" sz="1000" u="none" cap="none" strike="noStrike">
                <a:solidFill>
                  <a:srgbClr val="6B6F76"/>
                </a:solidFill>
                <a:latin typeface="Calibri"/>
                <a:ea typeface="Calibri"/>
                <a:cs typeface="Calibri"/>
                <a:sym typeface="Calibri"/>
              </a:rPr>
              <a:t>HPML · Spring 2026</a:t>
            </a:r>
            <a:endParaRPr b="0" i="0" sz="1000" u="none" cap="none" strike="noStrike">
              <a:solidFill>
                <a:schemeClr val="dk1"/>
              </a:solidFill>
              <a:latin typeface="Calibri"/>
              <a:ea typeface="Calibri"/>
              <a:cs typeface="Calibri"/>
              <a:sym typeface="Calibri"/>
            </a:endParaRPr>
          </a:p>
        </p:txBody>
      </p:sp>
      <p:sp>
        <p:nvSpPr>
          <p:cNvPr id="104" name="Google Shape;104;p7"/>
          <p:cNvSpPr/>
          <p:nvPr/>
        </p:nvSpPr>
        <p:spPr>
          <a:xfrm>
            <a:off x="6245352" y="6537960"/>
            <a:ext cx="54864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6F76"/>
              </a:buClr>
              <a:buSzPts val="1000"/>
              <a:buFont typeface="Calibri"/>
              <a:buNone/>
            </a:pPr>
            <a:r>
              <a:rPr b="0" i="0" lang="en-US" sz="1000" u="none" cap="none" strike="noStrike">
                <a:solidFill>
                  <a:srgbClr val="6B6F76"/>
                </a:solidFill>
                <a:latin typeface="Calibri"/>
                <a:ea typeface="Calibri"/>
                <a:cs typeface="Calibri"/>
                <a:sym typeface="Calibri"/>
              </a:rPr>
              <a:t>7 / 14</a:t>
            </a:r>
            <a:endParaRPr b="0" i="0" sz="1000" u="none" cap="none" strike="noStrike">
              <a:solidFill>
                <a:schemeClr val="dk1"/>
              </a:solidFill>
              <a:latin typeface="Calibri"/>
              <a:ea typeface="Calibri"/>
              <a:cs typeface="Calibri"/>
              <a:sym typeface="Calibri"/>
            </a:endParaRPr>
          </a:p>
        </p:txBody>
      </p:sp>
      <p:pic>
        <p:nvPicPr>
          <p:cNvPr id="105" name="Google Shape;105;p7" title="fig8_combined_ablation.png"/>
          <p:cNvPicPr preferRelativeResize="0"/>
          <p:nvPr/>
        </p:nvPicPr>
        <p:blipFill>
          <a:blip r:embed="rId3">
            <a:alphaModFix/>
          </a:blip>
          <a:stretch>
            <a:fillRect/>
          </a:stretch>
        </p:blipFill>
        <p:spPr>
          <a:xfrm>
            <a:off x="636175" y="1211588"/>
            <a:ext cx="10632440" cy="36917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0" name="Shape 110"/>
        <p:cNvGrpSpPr/>
        <p:nvPr/>
      </p:nvGrpSpPr>
      <p:grpSpPr>
        <a:xfrm>
          <a:off x="0" y="0"/>
          <a:ext cx="0" cy="0"/>
          <a:chOff x="0" y="0"/>
          <a:chExt cx="0" cy="0"/>
        </a:xfrm>
      </p:grpSpPr>
      <p:sp>
        <p:nvSpPr>
          <p:cNvPr id="111" name="Google Shape;111;p5"/>
          <p:cNvSpPr/>
          <p:nvPr/>
        </p:nvSpPr>
        <p:spPr>
          <a:xfrm>
            <a:off x="457200" y="502920"/>
            <a:ext cx="11274552"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3200"/>
              <a:buFont typeface="Calibri"/>
              <a:buNone/>
            </a:pPr>
            <a:r>
              <a:rPr b="1" i="0" lang="en-US" sz="3200" u="none" cap="none" strike="noStrike">
                <a:solidFill>
                  <a:srgbClr val="1A1A1A"/>
                </a:solidFill>
                <a:latin typeface="Calibri"/>
                <a:ea typeface="Calibri"/>
                <a:cs typeface="Calibri"/>
                <a:sym typeface="Calibri"/>
              </a:rPr>
              <a:t>Profiling Methodology</a:t>
            </a:r>
            <a:endParaRPr b="0" i="0" sz="3200" u="none" cap="none" strike="noStrike">
              <a:solidFill>
                <a:schemeClr val="dk1"/>
              </a:solidFill>
              <a:latin typeface="Calibri"/>
              <a:ea typeface="Calibri"/>
              <a:cs typeface="Calibri"/>
              <a:sym typeface="Calibri"/>
            </a:endParaRPr>
          </a:p>
        </p:txBody>
      </p:sp>
      <p:cxnSp>
        <p:nvCxnSpPr>
          <p:cNvPr id="112" name="Google Shape;112;p5"/>
          <p:cNvCxnSpPr/>
          <p:nvPr/>
        </p:nvCxnSpPr>
        <p:spPr>
          <a:xfrm>
            <a:off x="457200" y="1188720"/>
            <a:ext cx="11274552" cy="0"/>
          </a:xfrm>
          <a:prstGeom prst="straightConnector1">
            <a:avLst/>
          </a:prstGeom>
          <a:noFill/>
          <a:ln cap="flat" cmpd="sng" w="9525">
            <a:solidFill>
              <a:srgbClr val="D9D9D9"/>
            </a:solidFill>
            <a:prstDash val="solid"/>
            <a:round/>
            <a:headEnd len="sm" w="sm" type="none"/>
            <a:tailEnd len="sm" w="sm" type="none"/>
          </a:ln>
        </p:spPr>
      </p:cxnSp>
      <p:sp>
        <p:nvSpPr>
          <p:cNvPr id="113" name="Google Shape;113;p5"/>
          <p:cNvSpPr/>
          <p:nvPr/>
        </p:nvSpPr>
        <p:spPr>
          <a:xfrm>
            <a:off x="457200" y="1325880"/>
            <a:ext cx="10972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F76"/>
              </a:buClr>
              <a:buSzPts val="1000"/>
              <a:buFont typeface="Calibri"/>
              <a:buNone/>
            </a:pPr>
            <a:r>
              <a:rPr b="0" i="1" lang="en-US" sz="1000" u="none" cap="none" strike="noStrike">
                <a:solidFill>
                  <a:srgbClr val="6B6F76"/>
                </a:solidFill>
                <a:latin typeface="Calibri"/>
                <a:ea typeface="Calibri"/>
                <a:cs typeface="Calibri"/>
                <a:sym typeface="Calibri"/>
              </a:rPr>
              <a:t>Tools used, what you measured, how you ensured measurements are stable.</a:t>
            </a:r>
            <a:endParaRPr b="0" i="0" sz="1000" u="none" cap="none" strike="noStrike">
              <a:solidFill>
                <a:schemeClr val="dk1"/>
              </a:solidFill>
              <a:latin typeface="Calibri"/>
              <a:ea typeface="Calibri"/>
              <a:cs typeface="Calibri"/>
              <a:sym typeface="Calibri"/>
            </a:endParaRPr>
          </a:p>
        </p:txBody>
      </p:sp>
      <p:sp>
        <p:nvSpPr>
          <p:cNvPr id="114" name="Google Shape;114;p5"/>
          <p:cNvSpPr/>
          <p:nvPr/>
        </p:nvSpPr>
        <p:spPr>
          <a:xfrm>
            <a:off x="457200" y="1828800"/>
            <a:ext cx="5486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600"/>
              <a:buFont typeface="Calibri"/>
              <a:buNone/>
            </a:pPr>
            <a:r>
              <a:rPr b="1" i="0" lang="en-US" sz="1600" u="none" cap="none" strike="noStrike">
                <a:solidFill>
                  <a:srgbClr val="1A1A1A"/>
                </a:solidFill>
                <a:latin typeface="Calibri"/>
                <a:ea typeface="Calibri"/>
                <a:cs typeface="Calibri"/>
                <a:sym typeface="Calibri"/>
              </a:rPr>
              <a:t>Tools</a:t>
            </a:r>
            <a:endParaRPr b="0" i="0" sz="1600" u="none" cap="none" strike="noStrike">
              <a:solidFill>
                <a:schemeClr val="dk1"/>
              </a:solidFill>
              <a:latin typeface="Calibri"/>
              <a:ea typeface="Calibri"/>
              <a:cs typeface="Calibri"/>
              <a:sym typeface="Calibri"/>
            </a:endParaRPr>
          </a:p>
        </p:txBody>
      </p:sp>
      <p:sp>
        <p:nvSpPr>
          <p:cNvPr id="115" name="Google Shape;115;p5"/>
          <p:cNvSpPr/>
          <p:nvPr/>
        </p:nvSpPr>
        <p:spPr>
          <a:xfrm>
            <a:off x="457200" y="2286000"/>
            <a:ext cx="5486400" cy="3657600"/>
          </a:xfrm>
          <a:prstGeom prst="rect">
            <a:avLst/>
          </a:prstGeom>
          <a:noFill/>
          <a:ln>
            <a:noFill/>
          </a:ln>
        </p:spPr>
        <p:txBody>
          <a:bodyPr anchorCtr="0" anchor="t" bIns="45700" lIns="91425" spcFirstLastPara="1" rIns="91425" wrap="square" tIns="45700">
            <a:noAutofit/>
          </a:bodyPr>
          <a:lstStyle/>
          <a:p>
            <a:pPr indent="-374650" lvl="0" marL="342900" marR="0" rtl="0" algn="l">
              <a:spcBef>
                <a:spcPts val="0"/>
              </a:spcBef>
              <a:spcAft>
                <a:spcPts val="0"/>
              </a:spcAft>
              <a:buClr>
                <a:srgbClr val="1A1A1A"/>
              </a:buClr>
              <a:buSzPts val="2000"/>
              <a:buFont typeface="Calibri"/>
              <a:buChar char="•"/>
            </a:pPr>
            <a:r>
              <a:rPr b="0" i="0" lang="en-US" sz="2000" u="none" cap="none" strike="noStrike">
                <a:solidFill>
                  <a:srgbClr val="1A1A1A"/>
                </a:solidFill>
                <a:latin typeface="Calibri"/>
                <a:ea typeface="Calibri"/>
                <a:cs typeface="Calibri"/>
                <a:sym typeface="Calibri"/>
              </a:rPr>
              <a:t>PyTorch Profiler / torch.profiler</a:t>
            </a:r>
            <a:endParaRPr b="0" i="0" sz="2000" u="none" cap="none" strike="noStrike">
              <a:solidFill>
                <a:schemeClr val="dk1"/>
              </a:solidFill>
              <a:latin typeface="Calibri"/>
              <a:ea typeface="Calibri"/>
              <a:cs typeface="Calibri"/>
              <a:sym typeface="Calibri"/>
            </a:endParaRPr>
          </a:p>
          <a:p>
            <a:pPr indent="-374650" lvl="0" marL="342900" marR="0" rtl="0" algn="l">
              <a:spcBef>
                <a:spcPts val="800"/>
              </a:spcBef>
              <a:spcAft>
                <a:spcPts val="0"/>
              </a:spcAft>
              <a:buClr>
                <a:srgbClr val="1A1A1A"/>
              </a:buClr>
              <a:buSzPts val="2000"/>
              <a:buFont typeface="Calibri"/>
              <a:buChar char="•"/>
            </a:pPr>
            <a:r>
              <a:rPr lang="en-US" sz="2000">
                <a:solidFill>
                  <a:srgbClr val="1A1A1A"/>
                </a:solidFill>
                <a:latin typeface="Calibri"/>
                <a:ea typeface="Calibri"/>
                <a:cs typeface="Calibri"/>
                <a:sym typeface="Calibri"/>
              </a:rPr>
              <a:t>TensorBoard trace viewer</a:t>
            </a:r>
            <a:endParaRPr sz="2000">
              <a:solidFill>
                <a:srgbClr val="1A1A1A"/>
              </a:solidFill>
              <a:latin typeface="Calibri"/>
              <a:ea typeface="Calibri"/>
              <a:cs typeface="Calibri"/>
              <a:sym typeface="Calibri"/>
            </a:endParaRPr>
          </a:p>
          <a:p>
            <a:pPr indent="-374650" lvl="0" marL="342900" marR="0" rtl="0" algn="l">
              <a:spcBef>
                <a:spcPts val="800"/>
              </a:spcBef>
              <a:spcAft>
                <a:spcPts val="0"/>
              </a:spcAft>
              <a:buClr>
                <a:srgbClr val="1A1A1A"/>
              </a:buClr>
              <a:buSzPts val="2000"/>
              <a:buFont typeface="Calibri"/>
              <a:buChar char="•"/>
            </a:pPr>
            <a:r>
              <a:rPr lang="en-US" sz="2000">
                <a:solidFill>
                  <a:srgbClr val="1A1A1A"/>
                </a:solidFill>
                <a:latin typeface="Calibri"/>
                <a:ea typeface="Calibri"/>
                <a:cs typeface="Calibri"/>
                <a:sym typeface="Calibri"/>
              </a:rPr>
              <a:t>Custom operator profiler</a:t>
            </a:r>
            <a:endParaRPr sz="2000">
              <a:solidFill>
                <a:srgbClr val="1A1A1A"/>
              </a:solidFill>
              <a:latin typeface="Calibri"/>
              <a:ea typeface="Calibri"/>
              <a:cs typeface="Calibri"/>
              <a:sym typeface="Calibri"/>
            </a:endParaRPr>
          </a:p>
          <a:p>
            <a:pPr indent="-374650" lvl="0" marL="342900" marR="0" rtl="0" algn="l">
              <a:spcBef>
                <a:spcPts val="800"/>
              </a:spcBef>
              <a:spcAft>
                <a:spcPts val="0"/>
              </a:spcAft>
              <a:buClr>
                <a:srgbClr val="1A1A1A"/>
              </a:buClr>
              <a:buSzPts val="2000"/>
              <a:buFont typeface="Calibri"/>
              <a:buChar char="•"/>
            </a:pPr>
            <a:r>
              <a:rPr b="0" i="0" lang="en-US" sz="2000" u="none" cap="none" strike="noStrike">
                <a:solidFill>
                  <a:srgbClr val="1A1A1A"/>
                </a:solidFill>
                <a:latin typeface="Calibri"/>
                <a:ea typeface="Calibri"/>
                <a:cs typeface="Calibri"/>
                <a:sym typeface="Calibri"/>
              </a:rPr>
              <a:t>Weights &amp; Biases for </a:t>
            </a:r>
            <a:r>
              <a:rPr lang="en-US" sz="2000">
                <a:solidFill>
                  <a:srgbClr val="1A1A1A"/>
                </a:solidFill>
                <a:latin typeface="Calibri"/>
                <a:ea typeface="Calibri"/>
                <a:cs typeface="Calibri"/>
                <a:sym typeface="Calibri"/>
              </a:rPr>
              <a:t>logging profiler summaries</a:t>
            </a:r>
            <a:endParaRPr b="0" i="0" sz="2000" u="none" cap="none" strike="noStrike">
              <a:solidFill>
                <a:schemeClr val="dk1"/>
              </a:solidFill>
              <a:latin typeface="Calibri"/>
              <a:ea typeface="Calibri"/>
              <a:cs typeface="Calibri"/>
              <a:sym typeface="Calibri"/>
            </a:endParaRPr>
          </a:p>
        </p:txBody>
      </p:sp>
      <p:sp>
        <p:nvSpPr>
          <p:cNvPr id="116" name="Google Shape;116;p5"/>
          <p:cNvSpPr/>
          <p:nvPr/>
        </p:nvSpPr>
        <p:spPr>
          <a:xfrm>
            <a:off x="6263640" y="1828800"/>
            <a:ext cx="5486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600"/>
              <a:buFont typeface="Calibri"/>
              <a:buNone/>
            </a:pPr>
            <a:r>
              <a:rPr b="1" i="0" lang="en-US" sz="1600" u="none" cap="none" strike="noStrike">
                <a:solidFill>
                  <a:srgbClr val="1A1A1A"/>
                </a:solidFill>
                <a:latin typeface="Calibri"/>
                <a:ea typeface="Calibri"/>
                <a:cs typeface="Calibri"/>
                <a:sym typeface="Calibri"/>
              </a:rPr>
              <a:t>Metrics captured</a:t>
            </a:r>
            <a:endParaRPr b="0" i="0" sz="1600" u="none" cap="none" strike="noStrike">
              <a:solidFill>
                <a:schemeClr val="dk1"/>
              </a:solidFill>
              <a:latin typeface="Calibri"/>
              <a:ea typeface="Calibri"/>
              <a:cs typeface="Calibri"/>
              <a:sym typeface="Calibri"/>
            </a:endParaRPr>
          </a:p>
        </p:txBody>
      </p:sp>
      <p:sp>
        <p:nvSpPr>
          <p:cNvPr id="117" name="Google Shape;117;p5"/>
          <p:cNvSpPr/>
          <p:nvPr/>
        </p:nvSpPr>
        <p:spPr>
          <a:xfrm>
            <a:off x="6263640" y="2286000"/>
            <a:ext cx="5486400" cy="3657600"/>
          </a:xfrm>
          <a:prstGeom prst="rect">
            <a:avLst/>
          </a:prstGeom>
          <a:noFill/>
          <a:ln>
            <a:noFill/>
          </a:ln>
        </p:spPr>
        <p:txBody>
          <a:bodyPr anchorCtr="0" anchor="t" bIns="45700" lIns="91425" spcFirstLastPara="1" rIns="91425" wrap="square" tIns="45700">
            <a:noAutofit/>
          </a:bodyPr>
          <a:lstStyle/>
          <a:p>
            <a:pPr indent="-349250" lvl="0" marL="457200" marR="0" rtl="0" algn="l">
              <a:lnSpc>
                <a:spcPct val="150000"/>
              </a:lnSpc>
              <a:spcBef>
                <a:spcPts val="0"/>
              </a:spcBef>
              <a:spcAft>
                <a:spcPts val="0"/>
              </a:spcAft>
              <a:buClr>
                <a:srgbClr val="1A1A1A"/>
              </a:buClr>
              <a:buSzPts val="1900"/>
              <a:buFont typeface="Calibri"/>
              <a:buChar char="●"/>
            </a:pPr>
            <a:r>
              <a:rPr lang="en-US" sz="1900">
                <a:solidFill>
                  <a:srgbClr val="1A1A1A"/>
                </a:solidFill>
                <a:latin typeface="Calibri"/>
                <a:ea typeface="Calibri"/>
                <a:cs typeface="Calibri"/>
                <a:sym typeface="Calibri"/>
              </a:rPr>
              <a:t>Peak CUDA memory</a:t>
            </a:r>
            <a:endParaRPr sz="1900">
              <a:solidFill>
                <a:srgbClr val="1A1A1A"/>
              </a:solidFill>
              <a:latin typeface="Calibri"/>
              <a:ea typeface="Calibri"/>
              <a:cs typeface="Calibri"/>
              <a:sym typeface="Calibri"/>
            </a:endParaRPr>
          </a:p>
          <a:p>
            <a:pPr indent="-349250" lvl="0" marL="457200" marR="0" rtl="0" algn="l">
              <a:lnSpc>
                <a:spcPct val="150000"/>
              </a:lnSpc>
              <a:spcBef>
                <a:spcPts val="0"/>
              </a:spcBef>
              <a:spcAft>
                <a:spcPts val="0"/>
              </a:spcAft>
              <a:buClr>
                <a:srgbClr val="1A1A1A"/>
              </a:buClr>
              <a:buSzPts val="1900"/>
              <a:buFont typeface="Calibri"/>
              <a:buChar char="●"/>
            </a:pPr>
            <a:r>
              <a:rPr lang="en-US" sz="1900">
                <a:solidFill>
                  <a:srgbClr val="1A1A1A"/>
                </a:solidFill>
                <a:latin typeface="Calibri"/>
                <a:ea typeface="Calibri"/>
                <a:cs typeface="Calibri"/>
                <a:sym typeface="Calibri"/>
              </a:rPr>
              <a:t>Average input/output length</a:t>
            </a:r>
            <a:endParaRPr sz="1900">
              <a:solidFill>
                <a:srgbClr val="1A1A1A"/>
              </a:solidFill>
              <a:latin typeface="Calibri"/>
              <a:ea typeface="Calibri"/>
              <a:cs typeface="Calibri"/>
              <a:sym typeface="Calibri"/>
            </a:endParaRPr>
          </a:p>
          <a:p>
            <a:pPr indent="-349250" lvl="0" marL="457200" marR="0" rtl="0" algn="l">
              <a:lnSpc>
                <a:spcPct val="150000"/>
              </a:lnSpc>
              <a:spcBef>
                <a:spcPts val="0"/>
              </a:spcBef>
              <a:spcAft>
                <a:spcPts val="0"/>
              </a:spcAft>
              <a:buClr>
                <a:srgbClr val="1A1A1A"/>
              </a:buClr>
              <a:buSzPts val="1900"/>
              <a:buFont typeface="Calibri"/>
              <a:buChar char="●"/>
            </a:pPr>
            <a:r>
              <a:rPr lang="en-US" sz="1900">
                <a:solidFill>
                  <a:srgbClr val="1A1A1A"/>
                </a:solidFill>
                <a:latin typeface="Calibri"/>
                <a:ea typeface="Calibri"/>
                <a:cs typeface="Calibri"/>
                <a:sym typeface="Calibri"/>
              </a:rPr>
              <a:t>Average generation latency</a:t>
            </a:r>
            <a:endParaRPr sz="1900">
              <a:solidFill>
                <a:srgbClr val="1A1A1A"/>
              </a:solidFill>
              <a:latin typeface="Calibri"/>
              <a:ea typeface="Calibri"/>
              <a:cs typeface="Calibri"/>
              <a:sym typeface="Calibri"/>
            </a:endParaRPr>
          </a:p>
          <a:p>
            <a:pPr indent="-349250" lvl="0" marL="457200" marR="0" rtl="0" algn="l">
              <a:lnSpc>
                <a:spcPct val="150000"/>
              </a:lnSpc>
              <a:spcBef>
                <a:spcPts val="0"/>
              </a:spcBef>
              <a:spcAft>
                <a:spcPts val="0"/>
              </a:spcAft>
              <a:buClr>
                <a:srgbClr val="1A1A1A"/>
              </a:buClr>
              <a:buSzPts val="1900"/>
              <a:buFont typeface="Calibri"/>
              <a:buChar char="●"/>
            </a:pPr>
            <a:r>
              <a:rPr lang="en-US" sz="1900">
                <a:solidFill>
                  <a:srgbClr val="1A1A1A"/>
                </a:solidFill>
                <a:latin typeface="Calibri"/>
                <a:ea typeface="Calibri"/>
                <a:cs typeface="Calibri"/>
                <a:sym typeface="Calibri"/>
              </a:rPr>
              <a:t>Operator/kernel breakdown </a:t>
            </a:r>
            <a:endParaRPr sz="1900">
              <a:solidFill>
                <a:srgbClr val="1A1A1A"/>
              </a:solidFill>
              <a:latin typeface="Calibri"/>
              <a:ea typeface="Calibri"/>
              <a:cs typeface="Calibri"/>
              <a:sym typeface="Calibri"/>
            </a:endParaRPr>
          </a:p>
          <a:p>
            <a:pPr indent="-349250" lvl="0" marL="457200" marR="0" rtl="0" algn="l">
              <a:lnSpc>
                <a:spcPct val="150000"/>
              </a:lnSpc>
              <a:spcBef>
                <a:spcPts val="0"/>
              </a:spcBef>
              <a:spcAft>
                <a:spcPts val="0"/>
              </a:spcAft>
              <a:buClr>
                <a:srgbClr val="1A1A1A"/>
              </a:buClr>
              <a:buSzPts val="1900"/>
              <a:buFont typeface="Calibri"/>
              <a:buChar char="●"/>
            </a:pPr>
            <a:r>
              <a:rPr lang="en-US" sz="1900">
                <a:solidFill>
                  <a:srgbClr val="1A1A1A"/>
                </a:solidFill>
                <a:latin typeface="Calibri"/>
                <a:ea typeface="Calibri"/>
                <a:cs typeface="Calibri"/>
                <a:sym typeface="Calibri"/>
              </a:rPr>
              <a:t>GPU utilization, SM occupancy, TensorCore Utilization</a:t>
            </a:r>
            <a:endParaRPr sz="1900">
              <a:solidFill>
                <a:srgbClr val="1A1A1A"/>
              </a:solidFill>
              <a:latin typeface="Calibri"/>
              <a:ea typeface="Calibri"/>
              <a:cs typeface="Calibri"/>
              <a:sym typeface="Calibri"/>
            </a:endParaRPr>
          </a:p>
          <a:p>
            <a:pPr indent="-349250" lvl="0" marL="457200" marR="0" rtl="0" algn="l">
              <a:lnSpc>
                <a:spcPct val="150000"/>
              </a:lnSpc>
              <a:spcBef>
                <a:spcPts val="0"/>
              </a:spcBef>
              <a:spcAft>
                <a:spcPts val="0"/>
              </a:spcAft>
              <a:buClr>
                <a:srgbClr val="1A1A1A"/>
              </a:buClr>
              <a:buSzPts val="1900"/>
              <a:buFont typeface="Calibri"/>
              <a:buChar char="●"/>
            </a:pPr>
            <a:r>
              <a:rPr lang="en-US" sz="1900">
                <a:solidFill>
                  <a:srgbClr val="1A1A1A"/>
                </a:solidFill>
                <a:latin typeface="Calibri"/>
                <a:ea typeface="Calibri"/>
                <a:cs typeface="Calibri"/>
                <a:sym typeface="Calibri"/>
              </a:rPr>
              <a:t>Attention and GEMM time share </a:t>
            </a:r>
            <a:endParaRPr b="0" i="0" sz="1900" u="none" cap="none" strike="noStrike">
              <a:solidFill>
                <a:schemeClr val="dk1"/>
              </a:solidFill>
              <a:latin typeface="Calibri"/>
              <a:ea typeface="Calibri"/>
              <a:cs typeface="Calibri"/>
              <a:sym typeface="Calibri"/>
            </a:endParaRPr>
          </a:p>
        </p:txBody>
      </p:sp>
      <p:sp>
        <p:nvSpPr>
          <p:cNvPr id="118" name="Google Shape;118;p5"/>
          <p:cNvSpPr/>
          <p:nvPr/>
        </p:nvSpPr>
        <p:spPr>
          <a:xfrm>
            <a:off x="457200" y="653796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F76"/>
              </a:buClr>
              <a:buSzPts val="1000"/>
              <a:buFont typeface="Calibri"/>
              <a:buNone/>
            </a:pPr>
            <a:r>
              <a:rPr b="0" i="1" lang="en-US" sz="1000" u="none" cap="none" strike="noStrike">
                <a:solidFill>
                  <a:srgbClr val="6B6F76"/>
                </a:solidFill>
                <a:latin typeface="Calibri"/>
                <a:ea typeface="Calibri"/>
                <a:cs typeface="Calibri"/>
                <a:sym typeface="Calibri"/>
              </a:rPr>
              <a:t>HPML · Spring 2026</a:t>
            </a:r>
            <a:endParaRPr b="0" i="0" sz="1000" u="none" cap="none" strike="noStrike">
              <a:solidFill>
                <a:schemeClr val="dk1"/>
              </a:solidFill>
              <a:latin typeface="Calibri"/>
              <a:ea typeface="Calibri"/>
              <a:cs typeface="Calibri"/>
              <a:sym typeface="Calibri"/>
            </a:endParaRPr>
          </a:p>
        </p:txBody>
      </p:sp>
      <p:sp>
        <p:nvSpPr>
          <p:cNvPr id="119" name="Google Shape;119;p5"/>
          <p:cNvSpPr/>
          <p:nvPr/>
        </p:nvSpPr>
        <p:spPr>
          <a:xfrm>
            <a:off x="6245352" y="6537960"/>
            <a:ext cx="54864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6F76"/>
              </a:buClr>
              <a:buSzPts val="1000"/>
              <a:buFont typeface="Calibri"/>
              <a:buNone/>
            </a:pPr>
            <a:r>
              <a:rPr b="0" i="0" lang="en-US" sz="1000" u="none" cap="none" strike="noStrike">
                <a:solidFill>
                  <a:srgbClr val="6B6F76"/>
                </a:solidFill>
                <a:latin typeface="Calibri"/>
                <a:ea typeface="Calibri"/>
                <a:cs typeface="Calibri"/>
                <a:sym typeface="Calibri"/>
              </a:rPr>
              <a:t>5 / 14</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4" name="Shape 124"/>
        <p:cNvGrpSpPr/>
        <p:nvPr/>
      </p:nvGrpSpPr>
      <p:grpSpPr>
        <a:xfrm>
          <a:off x="0" y="0"/>
          <a:ext cx="0" cy="0"/>
          <a:chOff x="0" y="0"/>
          <a:chExt cx="0" cy="0"/>
        </a:xfrm>
      </p:grpSpPr>
      <p:sp>
        <p:nvSpPr>
          <p:cNvPr id="125" name="Google Shape;125;p8"/>
          <p:cNvSpPr/>
          <p:nvPr/>
        </p:nvSpPr>
        <p:spPr>
          <a:xfrm>
            <a:off x="457200" y="502920"/>
            <a:ext cx="11274552"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3200"/>
              <a:buFont typeface="Calibri"/>
              <a:buNone/>
            </a:pPr>
            <a:r>
              <a:rPr b="1" i="0" lang="en-US" sz="3200" u="none" cap="none" strike="noStrike">
                <a:solidFill>
                  <a:srgbClr val="1A1A1A"/>
                </a:solidFill>
                <a:latin typeface="Calibri"/>
                <a:ea typeface="Calibri"/>
                <a:cs typeface="Calibri"/>
                <a:sym typeface="Calibri"/>
              </a:rPr>
              <a:t>Profiler Evidence</a:t>
            </a:r>
            <a:endParaRPr b="0" i="0" sz="3200" u="none" cap="none" strike="noStrike">
              <a:solidFill>
                <a:schemeClr val="dk1"/>
              </a:solidFill>
              <a:latin typeface="Calibri"/>
              <a:ea typeface="Calibri"/>
              <a:cs typeface="Calibri"/>
              <a:sym typeface="Calibri"/>
            </a:endParaRPr>
          </a:p>
        </p:txBody>
      </p:sp>
      <p:cxnSp>
        <p:nvCxnSpPr>
          <p:cNvPr id="126" name="Google Shape;126;p8"/>
          <p:cNvCxnSpPr/>
          <p:nvPr/>
        </p:nvCxnSpPr>
        <p:spPr>
          <a:xfrm>
            <a:off x="457200" y="1188720"/>
            <a:ext cx="11274552" cy="0"/>
          </a:xfrm>
          <a:prstGeom prst="straightConnector1">
            <a:avLst/>
          </a:prstGeom>
          <a:noFill/>
          <a:ln cap="flat" cmpd="sng" w="9525">
            <a:solidFill>
              <a:srgbClr val="D9D9D9"/>
            </a:solidFill>
            <a:prstDash val="solid"/>
            <a:round/>
            <a:headEnd len="sm" w="sm" type="none"/>
            <a:tailEnd len="sm" w="sm" type="none"/>
          </a:ln>
        </p:spPr>
      </p:cxnSp>
      <p:sp>
        <p:nvSpPr>
          <p:cNvPr id="127" name="Google Shape;127;p8"/>
          <p:cNvSpPr/>
          <p:nvPr/>
        </p:nvSpPr>
        <p:spPr>
          <a:xfrm>
            <a:off x="457200" y="1325880"/>
            <a:ext cx="10972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F76"/>
              </a:buClr>
              <a:buSzPts val="1000"/>
              <a:buFont typeface="Calibri"/>
              <a:buNone/>
            </a:pPr>
            <a:r>
              <a:rPr b="0" i="1" lang="en-US" sz="1000" u="none" cap="none" strike="noStrike">
                <a:solidFill>
                  <a:srgbClr val="6B6F76"/>
                </a:solidFill>
                <a:latin typeface="Calibri"/>
                <a:ea typeface="Calibri"/>
                <a:cs typeface="Calibri"/>
                <a:sym typeface="Calibri"/>
              </a:rPr>
              <a:t>Insert profiler trace screenshot, GPU timeline, or operator-level breakdown image.</a:t>
            </a:r>
            <a:endParaRPr b="0" i="0" sz="1000" u="none" cap="none" strike="noStrike">
              <a:solidFill>
                <a:schemeClr val="dk1"/>
              </a:solidFill>
              <a:latin typeface="Calibri"/>
              <a:ea typeface="Calibri"/>
              <a:cs typeface="Calibri"/>
              <a:sym typeface="Calibri"/>
            </a:endParaRPr>
          </a:p>
        </p:txBody>
      </p:sp>
      <p:sp>
        <p:nvSpPr>
          <p:cNvPr id="128" name="Google Shape;128;p8"/>
          <p:cNvSpPr/>
          <p:nvPr/>
        </p:nvSpPr>
        <p:spPr>
          <a:xfrm>
            <a:off x="457200" y="1828800"/>
            <a:ext cx="7772400" cy="4114800"/>
          </a:xfrm>
          <a:prstGeom prst="rect">
            <a:avLst/>
          </a:prstGeom>
          <a:solidFill>
            <a:srgbClr val="FFFFFF"/>
          </a:solidFill>
          <a:ln cap="flat" cmpd="sng" w="9525">
            <a:solidFill>
              <a:srgbClr val="D9D9D9"/>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8"/>
          <p:cNvSpPr/>
          <p:nvPr/>
        </p:nvSpPr>
        <p:spPr>
          <a:xfrm>
            <a:off x="457200" y="1828800"/>
            <a:ext cx="7772400" cy="4114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B6F76"/>
              </a:buClr>
              <a:buSzPts val="1400"/>
              <a:buFont typeface="Calibri"/>
              <a:buNone/>
            </a:pPr>
            <a:r>
              <a:rPr b="0" i="1" lang="en-US" sz="1400" u="none" cap="none" strike="noStrike">
                <a:solidFill>
                  <a:srgbClr val="6B6F76"/>
                </a:solidFill>
                <a:latin typeface="Calibri"/>
                <a:ea typeface="Calibri"/>
                <a:cs typeface="Calibri"/>
                <a:sym typeface="Calibri"/>
              </a:rPr>
              <a:t>[ Insert profiler trace, Nsight timeline, or torch.profiler chrome trace screenshot here ]</a:t>
            </a:r>
            <a:endParaRPr b="0" i="0" sz="1400" u="none" cap="none" strike="noStrike">
              <a:solidFill>
                <a:schemeClr val="dk1"/>
              </a:solidFill>
              <a:latin typeface="Calibri"/>
              <a:ea typeface="Calibri"/>
              <a:cs typeface="Calibri"/>
              <a:sym typeface="Calibri"/>
            </a:endParaRPr>
          </a:p>
        </p:txBody>
      </p:sp>
      <p:sp>
        <p:nvSpPr>
          <p:cNvPr id="130" name="Google Shape;130;p8"/>
          <p:cNvSpPr/>
          <p:nvPr/>
        </p:nvSpPr>
        <p:spPr>
          <a:xfrm>
            <a:off x="8458200" y="1828800"/>
            <a:ext cx="32918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600"/>
              <a:buFont typeface="Calibri"/>
              <a:buNone/>
            </a:pPr>
            <a:r>
              <a:rPr b="1" i="0" lang="en-US" sz="1600" u="none" cap="none" strike="noStrike">
                <a:solidFill>
                  <a:srgbClr val="1A1A1A"/>
                </a:solidFill>
                <a:latin typeface="Calibri"/>
                <a:ea typeface="Calibri"/>
                <a:cs typeface="Calibri"/>
                <a:sym typeface="Calibri"/>
              </a:rPr>
              <a:t>What to point at</a:t>
            </a:r>
            <a:endParaRPr b="0" i="0" sz="1600" u="none" cap="none" strike="noStrike">
              <a:solidFill>
                <a:schemeClr val="dk1"/>
              </a:solidFill>
              <a:latin typeface="Calibri"/>
              <a:ea typeface="Calibri"/>
              <a:cs typeface="Calibri"/>
              <a:sym typeface="Calibri"/>
            </a:endParaRPr>
          </a:p>
        </p:txBody>
      </p:sp>
      <p:sp>
        <p:nvSpPr>
          <p:cNvPr id="131" name="Google Shape;131;p8"/>
          <p:cNvSpPr/>
          <p:nvPr/>
        </p:nvSpPr>
        <p:spPr>
          <a:xfrm>
            <a:off x="8458200" y="2286000"/>
            <a:ext cx="3291840" cy="3657600"/>
          </a:xfrm>
          <a:prstGeom prst="rect">
            <a:avLst/>
          </a:prstGeom>
          <a:noFill/>
          <a:ln>
            <a:noFill/>
          </a:ln>
        </p:spPr>
        <p:txBody>
          <a:bodyPr anchorCtr="0" anchor="t" bIns="45700" lIns="91425" spcFirstLastPara="1" rIns="91425" wrap="square" tIns="45700">
            <a:noAutofit/>
          </a:bodyPr>
          <a:lstStyle/>
          <a:p>
            <a:pPr indent="-361950" lvl="0" marL="342900" marR="0" rtl="0" algn="l">
              <a:spcBef>
                <a:spcPts val="800"/>
              </a:spcBef>
              <a:spcAft>
                <a:spcPts val="0"/>
              </a:spcAft>
              <a:buClr>
                <a:srgbClr val="1A1A1A"/>
              </a:buClr>
              <a:buSzPts val="1600"/>
              <a:buFont typeface="Calibri"/>
              <a:buChar char="•"/>
            </a:pPr>
            <a:r>
              <a:rPr lang="en-US" sz="1600">
                <a:solidFill>
                  <a:srgbClr val="1A1A1A"/>
                </a:solidFill>
                <a:latin typeface="Calibri"/>
                <a:ea typeface="Calibri"/>
                <a:cs typeface="Calibri"/>
                <a:sym typeface="Calibri"/>
              </a:rPr>
              <a:t>GPU utilization  ~74%; Tensor Core use only ~19%</a:t>
            </a:r>
            <a:endParaRPr sz="1600">
              <a:solidFill>
                <a:srgbClr val="1A1A1A"/>
              </a:solidFill>
              <a:latin typeface="Calibri"/>
              <a:ea typeface="Calibri"/>
              <a:cs typeface="Calibri"/>
              <a:sym typeface="Calibri"/>
            </a:endParaRPr>
          </a:p>
          <a:p>
            <a:pPr indent="-361950" lvl="0" marL="342900" marR="0" rtl="0" algn="l">
              <a:spcBef>
                <a:spcPts val="800"/>
              </a:spcBef>
              <a:spcAft>
                <a:spcPts val="0"/>
              </a:spcAft>
              <a:buClr>
                <a:srgbClr val="1A1A1A"/>
              </a:buClr>
              <a:buSzPts val="1600"/>
              <a:buFont typeface="Calibri"/>
              <a:buChar char="•"/>
            </a:pPr>
            <a:r>
              <a:rPr lang="en-US" sz="1600">
                <a:solidFill>
                  <a:srgbClr val="1A1A1A"/>
                </a:solidFill>
                <a:latin typeface="Calibri"/>
                <a:ea typeface="Calibri"/>
                <a:cs typeface="Calibri"/>
                <a:sym typeface="Calibri"/>
              </a:rPr>
              <a:t>Kernel execution is ~75% of step time; CPU exec is ~18%</a:t>
            </a:r>
            <a:endParaRPr sz="1600">
              <a:solidFill>
                <a:srgbClr val="1A1A1A"/>
              </a:solidFill>
              <a:latin typeface="Calibri"/>
              <a:ea typeface="Calibri"/>
              <a:cs typeface="Calibri"/>
              <a:sym typeface="Calibri"/>
            </a:endParaRPr>
          </a:p>
          <a:p>
            <a:pPr indent="-361950" lvl="0" marL="342900" marR="0" rtl="0" algn="l">
              <a:spcBef>
                <a:spcPts val="800"/>
              </a:spcBef>
              <a:spcAft>
                <a:spcPts val="0"/>
              </a:spcAft>
              <a:buClr>
                <a:srgbClr val="1A1A1A"/>
              </a:buClr>
              <a:buSzPts val="1600"/>
              <a:buFont typeface="Calibri"/>
              <a:buChar char="•"/>
            </a:pPr>
            <a:r>
              <a:rPr lang="en-US" sz="1600">
                <a:solidFill>
                  <a:srgbClr val="1A1A1A"/>
                </a:solidFill>
                <a:latin typeface="Calibri"/>
                <a:ea typeface="Calibri"/>
                <a:cs typeface="Calibri"/>
                <a:sym typeface="Calibri"/>
              </a:rPr>
              <a:t>Top compute ops are GEMM/linear + attention </a:t>
            </a:r>
            <a:endParaRPr sz="1600">
              <a:solidFill>
                <a:srgbClr val="1A1A1A"/>
              </a:solidFill>
              <a:latin typeface="Calibri"/>
              <a:ea typeface="Calibri"/>
              <a:cs typeface="Calibri"/>
              <a:sym typeface="Calibri"/>
            </a:endParaRPr>
          </a:p>
          <a:p>
            <a:pPr indent="-361950" lvl="0" marL="342900" marR="0" rtl="0" algn="l">
              <a:spcBef>
                <a:spcPts val="800"/>
              </a:spcBef>
              <a:spcAft>
                <a:spcPts val="0"/>
              </a:spcAft>
              <a:buClr>
                <a:srgbClr val="1A1A1A"/>
              </a:buClr>
              <a:buSzPts val="1600"/>
              <a:buFont typeface="Calibri"/>
              <a:buChar char="•"/>
            </a:pPr>
            <a:r>
              <a:rPr lang="en-US" sz="1600">
                <a:solidFill>
                  <a:srgbClr val="1A1A1A"/>
                </a:solidFill>
                <a:latin typeface="Calibri"/>
                <a:ea typeface="Calibri"/>
                <a:cs typeface="Calibri"/>
                <a:sym typeface="Calibri"/>
              </a:rPr>
              <a:t>cudaLaunchKernel overhead suggests many decode kernels </a:t>
            </a:r>
            <a:endParaRPr sz="1600">
              <a:solidFill>
                <a:srgbClr val="1A1A1A"/>
              </a:solidFill>
              <a:latin typeface="Calibri"/>
              <a:ea typeface="Calibri"/>
              <a:cs typeface="Calibri"/>
              <a:sym typeface="Calibri"/>
            </a:endParaRPr>
          </a:p>
          <a:p>
            <a:pPr indent="-361950" lvl="0" marL="342900" marR="0" rtl="0" algn="l">
              <a:spcBef>
                <a:spcPts val="800"/>
              </a:spcBef>
              <a:spcAft>
                <a:spcPts val="0"/>
              </a:spcAft>
              <a:buClr>
                <a:srgbClr val="1A1A1A"/>
              </a:buClr>
              <a:buSzPts val="1600"/>
              <a:buFont typeface="Calibri"/>
              <a:buChar char="•"/>
            </a:pPr>
            <a:r>
              <a:rPr lang="en-US" sz="1600">
                <a:solidFill>
                  <a:srgbClr val="1A1A1A"/>
                </a:solidFill>
                <a:latin typeface="Calibri"/>
                <a:ea typeface="Calibri"/>
                <a:cs typeface="Calibri"/>
                <a:sym typeface="Calibri"/>
              </a:rPr>
              <a:t>Similar profiles across all variants: SFT changes outputs, not kernel mix</a:t>
            </a:r>
            <a:endParaRPr sz="1600">
              <a:solidFill>
                <a:srgbClr val="1A1A1A"/>
              </a:solidFill>
              <a:latin typeface="Calibri"/>
              <a:ea typeface="Calibri"/>
              <a:cs typeface="Calibri"/>
              <a:sym typeface="Calibri"/>
            </a:endParaRPr>
          </a:p>
        </p:txBody>
      </p:sp>
      <p:sp>
        <p:nvSpPr>
          <p:cNvPr id="132" name="Google Shape;132;p8"/>
          <p:cNvSpPr/>
          <p:nvPr/>
        </p:nvSpPr>
        <p:spPr>
          <a:xfrm>
            <a:off x="457200" y="653796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F76"/>
              </a:buClr>
              <a:buSzPts val="1000"/>
              <a:buFont typeface="Calibri"/>
              <a:buNone/>
            </a:pPr>
            <a:r>
              <a:rPr b="0" i="1" lang="en-US" sz="1000" u="none" cap="none" strike="noStrike">
                <a:solidFill>
                  <a:srgbClr val="6B6F76"/>
                </a:solidFill>
                <a:latin typeface="Calibri"/>
                <a:ea typeface="Calibri"/>
                <a:cs typeface="Calibri"/>
                <a:sym typeface="Calibri"/>
              </a:rPr>
              <a:t>HPML · Spring 2026</a:t>
            </a:r>
            <a:endParaRPr b="0" i="0" sz="1000" u="none" cap="none" strike="noStrike">
              <a:solidFill>
                <a:schemeClr val="dk1"/>
              </a:solidFill>
              <a:latin typeface="Calibri"/>
              <a:ea typeface="Calibri"/>
              <a:cs typeface="Calibri"/>
              <a:sym typeface="Calibri"/>
            </a:endParaRPr>
          </a:p>
        </p:txBody>
      </p:sp>
      <p:sp>
        <p:nvSpPr>
          <p:cNvPr id="133" name="Google Shape;133;p8"/>
          <p:cNvSpPr/>
          <p:nvPr/>
        </p:nvSpPr>
        <p:spPr>
          <a:xfrm>
            <a:off x="6245352" y="6537960"/>
            <a:ext cx="54864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6F76"/>
              </a:buClr>
              <a:buSzPts val="1000"/>
              <a:buFont typeface="Calibri"/>
              <a:buNone/>
            </a:pPr>
            <a:r>
              <a:rPr b="0" i="0" lang="en-US" sz="1000" u="none" cap="none" strike="noStrike">
                <a:solidFill>
                  <a:srgbClr val="6B6F76"/>
                </a:solidFill>
                <a:latin typeface="Calibri"/>
                <a:ea typeface="Calibri"/>
                <a:cs typeface="Calibri"/>
                <a:sym typeface="Calibri"/>
              </a:rPr>
              <a:t>8 / 14</a:t>
            </a:r>
            <a:endParaRPr b="0" i="0" sz="1000" u="none" cap="none" strike="noStrike">
              <a:solidFill>
                <a:schemeClr val="dk1"/>
              </a:solidFill>
              <a:latin typeface="Calibri"/>
              <a:ea typeface="Calibri"/>
              <a:cs typeface="Calibri"/>
              <a:sym typeface="Calibri"/>
            </a:endParaRPr>
          </a:p>
        </p:txBody>
      </p:sp>
      <p:pic>
        <p:nvPicPr>
          <p:cNvPr id="134" name="Google Shape;134;p8"/>
          <p:cNvPicPr preferRelativeResize="0"/>
          <p:nvPr/>
        </p:nvPicPr>
        <p:blipFill>
          <a:blip r:embed="rId3">
            <a:alphaModFix/>
          </a:blip>
          <a:stretch>
            <a:fillRect/>
          </a:stretch>
        </p:blipFill>
        <p:spPr>
          <a:xfrm>
            <a:off x="457200" y="3963900"/>
            <a:ext cx="6195551" cy="2646276"/>
          </a:xfrm>
          <a:prstGeom prst="rect">
            <a:avLst/>
          </a:prstGeom>
          <a:noFill/>
          <a:ln>
            <a:noFill/>
          </a:ln>
        </p:spPr>
      </p:pic>
      <p:pic>
        <p:nvPicPr>
          <p:cNvPr id="135" name="Google Shape;135;p8"/>
          <p:cNvPicPr preferRelativeResize="0"/>
          <p:nvPr/>
        </p:nvPicPr>
        <p:blipFill>
          <a:blip r:embed="rId4">
            <a:alphaModFix/>
          </a:blip>
          <a:stretch>
            <a:fillRect/>
          </a:stretch>
        </p:blipFill>
        <p:spPr>
          <a:xfrm>
            <a:off x="153475" y="1600225"/>
            <a:ext cx="5316418" cy="2363675"/>
          </a:xfrm>
          <a:prstGeom prst="rect">
            <a:avLst/>
          </a:prstGeom>
          <a:noFill/>
          <a:ln>
            <a:noFill/>
          </a:ln>
        </p:spPr>
      </p:pic>
      <p:pic>
        <p:nvPicPr>
          <p:cNvPr id="136" name="Google Shape;136;p8"/>
          <p:cNvPicPr preferRelativeResize="0"/>
          <p:nvPr/>
        </p:nvPicPr>
        <p:blipFill>
          <a:blip r:embed="rId5">
            <a:alphaModFix/>
          </a:blip>
          <a:stretch>
            <a:fillRect/>
          </a:stretch>
        </p:blipFill>
        <p:spPr>
          <a:xfrm>
            <a:off x="5469900" y="1828800"/>
            <a:ext cx="2560759" cy="213512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1" name="Shape 141"/>
        <p:cNvGrpSpPr/>
        <p:nvPr/>
      </p:nvGrpSpPr>
      <p:grpSpPr>
        <a:xfrm>
          <a:off x="0" y="0"/>
          <a:ext cx="0" cy="0"/>
          <a:chOff x="0" y="0"/>
          <a:chExt cx="0" cy="0"/>
        </a:xfrm>
      </p:grpSpPr>
      <p:sp>
        <p:nvSpPr>
          <p:cNvPr id="142" name="Google Shape;142;p9"/>
          <p:cNvSpPr/>
          <p:nvPr/>
        </p:nvSpPr>
        <p:spPr>
          <a:xfrm>
            <a:off x="457200" y="502920"/>
            <a:ext cx="11274552"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3200"/>
              <a:buFont typeface="Calibri"/>
              <a:buNone/>
            </a:pPr>
            <a:r>
              <a:rPr b="1" i="0" lang="en-US" sz="3200" u="none" cap="none" strike="noStrike">
                <a:solidFill>
                  <a:srgbClr val="1A1A1A"/>
                </a:solidFill>
                <a:latin typeface="Calibri"/>
                <a:ea typeface="Calibri"/>
                <a:cs typeface="Calibri"/>
                <a:sym typeface="Calibri"/>
              </a:rPr>
              <a:t>Demo / Visualization</a:t>
            </a:r>
            <a:endParaRPr b="0" i="0" sz="3200" u="none" cap="none" strike="noStrike">
              <a:solidFill>
                <a:schemeClr val="dk1"/>
              </a:solidFill>
              <a:latin typeface="Calibri"/>
              <a:ea typeface="Calibri"/>
              <a:cs typeface="Calibri"/>
              <a:sym typeface="Calibri"/>
            </a:endParaRPr>
          </a:p>
        </p:txBody>
      </p:sp>
      <p:cxnSp>
        <p:nvCxnSpPr>
          <p:cNvPr id="143" name="Google Shape;143;p9"/>
          <p:cNvCxnSpPr/>
          <p:nvPr/>
        </p:nvCxnSpPr>
        <p:spPr>
          <a:xfrm>
            <a:off x="457200" y="1188720"/>
            <a:ext cx="11274552" cy="0"/>
          </a:xfrm>
          <a:prstGeom prst="straightConnector1">
            <a:avLst/>
          </a:prstGeom>
          <a:noFill/>
          <a:ln cap="flat" cmpd="sng" w="9525">
            <a:solidFill>
              <a:srgbClr val="D9D9D9"/>
            </a:solidFill>
            <a:prstDash val="solid"/>
            <a:round/>
            <a:headEnd len="sm" w="sm" type="none"/>
            <a:tailEnd len="sm" w="sm" type="none"/>
          </a:ln>
        </p:spPr>
      </p:cxnSp>
      <p:sp>
        <p:nvSpPr>
          <p:cNvPr id="144" name="Google Shape;144;p9"/>
          <p:cNvSpPr/>
          <p:nvPr/>
        </p:nvSpPr>
        <p:spPr>
          <a:xfrm>
            <a:off x="457200" y="1234443"/>
            <a:ext cx="109728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F76"/>
              </a:buClr>
              <a:buSzPts val="1000"/>
              <a:buFont typeface="Calibri"/>
              <a:buNone/>
            </a:pPr>
            <a:r>
              <a:rPr b="0" i="1" lang="en-US" sz="1000" u="none" cap="none" strike="noStrike">
                <a:solidFill>
                  <a:srgbClr val="6B6F76"/>
                </a:solidFill>
                <a:latin typeface="Calibri"/>
                <a:ea typeface="Calibri"/>
                <a:cs typeface="Calibri"/>
                <a:sym typeface="Calibri"/>
              </a:rPr>
              <a:t>Time budget: 1 minute. Live demo, animated comparison, or short recorded clip.</a:t>
            </a:r>
            <a:endParaRPr b="0" i="0" sz="1000" u="none" cap="none" strike="noStrike">
              <a:solidFill>
                <a:schemeClr val="dk1"/>
              </a:solidFill>
              <a:latin typeface="Calibri"/>
              <a:ea typeface="Calibri"/>
              <a:cs typeface="Calibri"/>
              <a:sym typeface="Calibri"/>
            </a:endParaRPr>
          </a:p>
        </p:txBody>
      </p:sp>
      <p:sp>
        <p:nvSpPr>
          <p:cNvPr id="145" name="Google Shape;145;p9"/>
          <p:cNvSpPr/>
          <p:nvPr/>
        </p:nvSpPr>
        <p:spPr>
          <a:xfrm>
            <a:off x="457200" y="653796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F76"/>
              </a:buClr>
              <a:buSzPts val="1000"/>
              <a:buFont typeface="Calibri"/>
              <a:buNone/>
            </a:pPr>
            <a:r>
              <a:rPr b="0" i="1" lang="en-US" sz="1000" u="none" cap="none" strike="noStrike">
                <a:solidFill>
                  <a:srgbClr val="6B6F76"/>
                </a:solidFill>
                <a:latin typeface="Calibri"/>
                <a:ea typeface="Calibri"/>
                <a:cs typeface="Calibri"/>
                <a:sym typeface="Calibri"/>
              </a:rPr>
              <a:t>HPML · Spring 2026</a:t>
            </a:r>
            <a:endParaRPr b="0" i="0" sz="1000" u="none" cap="none" strike="noStrike">
              <a:solidFill>
                <a:schemeClr val="dk1"/>
              </a:solidFill>
              <a:latin typeface="Calibri"/>
              <a:ea typeface="Calibri"/>
              <a:cs typeface="Calibri"/>
              <a:sym typeface="Calibri"/>
            </a:endParaRPr>
          </a:p>
        </p:txBody>
      </p:sp>
      <p:sp>
        <p:nvSpPr>
          <p:cNvPr id="146" name="Google Shape;146;p9"/>
          <p:cNvSpPr/>
          <p:nvPr/>
        </p:nvSpPr>
        <p:spPr>
          <a:xfrm>
            <a:off x="6245352" y="6537960"/>
            <a:ext cx="54864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6F76"/>
              </a:buClr>
              <a:buSzPts val="1000"/>
              <a:buFont typeface="Calibri"/>
              <a:buNone/>
            </a:pPr>
            <a:r>
              <a:rPr b="0" i="0" lang="en-US" sz="1000" u="none" cap="none" strike="noStrike">
                <a:solidFill>
                  <a:srgbClr val="6B6F76"/>
                </a:solidFill>
                <a:latin typeface="Calibri"/>
                <a:ea typeface="Calibri"/>
                <a:cs typeface="Calibri"/>
                <a:sym typeface="Calibri"/>
              </a:rPr>
              <a:t>9 / 14</a:t>
            </a:r>
            <a:endParaRPr b="0" i="0" sz="1000" u="none" cap="none" strike="noStrike">
              <a:solidFill>
                <a:schemeClr val="dk1"/>
              </a:solidFill>
              <a:latin typeface="Calibri"/>
              <a:ea typeface="Calibri"/>
              <a:cs typeface="Calibri"/>
              <a:sym typeface="Calibri"/>
            </a:endParaRPr>
          </a:p>
        </p:txBody>
      </p:sp>
      <p:pic>
        <p:nvPicPr>
          <p:cNvPr id="147" name="Google Shape;147;p9" title="Demo_effi_codegen.mov">
            <a:hlinkClick r:id="rId3"/>
          </p:cNvPr>
          <p:cNvPicPr preferRelativeResize="0"/>
          <p:nvPr/>
        </p:nvPicPr>
        <p:blipFill>
          <a:blip r:embed="rId4">
            <a:alphaModFix/>
          </a:blip>
          <a:stretch>
            <a:fillRect/>
          </a:stretch>
        </p:blipFill>
        <p:spPr>
          <a:xfrm>
            <a:off x="2641925" y="1554375"/>
            <a:ext cx="6644767" cy="49835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7"/>
                                        </p:tgtEl>
                                        <p:attrNameLst>
                                          <p:attrName>style.visibility</p:attrName>
                                        </p:attrNameLst>
                                      </p:cBhvr>
                                      <p:to>
                                        <p:strVal val="visible"/>
                                      </p:to>
                                    </p:set>
                                    <p:animEffect filter="fade" transition="in">
                                      <p:cBhvr>
                                        <p:cTn dur="1000"/>
                                        <p:tgtEl>
                                          <p:spTgt spid="14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2" name="Shape 152"/>
        <p:cNvGrpSpPr/>
        <p:nvPr/>
      </p:nvGrpSpPr>
      <p:grpSpPr>
        <a:xfrm>
          <a:off x="0" y="0"/>
          <a:ext cx="0" cy="0"/>
          <a:chOff x="0" y="0"/>
          <a:chExt cx="0" cy="0"/>
        </a:xfrm>
      </p:grpSpPr>
      <p:sp>
        <p:nvSpPr>
          <p:cNvPr id="153" name="Google Shape;153;p10"/>
          <p:cNvSpPr/>
          <p:nvPr/>
        </p:nvSpPr>
        <p:spPr>
          <a:xfrm>
            <a:off x="457200" y="502920"/>
            <a:ext cx="11274552"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3200"/>
              <a:buFont typeface="Calibri"/>
              <a:buNone/>
            </a:pPr>
            <a:r>
              <a:rPr b="1" i="0" lang="en-US" sz="3200" u="none" cap="none" strike="noStrike">
                <a:solidFill>
                  <a:srgbClr val="1A1A1A"/>
                </a:solidFill>
                <a:latin typeface="Calibri"/>
                <a:ea typeface="Calibri"/>
                <a:cs typeface="Calibri"/>
                <a:sym typeface="Calibri"/>
              </a:rPr>
              <a:t>Lessons Learned</a:t>
            </a:r>
            <a:endParaRPr b="0" i="0" sz="3200" u="none" cap="none" strike="noStrike">
              <a:solidFill>
                <a:schemeClr val="dk1"/>
              </a:solidFill>
              <a:latin typeface="Calibri"/>
              <a:ea typeface="Calibri"/>
              <a:cs typeface="Calibri"/>
              <a:sym typeface="Calibri"/>
            </a:endParaRPr>
          </a:p>
        </p:txBody>
      </p:sp>
      <p:cxnSp>
        <p:nvCxnSpPr>
          <p:cNvPr id="154" name="Google Shape;154;p10"/>
          <p:cNvCxnSpPr/>
          <p:nvPr/>
        </p:nvCxnSpPr>
        <p:spPr>
          <a:xfrm>
            <a:off x="457200" y="1188720"/>
            <a:ext cx="11274552" cy="0"/>
          </a:xfrm>
          <a:prstGeom prst="straightConnector1">
            <a:avLst/>
          </a:prstGeom>
          <a:noFill/>
          <a:ln cap="flat" cmpd="sng" w="9525">
            <a:solidFill>
              <a:srgbClr val="D9D9D9"/>
            </a:solidFill>
            <a:prstDash val="solid"/>
            <a:round/>
            <a:headEnd len="sm" w="sm" type="none"/>
            <a:tailEnd len="sm" w="sm" type="none"/>
          </a:ln>
        </p:spPr>
      </p:cxnSp>
      <p:sp>
        <p:nvSpPr>
          <p:cNvPr id="155" name="Google Shape;155;p10"/>
          <p:cNvSpPr/>
          <p:nvPr/>
        </p:nvSpPr>
        <p:spPr>
          <a:xfrm>
            <a:off x="457200" y="1325880"/>
            <a:ext cx="10972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F76"/>
              </a:buClr>
              <a:buSzPts val="1000"/>
              <a:buFont typeface="Calibri"/>
              <a:buNone/>
            </a:pPr>
            <a:r>
              <a:rPr b="0" i="1" lang="en-US" sz="1000" u="none" cap="none" strike="noStrike">
                <a:solidFill>
                  <a:srgbClr val="6B6F76"/>
                </a:solidFill>
                <a:latin typeface="Calibri"/>
                <a:ea typeface="Calibri"/>
                <a:cs typeface="Calibri"/>
                <a:sym typeface="Calibri"/>
              </a:rPr>
              <a:t>Time budget: 1 minute. What surprised you? What didn't work? Be honest.</a:t>
            </a:r>
            <a:endParaRPr b="0" i="0" sz="1000" u="none" cap="none" strike="noStrike">
              <a:solidFill>
                <a:schemeClr val="dk1"/>
              </a:solidFill>
              <a:latin typeface="Calibri"/>
              <a:ea typeface="Calibri"/>
              <a:cs typeface="Calibri"/>
              <a:sym typeface="Calibri"/>
            </a:endParaRPr>
          </a:p>
        </p:txBody>
      </p:sp>
      <p:sp>
        <p:nvSpPr>
          <p:cNvPr id="156" name="Google Shape;156;p10"/>
          <p:cNvSpPr/>
          <p:nvPr/>
        </p:nvSpPr>
        <p:spPr>
          <a:xfrm>
            <a:off x="457200" y="1828800"/>
            <a:ext cx="5486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600"/>
              <a:buFont typeface="Calibri"/>
              <a:buNone/>
            </a:pPr>
            <a:r>
              <a:rPr b="1" i="0" lang="en-US" sz="1600" u="none" cap="none" strike="noStrike">
                <a:solidFill>
                  <a:srgbClr val="1A1A1A"/>
                </a:solidFill>
                <a:latin typeface="Calibri"/>
                <a:ea typeface="Calibri"/>
                <a:cs typeface="Calibri"/>
                <a:sym typeface="Calibri"/>
              </a:rPr>
              <a:t>What worked</a:t>
            </a:r>
            <a:endParaRPr b="0" i="0" sz="1600" u="none" cap="none" strike="noStrike">
              <a:solidFill>
                <a:schemeClr val="dk1"/>
              </a:solidFill>
              <a:latin typeface="Calibri"/>
              <a:ea typeface="Calibri"/>
              <a:cs typeface="Calibri"/>
              <a:sym typeface="Calibri"/>
            </a:endParaRPr>
          </a:p>
        </p:txBody>
      </p:sp>
      <p:sp>
        <p:nvSpPr>
          <p:cNvPr id="157" name="Google Shape;157;p10"/>
          <p:cNvSpPr/>
          <p:nvPr/>
        </p:nvSpPr>
        <p:spPr>
          <a:xfrm>
            <a:off x="457200" y="2286000"/>
            <a:ext cx="5644200" cy="3657600"/>
          </a:xfrm>
          <a:prstGeom prst="rect">
            <a:avLst/>
          </a:prstGeom>
          <a:noFill/>
          <a:ln>
            <a:noFill/>
          </a:ln>
        </p:spPr>
        <p:txBody>
          <a:bodyPr anchorCtr="0" anchor="t" bIns="45700" lIns="91425" spcFirstLastPara="1" rIns="91425" wrap="square" tIns="45700">
            <a:noAutofit/>
          </a:bodyPr>
          <a:lstStyle/>
          <a:p>
            <a:pPr indent="-368300" lvl="0" marL="342900" marR="0" rtl="0" algn="l">
              <a:lnSpc>
                <a:spcPct val="115000"/>
              </a:lnSpc>
              <a:spcBef>
                <a:spcPts val="0"/>
              </a:spcBef>
              <a:spcAft>
                <a:spcPts val="0"/>
              </a:spcAft>
              <a:buClr>
                <a:srgbClr val="1A1A1A"/>
              </a:buClr>
              <a:buSzPts val="1900"/>
              <a:buFont typeface="Calibri"/>
              <a:buChar char="•"/>
            </a:pPr>
            <a:r>
              <a:rPr lang="en-US" sz="1900">
                <a:solidFill>
                  <a:srgbClr val="1A1A1A"/>
                </a:solidFill>
                <a:latin typeface="Calibri"/>
                <a:ea typeface="Calibri"/>
                <a:cs typeface="Calibri"/>
                <a:sym typeface="Calibri"/>
              </a:rPr>
              <a:t>qLoRA fine-tuning substantially </a:t>
            </a:r>
            <a:r>
              <a:rPr lang="en-US" sz="1900">
                <a:solidFill>
                  <a:srgbClr val="1A1A1A"/>
                </a:solidFill>
                <a:latin typeface="Calibri"/>
                <a:ea typeface="Calibri"/>
                <a:cs typeface="Calibri"/>
                <a:sym typeface="Calibri"/>
              </a:rPr>
              <a:t>improved</a:t>
            </a:r>
            <a:r>
              <a:rPr lang="en-US" sz="1900">
                <a:solidFill>
                  <a:srgbClr val="1A1A1A"/>
                </a:solidFill>
                <a:latin typeface="Calibri"/>
                <a:ea typeface="Calibri"/>
                <a:cs typeface="Calibri"/>
                <a:sym typeface="Calibri"/>
              </a:rPr>
              <a:t> correctness: Pass@1 increased from 34.5% to about 64%</a:t>
            </a:r>
            <a:endParaRPr b="0" i="0" sz="1900" u="none" cap="none" strike="noStrike">
              <a:solidFill>
                <a:schemeClr val="dk1"/>
              </a:solidFill>
              <a:latin typeface="Calibri"/>
              <a:ea typeface="Calibri"/>
              <a:cs typeface="Calibri"/>
              <a:sym typeface="Calibri"/>
            </a:endParaRPr>
          </a:p>
          <a:p>
            <a:pPr indent="-368300" lvl="0" marL="342900" marR="0" rtl="0" algn="l">
              <a:lnSpc>
                <a:spcPct val="115000"/>
              </a:lnSpc>
              <a:spcBef>
                <a:spcPts val="800"/>
              </a:spcBef>
              <a:spcAft>
                <a:spcPts val="0"/>
              </a:spcAft>
              <a:buClr>
                <a:srgbClr val="1A1A1A"/>
              </a:buClr>
              <a:buSzPts val="1900"/>
              <a:buFont typeface="Calibri"/>
              <a:buChar char="•"/>
            </a:pPr>
            <a:r>
              <a:rPr lang="en-US" sz="1900">
                <a:solidFill>
                  <a:srgbClr val="1A1A1A"/>
                </a:solidFill>
                <a:latin typeface="Calibri"/>
                <a:ea typeface="Calibri"/>
                <a:cs typeface="Calibri"/>
                <a:sym typeface="Calibri"/>
              </a:rPr>
              <a:t>vLLM gave the largest systems gain: up to 8.3x higher </a:t>
            </a:r>
            <a:r>
              <a:rPr lang="en-US" sz="1900">
                <a:solidFill>
                  <a:srgbClr val="1A1A1A"/>
                </a:solidFill>
                <a:latin typeface="Calibri"/>
                <a:ea typeface="Calibri"/>
                <a:cs typeface="Calibri"/>
                <a:sym typeface="Calibri"/>
              </a:rPr>
              <a:t>output</a:t>
            </a:r>
            <a:r>
              <a:rPr lang="en-US" sz="1900">
                <a:solidFill>
                  <a:srgbClr val="1A1A1A"/>
                </a:solidFill>
                <a:latin typeface="Calibri"/>
                <a:ea typeface="Calibri"/>
                <a:cs typeface="Calibri"/>
                <a:sym typeface="Calibri"/>
              </a:rPr>
              <a:t>-token throughput than HuggingFace</a:t>
            </a:r>
            <a:endParaRPr b="0" i="0" sz="1900" u="none" cap="none" strike="noStrike">
              <a:solidFill>
                <a:schemeClr val="dk1"/>
              </a:solidFill>
              <a:latin typeface="Calibri"/>
              <a:ea typeface="Calibri"/>
              <a:cs typeface="Calibri"/>
              <a:sym typeface="Calibri"/>
            </a:endParaRPr>
          </a:p>
          <a:p>
            <a:pPr indent="-368300" lvl="0" marL="342900" marR="0" rtl="0" algn="l">
              <a:lnSpc>
                <a:spcPct val="115000"/>
              </a:lnSpc>
              <a:spcBef>
                <a:spcPts val="800"/>
              </a:spcBef>
              <a:spcAft>
                <a:spcPts val="0"/>
              </a:spcAft>
              <a:buClr>
                <a:srgbClr val="1A1A1A"/>
              </a:buClr>
              <a:buSzPts val="1900"/>
              <a:buFont typeface="Calibri"/>
              <a:buChar char="•"/>
            </a:pPr>
            <a:r>
              <a:rPr lang="en-US" sz="1900">
                <a:solidFill>
                  <a:srgbClr val="1A1A1A"/>
                </a:solidFill>
                <a:latin typeface="Calibri"/>
                <a:ea typeface="Calibri"/>
                <a:cs typeface="Calibri"/>
                <a:sym typeface="Calibri"/>
              </a:rPr>
              <a:t>Profiling successfully identified main inference costs: GEMM/linear ops, attention, and kernel launch and syncrhonization overhead </a:t>
            </a:r>
            <a:endParaRPr sz="1900">
              <a:solidFill>
                <a:srgbClr val="1A1A1A"/>
              </a:solidFill>
              <a:latin typeface="Calibri"/>
              <a:ea typeface="Calibri"/>
              <a:cs typeface="Calibri"/>
              <a:sym typeface="Calibri"/>
            </a:endParaRPr>
          </a:p>
          <a:p>
            <a:pPr indent="-368300" lvl="0" marL="342900" marR="0" rtl="0" algn="l">
              <a:lnSpc>
                <a:spcPct val="115000"/>
              </a:lnSpc>
              <a:spcBef>
                <a:spcPts val="800"/>
              </a:spcBef>
              <a:spcAft>
                <a:spcPts val="0"/>
              </a:spcAft>
              <a:buClr>
                <a:srgbClr val="1A1A1A"/>
              </a:buClr>
              <a:buSzPts val="1900"/>
              <a:buFont typeface="Calibri"/>
              <a:buChar char="•"/>
            </a:pPr>
            <a:r>
              <a:rPr lang="en-US" sz="1900">
                <a:solidFill>
                  <a:srgbClr val="1A1A1A"/>
                </a:solidFill>
                <a:latin typeface="Calibri"/>
                <a:ea typeface="Calibri"/>
                <a:cs typeface="Calibri"/>
                <a:sym typeface="Calibri"/>
              </a:rPr>
              <a:t>Profiling showed that qLoRA changes generation behavior, not the inference kernel mix</a:t>
            </a:r>
            <a:endParaRPr sz="1900">
              <a:solidFill>
                <a:srgbClr val="1A1A1A"/>
              </a:solidFill>
              <a:latin typeface="Calibri"/>
              <a:ea typeface="Calibri"/>
              <a:cs typeface="Calibri"/>
              <a:sym typeface="Calibri"/>
            </a:endParaRPr>
          </a:p>
        </p:txBody>
      </p:sp>
      <p:sp>
        <p:nvSpPr>
          <p:cNvPr id="158" name="Google Shape;158;p10"/>
          <p:cNvSpPr/>
          <p:nvPr/>
        </p:nvSpPr>
        <p:spPr>
          <a:xfrm>
            <a:off x="6263640" y="1828800"/>
            <a:ext cx="5486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600"/>
              <a:buFont typeface="Calibri"/>
              <a:buNone/>
            </a:pPr>
            <a:r>
              <a:rPr b="1" i="0" lang="en-US" sz="1600" u="none" cap="none" strike="noStrike">
                <a:solidFill>
                  <a:srgbClr val="1A1A1A"/>
                </a:solidFill>
                <a:latin typeface="Calibri"/>
                <a:ea typeface="Calibri"/>
                <a:cs typeface="Calibri"/>
                <a:sym typeface="Calibri"/>
              </a:rPr>
              <a:t>What didn't work</a:t>
            </a:r>
            <a:endParaRPr b="0" i="0" sz="1600" u="none" cap="none" strike="noStrike">
              <a:solidFill>
                <a:schemeClr val="dk1"/>
              </a:solidFill>
              <a:latin typeface="Calibri"/>
              <a:ea typeface="Calibri"/>
              <a:cs typeface="Calibri"/>
              <a:sym typeface="Calibri"/>
            </a:endParaRPr>
          </a:p>
        </p:txBody>
      </p:sp>
      <p:sp>
        <p:nvSpPr>
          <p:cNvPr id="159" name="Google Shape;159;p10"/>
          <p:cNvSpPr/>
          <p:nvPr/>
        </p:nvSpPr>
        <p:spPr>
          <a:xfrm>
            <a:off x="6263640" y="2286000"/>
            <a:ext cx="5486400" cy="3657600"/>
          </a:xfrm>
          <a:prstGeom prst="rect">
            <a:avLst/>
          </a:prstGeom>
          <a:noFill/>
          <a:ln>
            <a:noFill/>
          </a:ln>
        </p:spPr>
        <p:txBody>
          <a:bodyPr anchorCtr="0" anchor="t" bIns="45700" lIns="91425" spcFirstLastPara="1" rIns="91425" wrap="square" tIns="45700">
            <a:noAutofit/>
          </a:bodyPr>
          <a:lstStyle/>
          <a:p>
            <a:pPr indent="-349250" lvl="0" marL="457200" marR="0" rtl="0" algn="l">
              <a:lnSpc>
                <a:spcPct val="115000"/>
              </a:lnSpc>
              <a:spcBef>
                <a:spcPts val="0"/>
              </a:spcBef>
              <a:spcAft>
                <a:spcPts val="0"/>
              </a:spcAft>
              <a:buClr>
                <a:srgbClr val="1A1A1A"/>
              </a:buClr>
              <a:buSzPts val="1900"/>
              <a:buFont typeface="Calibri"/>
              <a:buChar char="●"/>
            </a:pPr>
            <a:r>
              <a:rPr lang="en-US" sz="1900">
                <a:solidFill>
                  <a:srgbClr val="1A1A1A"/>
                </a:solidFill>
                <a:latin typeface="Calibri"/>
                <a:ea typeface="Calibri"/>
                <a:cs typeface="Calibri"/>
                <a:sym typeface="Calibri"/>
              </a:rPr>
              <a:t>Autoregressive decoding overhead remains; deeper kernel/serving-level optimization is required and is beyond our project scope.</a:t>
            </a:r>
            <a:endParaRPr sz="1900">
              <a:solidFill>
                <a:srgbClr val="1A1A1A"/>
              </a:solidFill>
              <a:latin typeface="Calibri"/>
              <a:ea typeface="Calibri"/>
              <a:cs typeface="Calibri"/>
              <a:sym typeface="Calibri"/>
            </a:endParaRPr>
          </a:p>
          <a:p>
            <a:pPr indent="-349250" lvl="0" marL="457200" marR="0" rtl="0" algn="l">
              <a:lnSpc>
                <a:spcPct val="115000"/>
              </a:lnSpc>
              <a:spcBef>
                <a:spcPts val="0"/>
              </a:spcBef>
              <a:spcAft>
                <a:spcPts val="0"/>
              </a:spcAft>
              <a:buClr>
                <a:srgbClr val="1A1A1A"/>
              </a:buClr>
              <a:buSzPts val="1900"/>
              <a:buFont typeface="Calibri"/>
              <a:buChar char="●"/>
            </a:pPr>
            <a:r>
              <a:rPr lang="en-US" sz="1900">
                <a:solidFill>
                  <a:srgbClr val="1A1A1A"/>
                </a:solidFill>
                <a:latin typeface="Calibri"/>
                <a:ea typeface="Calibri"/>
                <a:cs typeface="Calibri"/>
                <a:sym typeface="Calibri"/>
              </a:rPr>
              <a:t>Runtime-aware SFT did not significantly beat control SFT on generated-code runtime</a:t>
            </a:r>
            <a:endParaRPr sz="1900">
              <a:solidFill>
                <a:srgbClr val="1A1A1A"/>
              </a:solidFill>
              <a:latin typeface="Calibri"/>
              <a:ea typeface="Calibri"/>
              <a:cs typeface="Calibri"/>
              <a:sym typeface="Calibri"/>
            </a:endParaRPr>
          </a:p>
          <a:p>
            <a:pPr indent="-349250" lvl="0" marL="457200" marR="0" rtl="0" algn="l">
              <a:lnSpc>
                <a:spcPct val="115000"/>
              </a:lnSpc>
              <a:spcBef>
                <a:spcPts val="0"/>
              </a:spcBef>
              <a:spcAft>
                <a:spcPts val="0"/>
              </a:spcAft>
              <a:buClr>
                <a:srgbClr val="1A1A1A"/>
              </a:buClr>
              <a:buSzPts val="1900"/>
              <a:buFont typeface="Calibri"/>
              <a:buChar char="●"/>
            </a:pPr>
            <a:r>
              <a:rPr lang="en-US" sz="1900">
                <a:solidFill>
                  <a:srgbClr val="1A1A1A"/>
                </a:solidFill>
                <a:latin typeface="Calibri"/>
                <a:ea typeface="Calibri"/>
                <a:cs typeface="Calibri"/>
                <a:sym typeface="Calibri"/>
              </a:rPr>
              <a:t>Fine-tuning improved output quality, but did not materially change GPU kernel utilization or TensorCore utilization</a:t>
            </a:r>
            <a:endParaRPr sz="1900">
              <a:solidFill>
                <a:srgbClr val="1A1A1A"/>
              </a:solidFill>
              <a:latin typeface="Calibri"/>
              <a:ea typeface="Calibri"/>
              <a:cs typeface="Calibri"/>
              <a:sym typeface="Calibri"/>
            </a:endParaRPr>
          </a:p>
        </p:txBody>
      </p:sp>
      <p:sp>
        <p:nvSpPr>
          <p:cNvPr id="160" name="Google Shape;160;p10"/>
          <p:cNvSpPr/>
          <p:nvPr/>
        </p:nvSpPr>
        <p:spPr>
          <a:xfrm>
            <a:off x="457200" y="653796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F76"/>
              </a:buClr>
              <a:buSzPts val="1000"/>
              <a:buFont typeface="Calibri"/>
              <a:buNone/>
            </a:pPr>
            <a:r>
              <a:rPr b="0" i="1" lang="en-US" sz="1000" u="none" cap="none" strike="noStrike">
                <a:solidFill>
                  <a:srgbClr val="6B6F76"/>
                </a:solidFill>
                <a:latin typeface="Calibri"/>
                <a:ea typeface="Calibri"/>
                <a:cs typeface="Calibri"/>
                <a:sym typeface="Calibri"/>
              </a:rPr>
              <a:t>HPML · Spring 2026</a:t>
            </a:r>
            <a:endParaRPr b="0" i="0" sz="1000" u="none" cap="none" strike="noStrike">
              <a:solidFill>
                <a:schemeClr val="dk1"/>
              </a:solidFill>
              <a:latin typeface="Calibri"/>
              <a:ea typeface="Calibri"/>
              <a:cs typeface="Calibri"/>
              <a:sym typeface="Calibri"/>
            </a:endParaRPr>
          </a:p>
        </p:txBody>
      </p:sp>
      <p:sp>
        <p:nvSpPr>
          <p:cNvPr id="161" name="Google Shape;161;p10"/>
          <p:cNvSpPr/>
          <p:nvPr/>
        </p:nvSpPr>
        <p:spPr>
          <a:xfrm>
            <a:off x="6245352" y="6537960"/>
            <a:ext cx="54864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6F76"/>
              </a:buClr>
              <a:buSzPts val="1000"/>
              <a:buFont typeface="Calibri"/>
              <a:buNone/>
            </a:pPr>
            <a:r>
              <a:rPr b="0" i="0" lang="en-US" sz="1000" u="none" cap="none" strike="noStrike">
                <a:solidFill>
                  <a:srgbClr val="6B6F76"/>
                </a:solidFill>
                <a:latin typeface="Calibri"/>
                <a:ea typeface="Calibri"/>
                <a:cs typeface="Calibri"/>
                <a:sym typeface="Calibri"/>
              </a:rPr>
              <a:t>10 / 14</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6" name="Shape 166"/>
        <p:cNvGrpSpPr/>
        <p:nvPr/>
      </p:nvGrpSpPr>
      <p:grpSpPr>
        <a:xfrm>
          <a:off x="0" y="0"/>
          <a:ext cx="0" cy="0"/>
          <a:chOff x="0" y="0"/>
          <a:chExt cx="0" cy="0"/>
        </a:xfrm>
      </p:grpSpPr>
      <p:sp>
        <p:nvSpPr>
          <p:cNvPr id="167" name="Google Shape;167;p11"/>
          <p:cNvSpPr/>
          <p:nvPr/>
        </p:nvSpPr>
        <p:spPr>
          <a:xfrm>
            <a:off x="457200" y="502920"/>
            <a:ext cx="11274552"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3200"/>
              <a:buFont typeface="Calibri"/>
              <a:buNone/>
            </a:pPr>
            <a:r>
              <a:rPr b="1" i="0" lang="en-US" sz="3200" u="none" cap="none" strike="noStrike">
                <a:solidFill>
                  <a:srgbClr val="1A1A1A"/>
                </a:solidFill>
                <a:latin typeface="Calibri"/>
                <a:ea typeface="Calibri"/>
                <a:cs typeface="Calibri"/>
                <a:sym typeface="Calibri"/>
              </a:rPr>
              <a:t>Next Steps</a:t>
            </a:r>
            <a:endParaRPr b="0" i="0" sz="3200" u="none" cap="none" strike="noStrike">
              <a:solidFill>
                <a:schemeClr val="dk1"/>
              </a:solidFill>
              <a:latin typeface="Calibri"/>
              <a:ea typeface="Calibri"/>
              <a:cs typeface="Calibri"/>
              <a:sym typeface="Calibri"/>
            </a:endParaRPr>
          </a:p>
        </p:txBody>
      </p:sp>
      <p:cxnSp>
        <p:nvCxnSpPr>
          <p:cNvPr id="168" name="Google Shape;168;p11"/>
          <p:cNvCxnSpPr/>
          <p:nvPr/>
        </p:nvCxnSpPr>
        <p:spPr>
          <a:xfrm>
            <a:off x="457200" y="1188720"/>
            <a:ext cx="11274552" cy="0"/>
          </a:xfrm>
          <a:prstGeom prst="straightConnector1">
            <a:avLst/>
          </a:prstGeom>
          <a:noFill/>
          <a:ln cap="flat" cmpd="sng" w="9525">
            <a:solidFill>
              <a:srgbClr val="D9D9D9"/>
            </a:solidFill>
            <a:prstDash val="solid"/>
            <a:round/>
            <a:headEnd len="sm" w="sm" type="none"/>
            <a:tailEnd len="sm" w="sm" type="none"/>
          </a:ln>
        </p:spPr>
      </p:cxnSp>
      <p:sp>
        <p:nvSpPr>
          <p:cNvPr id="169" name="Google Shape;169;p11"/>
          <p:cNvSpPr/>
          <p:nvPr/>
        </p:nvSpPr>
        <p:spPr>
          <a:xfrm>
            <a:off x="457200" y="1325880"/>
            <a:ext cx="10972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F76"/>
              </a:buClr>
              <a:buSzPts val="1000"/>
              <a:buFont typeface="Calibri"/>
              <a:buNone/>
            </a:pPr>
            <a:r>
              <a:rPr b="0" i="1" lang="en-US" sz="1000" u="none" cap="none" strike="noStrike">
                <a:solidFill>
                  <a:srgbClr val="6B6F76"/>
                </a:solidFill>
                <a:latin typeface="Calibri"/>
                <a:ea typeface="Calibri"/>
                <a:cs typeface="Calibri"/>
                <a:sym typeface="Calibri"/>
              </a:rPr>
              <a:t>Time budget: 30 seconds. Be specific — vague "more experiments" is not next steps.</a:t>
            </a:r>
            <a:endParaRPr b="0" i="0" sz="1000" u="none" cap="none" strike="noStrike">
              <a:solidFill>
                <a:schemeClr val="dk1"/>
              </a:solidFill>
              <a:latin typeface="Calibri"/>
              <a:ea typeface="Calibri"/>
              <a:cs typeface="Calibri"/>
              <a:sym typeface="Calibri"/>
            </a:endParaRPr>
          </a:p>
        </p:txBody>
      </p:sp>
      <p:sp>
        <p:nvSpPr>
          <p:cNvPr id="170" name="Google Shape;170;p11"/>
          <p:cNvSpPr/>
          <p:nvPr/>
        </p:nvSpPr>
        <p:spPr>
          <a:xfrm>
            <a:off x="457200" y="2011680"/>
            <a:ext cx="11274552" cy="3657600"/>
          </a:xfrm>
          <a:prstGeom prst="rect">
            <a:avLst/>
          </a:prstGeom>
          <a:noFill/>
          <a:ln>
            <a:noFill/>
          </a:ln>
        </p:spPr>
        <p:txBody>
          <a:bodyPr anchorCtr="0" anchor="t" bIns="45700" lIns="91425" spcFirstLastPara="1" rIns="91425" wrap="square" tIns="45700">
            <a:noAutofit/>
          </a:bodyPr>
          <a:lstStyle/>
          <a:p>
            <a:pPr indent="-349250" lvl="0" marL="342900" marR="0" rtl="0" algn="l">
              <a:lnSpc>
                <a:spcPct val="150000"/>
              </a:lnSpc>
              <a:spcBef>
                <a:spcPts val="0"/>
              </a:spcBef>
              <a:spcAft>
                <a:spcPts val="0"/>
              </a:spcAft>
              <a:buClr>
                <a:srgbClr val="1A1A1A"/>
              </a:buClr>
              <a:buSzPts val="1900"/>
              <a:buFont typeface="Calibri"/>
              <a:buChar char="•"/>
            </a:pPr>
            <a:r>
              <a:rPr lang="en-US" sz="1900">
                <a:solidFill>
                  <a:srgbClr val="1A1A1A"/>
                </a:solidFill>
                <a:latin typeface="Calibri"/>
                <a:ea typeface="Calibri"/>
                <a:cs typeface="Calibri"/>
                <a:sym typeface="Calibri"/>
              </a:rPr>
              <a:t>Run expansive hyper-parameter tuning and </a:t>
            </a:r>
            <a:r>
              <a:rPr lang="en-US" sz="1900">
                <a:solidFill>
                  <a:srgbClr val="1A1A1A"/>
                </a:solidFill>
                <a:latin typeface="Calibri"/>
                <a:ea typeface="Calibri"/>
                <a:cs typeface="Calibri"/>
                <a:sym typeface="Calibri"/>
              </a:rPr>
              <a:t>accumulate</a:t>
            </a:r>
            <a:r>
              <a:rPr lang="en-US" sz="1900">
                <a:solidFill>
                  <a:srgbClr val="1A1A1A"/>
                </a:solidFill>
                <a:latin typeface="Calibri"/>
                <a:ea typeface="Calibri"/>
                <a:cs typeface="Calibri"/>
                <a:sym typeface="Calibri"/>
              </a:rPr>
              <a:t> a more diverse dataset to improve runtime performance vs control.</a:t>
            </a:r>
            <a:endParaRPr sz="1900">
              <a:solidFill>
                <a:srgbClr val="1A1A1A"/>
              </a:solidFill>
              <a:latin typeface="Calibri"/>
              <a:ea typeface="Calibri"/>
              <a:cs typeface="Calibri"/>
              <a:sym typeface="Calibri"/>
            </a:endParaRPr>
          </a:p>
          <a:p>
            <a:pPr indent="-349250" lvl="0" marL="342900" marR="0" rtl="0" algn="l">
              <a:lnSpc>
                <a:spcPct val="150000"/>
              </a:lnSpc>
              <a:spcBef>
                <a:spcPts val="0"/>
              </a:spcBef>
              <a:spcAft>
                <a:spcPts val="0"/>
              </a:spcAft>
              <a:buClr>
                <a:srgbClr val="1A1A1A"/>
              </a:buClr>
              <a:buSzPts val="1900"/>
              <a:buFont typeface="Calibri"/>
              <a:buChar char="•"/>
            </a:pPr>
            <a:r>
              <a:rPr lang="en-US" sz="1900">
                <a:solidFill>
                  <a:srgbClr val="1A1A1A"/>
                </a:solidFill>
                <a:latin typeface="Calibri"/>
                <a:ea typeface="Calibri"/>
                <a:cs typeface="Calibri"/>
                <a:sym typeface="Calibri"/>
              </a:rPr>
              <a:t>Optimize autoregressive serving overhead by with larger batching, vLLM prefix caching, and CUDA graphs to improve KV-cache reuse, GPU utilization, and decode-loop efficiency.</a:t>
            </a:r>
            <a:endParaRPr sz="1900">
              <a:solidFill>
                <a:srgbClr val="1A1A1A"/>
              </a:solidFill>
              <a:latin typeface="Calibri"/>
              <a:ea typeface="Calibri"/>
              <a:cs typeface="Calibri"/>
              <a:sym typeface="Calibri"/>
            </a:endParaRPr>
          </a:p>
          <a:p>
            <a:pPr indent="-349250" lvl="0" marL="342900" marR="0" rtl="0" algn="l">
              <a:lnSpc>
                <a:spcPct val="150000"/>
              </a:lnSpc>
              <a:spcBef>
                <a:spcPts val="0"/>
              </a:spcBef>
              <a:spcAft>
                <a:spcPts val="0"/>
              </a:spcAft>
              <a:buClr>
                <a:srgbClr val="1A1A1A"/>
              </a:buClr>
              <a:buSzPts val="1900"/>
              <a:buFont typeface="Calibri"/>
              <a:buChar char="•"/>
            </a:pPr>
            <a:r>
              <a:rPr lang="en-US" sz="1900">
                <a:solidFill>
                  <a:schemeClr val="dk1"/>
                </a:solidFill>
                <a:latin typeface="Calibri"/>
                <a:ea typeface="Calibri"/>
                <a:cs typeface="Calibri"/>
                <a:sym typeface="Calibri"/>
              </a:rPr>
              <a:t>Explore DPO-style preference training using paris of correct solutions with meaningful runtime gaps</a:t>
            </a:r>
            <a:endParaRPr sz="1900">
              <a:solidFill>
                <a:schemeClr val="dk1"/>
              </a:solidFill>
              <a:latin typeface="Calibri"/>
              <a:ea typeface="Calibri"/>
              <a:cs typeface="Calibri"/>
              <a:sym typeface="Calibri"/>
            </a:endParaRPr>
          </a:p>
        </p:txBody>
      </p:sp>
      <p:sp>
        <p:nvSpPr>
          <p:cNvPr id="171" name="Google Shape;171;p11"/>
          <p:cNvSpPr/>
          <p:nvPr/>
        </p:nvSpPr>
        <p:spPr>
          <a:xfrm>
            <a:off x="457200" y="653796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F76"/>
              </a:buClr>
              <a:buSzPts val="1000"/>
              <a:buFont typeface="Calibri"/>
              <a:buNone/>
            </a:pPr>
            <a:r>
              <a:rPr b="0" i="1" lang="en-US" sz="1000" u="none" cap="none" strike="noStrike">
                <a:solidFill>
                  <a:srgbClr val="6B6F76"/>
                </a:solidFill>
                <a:latin typeface="Calibri"/>
                <a:ea typeface="Calibri"/>
                <a:cs typeface="Calibri"/>
                <a:sym typeface="Calibri"/>
              </a:rPr>
              <a:t>HPML · Spring 2026</a:t>
            </a:r>
            <a:endParaRPr b="0" i="0" sz="1000" u="none" cap="none" strike="noStrike">
              <a:solidFill>
                <a:schemeClr val="dk1"/>
              </a:solidFill>
              <a:latin typeface="Calibri"/>
              <a:ea typeface="Calibri"/>
              <a:cs typeface="Calibri"/>
              <a:sym typeface="Calibri"/>
            </a:endParaRPr>
          </a:p>
        </p:txBody>
      </p:sp>
      <p:sp>
        <p:nvSpPr>
          <p:cNvPr id="172" name="Google Shape;172;p11"/>
          <p:cNvSpPr/>
          <p:nvPr/>
        </p:nvSpPr>
        <p:spPr>
          <a:xfrm>
            <a:off x="6245352" y="6537960"/>
            <a:ext cx="54864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6F76"/>
              </a:buClr>
              <a:buSzPts val="1000"/>
              <a:buFont typeface="Calibri"/>
              <a:buNone/>
            </a:pPr>
            <a:r>
              <a:rPr b="0" i="0" lang="en-US" sz="1000" u="none" cap="none" strike="noStrike">
                <a:solidFill>
                  <a:srgbClr val="6B6F76"/>
                </a:solidFill>
                <a:latin typeface="Calibri"/>
                <a:ea typeface="Calibri"/>
                <a:cs typeface="Calibri"/>
                <a:sym typeface="Calibri"/>
              </a:rPr>
              <a:t>11 / 14</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7" name="Shape 177"/>
        <p:cNvGrpSpPr/>
        <p:nvPr/>
      </p:nvGrpSpPr>
      <p:grpSpPr>
        <a:xfrm>
          <a:off x="0" y="0"/>
          <a:ext cx="0" cy="0"/>
          <a:chOff x="0" y="0"/>
          <a:chExt cx="0" cy="0"/>
        </a:xfrm>
      </p:grpSpPr>
      <p:sp>
        <p:nvSpPr>
          <p:cNvPr id="178" name="Google Shape;178;p12"/>
          <p:cNvSpPr/>
          <p:nvPr/>
        </p:nvSpPr>
        <p:spPr>
          <a:xfrm>
            <a:off x="457200" y="502920"/>
            <a:ext cx="11274552"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3200"/>
              <a:buFont typeface="Calibri"/>
              <a:buNone/>
            </a:pPr>
            <a:r>
              <a:rPr b="1" i="0" lang="en-US" sz="3200" u="none" cap="none" strike="noStrike">
                <a:solidFill>
                  <a:srgbClr val="1A1A1A"/>
                </a:solidFill>
                <a:latin typeface="Calibri"/>
                <a:ea typeface="Calibri"/>
                <a:cs typeface="Calibri"/>
                <a:sym typeface="Calibri"/>
              </a:rPr>
              <a:t>Teamwork &amp; Contributions</a:t>
            </a:r>
            <a:endParaRPr b="0" i="0" sz="3200" u="none" cap="none" strike="noStrike">
              <a:solidFill>
                <a:schemeClr val="dk1"/>
              </a:solidFill>
              <a:latin typeface="Calibri"/>
              <a:ea typeface="Calibri"/>
              <a:cs typeface="Calibri"/>
              <a:sym typeface="Calibri"/>
            </a:endParaRPr>
          </a:p>
        </p:txBody>
      </p:sp>
      <p:cxnSp>
        <p:nvCxnSpPr>
          <p:cNvPr id="179" name="Google Shape;179;p12"/>
          <p:cNvCxnSpPr/>
          <p:nvPr/>
        </p:nvCxnSpPr>
        <p:spPr>
          <a:xfrm>
            <a:off x="457200" y="1188720"/>
            <a:ext cx="11274552" cy="0"/>
          </a:xfrm>
          <a:prstGeom prst="straightConnector1">
            <a:avLst/>
          </a:prstGeom>
          <a:noFill/>
          <a:ln cap="flat" cmpd="sng" w="9525">
            <a:solidFill>
              <a:srgbClr val="D9D9D9"/>
            </a:solidFill>
            <a:prstDash val="solid"/>
            <a:round/>
            <a:headEnd len="sm" w="sm" type="none"/>
            <a:tailEnd len="sm" w="sm" type="none"/>
          </a:ln>
        </p:spPr>
      </p:cxnSp>
      <p:sp>
        <p:nvSpPr>
          <p:cNvPr id="180" name="Google Shape;180;p12"/>
          <p:cNvSpPr/>
          <p:nvPr/>
        </p:nvSpPr>
        <p:spPr>
          <a:xfrm>
            <a:off x="457200" y="1325880"/>
            <a:ext cx="10972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F76"/>
              </a:buClr>
              <a:buSzPts val="1000"/>
              <a:buFont typeface="Calibri"/>
              <a:buNone/>
            </a:pPr>
            <a:r>
              <a:rPr b="0" i="1" lang="en-US" sz="1000" u="none" cap="none" strike="noStrike">
                <a:solidFill>
                  <a:srgbClr val="6B6F76"/>
                </a:solidFill>
                <a:latin typeface="Calibri"/>
                <a:ea typeface="Calibri"/>
                <a:cs typeface="Calibri"/>
                <a:sym typeface="Calibri"/>
              </a:rPr>
              <a:t>Time budget: 30 seconds. Who did what. Required slide — graded individually.</a:t>
            </a:r>
            <a:endParaRPr b="0" i="0" sz="1000" u="none" cap="none" strike="noStrike">
              <a:solidFill>
                <a:schemeClr val="dk1"/>
              </a:solidFill>
              <a:latin typeface="Calibri"/>
              <a:ea typeface="Calibri"/>
              <a:cs typeface="Calibri"/>
              <a:sym typeface="Calibri"/>
            </a:endParaRPr>
          </a:p>
        </p:txBody>
      </p:sp>
      <p:graphicFrame>
        <p:nvGraphicFramePr>
          <p:cNvPr id="181" name="Google Shape;181;p12"/>
          <p:cNvGraphicFramePr/>
          <p:nvPr/>
        </p:nvGraphicFramePr>
        <p:xfrm>
          <a:off x="457200" y="1600225"/>
          <a:ext cx="3000000" cy="3000000"/>
        </p:xfrm>
        <a:graphic>
          <a:graphicData uri="http://schemas.openxmlformats.org/drawingml/2006/table">
            <a:tbl>
              <a:tblPr>
                <a:noFill/>
                <a:tableStyleId>{73E11948-DB1B-41D1-BC01-8EEC76C1B601}</a:tableStyleId>
              </a:tblPr>
              <a:tblGrid>
                <a:gridCol w="2044225"/>
                <a:gridCol w="5110525"/>
                <a:gridCol w="4302150"/>
              </a:tblGrid>
              <a:tr h="652900">
                <a:tc>
                  <a:txBody>
                    <a:bodyPr/>
                    <a:lstStyle/>
                    <a:p>
                      <a:pPr indent="0" lvl="0" marL="0" marR="0" rtl="0" algn="l">
                        <a:spcBef>
                          <a:spcPts val="0"/>
                        </a:spcBef>
                        <a:spcAft>
                          <a:spcPts val="0"/>
                        </a:spcAft>
                        <a:buClr>
                          <a:srgbClr val="1A1A1A"/>
                        </a:buClr>
                        <a:buSzPts val="1300"/>
                        <a:buFont typeface="Calibri"/>
                        <a:buNone/>
                      </a:pPr>
                      <a:r>
                        <a:rPr b="1" lang="en-US" sz="1300" u="none" cap="none" strike="noStrike">
                          <a:solidFill>
                            <a:srgbClr val="1A1A1A"/>
                          </a:solidFill>
                          <a:latin typeface="Calibri"/>
                          <a:ea typeface="Calibri"/>
                          <a:cs typeface="Calibri"/>
                          <a:sym typeface="Calibri"/>
                        </a:rPr>
                        <a:t>Member</a:t>
                      </a:r>
                      <a:endParaRPr sz="1300" u="none" cap="none" strike="noStrike">
                        <a:latin typeface="Calibri"/>
                        <a:ea typeface="Calibri"/>
                        <a:cs typeface="Calibri"/>
                        <a:sym typeface="Calibri"/>
                      </a:endParaRPr>
                    </a:p>
                  </a:txBody>
                  <a:tcPr marT="45725" marB="45725" marR="91450" marL="9145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Clr>
                          <a:srgbClr val="1A1A1A"/>
                        </a:buClr>
                        <a:buSzPts val="1300"/>
                        <a:buFont typeface="Calibri"/>
                        <a:buNone/>
                      </a:pPr>
                      <a:r>
                        <a:rPr b="1" lang="en-US" sz="1300" u="none" cap="none" strike="noStrike">
                          <a:solidFill>
                            <a:srgbClr val="1A1A1A"/>
                          </a:solidFill>
                          <a:latin typeface="Calibri"/>
                          <a:ea typeface="Calibri"/>
                          <a:cs typeface="Calibri"/>
                          <a:sym typeface="Calibri"/>
                        </a:rPr>
                        <a:t>Primary contributions</a:t>
                      </a:r>
                      <a:endParaRPr sz="1300" u="none" cap="none" strike="noStrike">
                        <a:latin typeface="Calibri"/>
                        <a:ea typeface="Calibri"/>
                        <a:cs typeface="Calibri"/>
                        <a:sym typeface="Calibri"/>
                      </a:endParaRPr>
                    </a:p>
                  </a:txBody>
                  <a:tcPr marT="45725" marB="45725" marR="91450" marL="9145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Clr>
                          <a:srgbClr val="1A1A1A"/>
                        </a:buClr>
                        <a:buSzPts val="1300"/>
                        <a:buFont typeface="Calibri"/>
                        <a:buNone/>
                      </a:pPr>
                      <a:r>
                        <a:rPr b="1" lang="en-US" sz="1300" u="none" cap="none" strike="noStrike">
                          <a:solidFill>
                            <a:srgbClr val="1A1A1A"/>
                          </a:solidFill>
                          <a:latin typeface="Calibri"/>
                          <a:ea typeface="Calibri"/>
                          <a:cs typeface="Calibri"/>
                          <a:sym typeface="Calibri"/>
                        </a:rPr>
                        <a:t>Tools / artifacts</a:t>
                      </a:r>
                      <a:endParaRPr sz="1300" u="none" cap="none" strike="noStrike">
                        <a:latin typeface="Calibri"/>
                        <a:ea typeface="Calibri"/>
                        <a:cs typeface="Calibri"/>
                        <a:sym typeface="Calibri"/>
                      </a:endParaRPr>
                    </a:p>
                  </a:txBody>
                  <a:tcPr marT="45725" marB="45725" marR="91450" marL="9145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2F2F2"/>
                    </a:solidFill>
                  </a:tcPr>
                </a:tc>
              </a:tr>
              <a:tr h="839425">
                <a:tc>
                  <a:txBody>
                    <a:bodyPr/>
                    <a:lstStyle/>
                    <a:p>
                      <a:pPr indent="0" lvl="0" marL="0" marR="0" rtl="0" algn="l">
                        <a:spcBef>
                          <a:spcPts val="0"/>
                        </a:spcBef>
                        <a:spcAft>
                          <a:spcPts val="0"/>
                        </a:spcAft>
                        <a:buClr>
                          <a:srgbClr val="1A1A1A"/>
                        </a:buClr>
                        <a:buSzPts val="1200"/>
                        <a:buFont typeface="Calibri"/>
                        <a:buNone/>
                      </a:pPr>
                      <a:r>
                        <a:rPr lang="en-US" sz="1200">
                          <a:solidFill>
                            <a:srgbClr val="1A1A1A"/>
                          </a:solidFill>
                          <a:latin typeface="Calibri"/>
                          <a:ea typeface="Calibri"/>
                          <a:cs typeface="Calibri"/>
                          <a:sym typeface="Calibri"/>
                        </a:rPr>
                        <a:t>Arnav Mahajan</a:t>
                      </a:r>
                      <a:endParaRPr sz="1200" u="none" cap="none" strike="noStrike">
                        <a:latin typeface="Calibri"/>
                        <a:ea typeface="Calibri"/>
                        <a:cs typeface="Calibri"/>
                        <a:sym typeface="Calibri"/>
                      </a:endParaRPr>
                    </a:p>
                  </a:txBody>
                  <a:tcPr marT="45725" marB="45725" marR="91450" marL="9145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l">
                        <a:spcBef>
                          <a:spcPts val="0"/>
                        </a:spcBef>
                        <a:spcAft>
                          <a:spcPts val="0"/>
                        </a:spcAft>
                        <a:buClr>
                          <a:srgbClr val="1A1A1A"/>
                        </a:buClr>
                        <a:buSzPts val="1200"/>
                        <a:buFont typeface="Calibri"/>
                        <a:buNone/>
                      </a:pPr>
                      <a:r>
                        <a:rPr lang="en-US" sz="1200">
                          <a:solidFill>
                            <a:srgbClr val="1A1A1A"/>
                          </a:solidFill>
                          <a:latin typeface="Calibri"/>
                          <a:ea typeface="Calibri"/>
                          <a:cs typeface="Calibri"/>
                          <a:sym typeface="Calibri"/>
                        </a:rPr>
                        <a:t>model training run, grid search logic, train/test split implementation, sglang support, report writing</a:t>
                      </a:r>
                      <a:endParaRPr sz="1200" u="none" cap="none" strike="noStrike">
                        <a:latin typeface="Calibri"/>
                        <a:ea typeface="Calibri"/>
                        <a:cs typeface="Calibri"/>
                        <a:sym typeface="Calibri"/>
                      </a:endParaRPr>
                    </a:p>
                  </a:txBody>
                  <a:tcPr marT="45725" marB="45725" marR="91450" marL="9145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l">
                        <a:spcBef>
                          <a:spcPts val="0"/>
                        </a:spcBef>
                        <a:spcAft>
                          <a:spcPts val="0"/>
                        </a:spcAft>
                        <a:buClr>
                          <a:srgbClr val="1A1A1A"/>
                        </a:buClr>
                        <a:buSzPts val="1200"/>
                        <a:buFont typeface="Calibri"/>
                        <a:buNone/>
                      </a:pPr>
                      <a:r>
                        <a:rPr lang="en-US" sz="1200">
                          <a:solidFill>
                            <a:srgbClr val="1A1A1A"/>
                          </a:solidFill>
                          <a:latin typeface="Calibri"/>
                          <a:ea typeface="Calibri"/>
                          <a:cs typeface="Calibri"/>
                          <a:sym typeface="Calibri"/>
                        </a:rPr>
                        <a:t>training/grid_search.py, scripts/create_dataset_splits.py, data/curated/*/benchmark_results.json, data/curated/*/dataset_clean.json, requirements.txt, sglang support in serving/benchmark_serving.py</a:t>
                      </a:r>
                      <a:endParaRPr sz="1200" u="none" cap="none" strike="noStrike">
                        <a:latin typeface="Calibri"/>
                        <a:ea typeface="Calibri"/>
                        <a:cs typeface="Calibri"/>
                        <a:sym typeface="Calibri"/>
                      </a:endParaRPr>
                    </a:p>
                  </a:txBody>
                  <a:tcPr marT="45725" marB="45725" marR="91450" marL="9145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652900">
                <a:tc>
                  <a:txBody>
                    <a:bodyPr/>
                    <a:lstStyle/>
                    <a:p>
                      <a:pPr indent="0" lvl="0" marL="0" marR="0" rtl="0" algn="l">
                        <a:spcBef>
                          <a:spcPts val="0"/>
                        </a:spcBef>
                        <a:spcAft>
                          <a:spcPts val="0"/>
                        </a:spcAft>
                        <a:buClr>
                          <a:srgbClr val="1A1A1A"/>
                        </a:buClr>
                        <a:buSzPts val="1200"/>
                        <a:buFont typeface="Calibri"/>
                        <a:buNone/>
                      </a:pPr>
                      <a:r>
                        <a:rPr lang="en-US" sz="1200">
                          <a:solidFill>
                            <a:srgbClr val="1A1A1A"/>
                          </a:solidFill>
                          <a:latin typeface="Calibri"/>
                          <a:ea typeface="Calibri"/>
                          <a:cs typeface="Calibri"/>
                          <a:sym typeface="Calibri"/>
                        </a:rPr>
                        <a:t>Jasmine Truong</a:t>
                      </a:r>
                      <a:endParaRPr sz="1200" u="none" cap="none" strike="noStrike">
                        <a:latin typeface="Calibri"/>
                        <a:ea typeface="Calibri"/>
                        <a:cs typeface="Calibri"/>
                        <a:sym typeface="Calibri"/>
                      </a:endParaRPr>
                    </a:p>
                  </a:txBody>
                  <a:tcPr marT="45725" marB="45725" marR="91450" marL="9145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l">
                        <a:spcBef>
                          <a:spcPts val="0"/>
                        </a:spcBef>
                        <a:spcAft>
                          <a:spcPts val="0"/>
                        </a:spcAft>
                        <a:buClr>
                          <a:srgbClr val="1A1A1A"/>
                        </a:buClr>
                        <a:buSzPts val="1200"/>
                        <a:buFont typeface="Calibri"/>
                        <a:buNone/>
                      </a:pPr>
                      <a:r>
                        <a:rPr lang="en-US" sz="1200">
                          <a:solidFill>
                            <a:srgbClr val="1A1A1A"/>
                          </a:solidFill>
                          <a:latin typeface="Calibri"/>
                          <a:ea typeface="Calibri"/>
                          <a:cs typeface="Calibri"/>
                          <a:sym typeface="Calibri"/>
                        </a:rPr>
                        <a:t>data pipeline, model retraining and evaluation, serving benchmarks, figures, and demo notebooks, report writing</a:t>
                      </a:r>
                      <a:endParaRPr sz="1200" u="none" cap="none" strike="noStrike">
                        <a:latin typeface="Calibri"/>
                        <a:ea typeface="Calibri"/>
                        <a:cs typeface="Calibri"/>
                        <a:sym typeface="Calibri"/>
                      </a:endParaRPr>
                    </a:p>
                  </a:txBody>
                  <a:tcPr marT="45725" marB="45725" marR="91450" marL="9145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l">
                        <a:spcBef>
                          <a:spcPts val="0"/>
                        </a:spcBef>
                        <a:spcAft>
                          <a:spcPts val="0"/>
                        </a:spcAft>
                        <a:buClr>
                          <a:srgbClr val="1A1A1A"/>
                        </a:buClr>
                        <a:buSzPts val="1200"/>
                        <a:buFont typeface="Calibri"/>
                        <a:buNone/>
                      </a:pPr>
                      <a:r>
                        <a:rPr lang="en-US" sz="1200">
                          <a:solidFill>
                            <a:srgbClr val="1A1A1A"/>
                          </a:solidFill>
                          <a:latin typeface="Calibri"/>
                          <a:ea typeface="Calibri"/>
                          <a:cs typeface="Calibri"/>
                          <a:sym typeface="Calibri"/>
                        </a:rPr>
                        <a:t>scripts/create_dataset_splits.py ,scripts/run_eval.sh, training/evaluate_model.py, training/select_training_data.py, </a:t>
                      </a:r>
                      <a:endParaRPr sz="1200">
                        <a:solidFill>
                          <a:srgbClr val="1A1A1A"/>
                        </a:solidFill>
                        <a:latin typeface="Calibri"/>
                        <a:ea typeface="Calibri"/>
                        <a:cs typeface="Calibri"/>
                        <a:sym typeface="Calibri"/>
                      </a:endParaRPr>
                    </a:p>
                    <a:p>
                      <a:pPr indent="0" lvl="0" marL="0" marR="0" rtl="0" algn="l">
                        <a:spcBef>
                          <a:spcPts val="0"/>
                        </a:spcBef>
                        <a:spcAft>
                          <a:spcPts val="0"/>
                        </a:spcAft>
                        <a:buClr>
                          <a:srgbClr val="1A1A1A"/>
                        </a:buClr>
                        <a:buSzPts val="1200"/>
                        <a:buFont typeface="Calibri"/>
                        <a:buNone/>
                      </a:pPr>
                      <a:r>
                        <a:rPr lang="en-US" sz="1200">
                          <a:solidFill>
                            <a:srgbClr val="1A1A1A"/>
                          </a:solidFill>
                          <a:latin typeface="Calibri"/>
                          <a:ea typeface="Calibri"/>
                          <a:cs typeface="Calibri"/>
                          <a:sym typeface="Calibri"/>
                        </a:rPr>
                        <a:t>notebooks/figures.ipynb, notebooks/demo.ipynb</a:t>
                      </a:r>
                      <a:endParaRPr sz="1200">
                        <a:solidFill>
                          <a:srgbClr val="1A1A1A"/>
                        </a:solidFill>
                        <a:latin typeface="Calibri"/>
                        <a:ea typeface="Calibri"/>
                        <a:cs typeface="Calibri"/>
                        <a:sym typeface="Calibri"/>
                      </a:endParaRPr>
                    </a:p>
                  </a:txBody>
                  <a:tcPr marT="45725" marB="45725" marR="91450" marL="9145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923375">
                <a:tc>
                  <a:txBody>
                    <a:bodyPr/>
                    <a:lstStyle/>
                    <a:p>
                      <a:pPr indent="0" lvl="0" marL="0" marR="0" rtl="0" algn="l">
                        <a:spcBef>
                          <a:spcPts val="0"/>
                        </a:spcBef>
                        <a:spcAft>
                          <a:spcPts val="0"/>
                        </a:spcAft>
                        <a:buClr>
                          <a:srgbClr val="1A1A1A"/>
                        </a:buClr>
                        <a:buSzPts val="1200"/>
                        <a:buFont typeface="Calibri"/>
                        <a:buNone/>
                      </a:pPr>
                      <a:r>
                        <a:rPr lang="en-US" sz="1200">
                          <a:solidFill>
                            <a:srgbClr val="1A1A1A"/>
                          </a:solidFill>
                          <a:latin typeface="Calibri"/>
                          <a:ea typeface="Calibri"/>
                          <a:cs typeface="Calibri"/>
                          <a:sym typeface="Calibri"/>
                        </a:rPr>
                        <a:t>Jianyi Gao</a:t>
                      </a:r>
                      <a:endParaRPr sz="1200" u="none" cap="none" strike="noStrike">
                        <a:latin typeface="Calibri"/>
                        <a:ea typeface="Calibri"/>
                        <a:cs typeface="Calibri"/>
                        <a:sym typeface="Calibri"/>
                      </a:endParaRPr>
                    </a:p>
                  </a:txBody>
                  <a:tcPr marT="45725" marB="45725" marR="91450" marL="9145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l">
                        <a:spcBef>
                          <a:spcPts val="0"/>
                        </a:spcBef>
                        <a:spcAft>
                          <a:spcPts val="0"/>
                        </a:spcAft>
                        <a:buClr>
                          <a:srgbClr val="1A1A1A"/>
                        </a:buClr>
                        <a:buSzPts val="1200"/>
                        <a:buFont typeface="Calibri"/>
                        <a:buNone/>
                      </a:pPr>
                      <a:r>
                        <a:rPr lang="en-US" sz="1200">
                          <a:solidFill>
                            <a:srgbClr val="1A1A1A"/>
                          </a:solidFill>
                          <a:latin typeface="Calibri"/>
                          <a:ea typeface="Calibri"/>
                          <a:cs typeface="Calibri"/>
                          <a:sym typeface="Calibri"/>
                        </a:rPr>
                        <a:t>data construction, </a:t>
                      </a:r>
                      <a:r>
                        <a:rPr lang="en-US" sz="1200">
                          <a:solidFill>
                            <a:srgbClr val="1A1A1A"/>
                          </a:solidFill>
                          <a:latin typeface="Calibri"/>
                          <a:ea typeface="Calibri"/>
                          <a:cs typeface="Calibri"/>
                          <a:sym typeface="Calibri"/>
                        </a:rPr>
                        <a:t>training</a:t>
                      </a:r>
                      <a:r>
                        <a:rPr lang="en-US" sz="1200">
                          <a:solidFill>
                            <a:srgbClr val="1A1A1A"/>
                          </a:solidFill>
                          <a:latin typeface="Calibri"/>
                          <a:ea typeface="Calibri"/>
                          <a:cs typeface="Calibri"/>
                          <a:sym typeface="Calibri"/>
                        </a:rPr>
                        <a:t> notebook and workflow updates, </a:t>
                      </a:r>
                      <a:r>
                        <a:rPr lang="en-US" sz="1200">
                          <a:solidFill>
                            <a:srgbClr val="1A1A1A"/>
                          </a:solidFill>
                          <a:latin typeface="Calibri"/>
                          <a:ea typeface="Calibri"/>
                          <a:cs typeface="Calibri"/>
                          <a:sym typeface="Calibri"/>
                        </a:rPr>
                        <a:t>ablation</a:t>
                      </a:r>
                      <a:r>
                        <a:rPr lang="en-US" sz="1200">
                          <a:solidFill>
                            <a:srgbClr val="1A1A1A"/>
                          </a:solidFill>
                          <a:latin typeface="Calibri"/>
                          <a:ea typeface="Calibri"/>
                          <a:cs typeface="Calibri"/>
                          <a:sym typeface="Calibri"/>
                        </a:rPr>
                        <a:t> evaluations, serving optimization benchmarking, report writing </a:t>
                      </a:r>
                      <a:endParaRPr sz="1200" u="none" cap="none" strike="noStrike">
                        <a:latin typeface="Calibri"/>
                        <a:ea typeface="Calibri"/>
                        <a:cs typeface="Calibri"/>
                        <a:sym typeface="Calibri"/>
                      </a:endParaRPr>
                    </a:p>
                  </a:txBody>
                  <a:tcPr marT="45725" marB="45725" marR="91450" marL="9145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US" sz="1200">
                          <a:latin typeface="Calibri"/>
                          <a:ea typeface="Calibri"/>
                          <a:cs typeface="Calibri"/>
                          <a:sym typeface="Calibri"/>
                        </a:rPr>
                        <a:t>training/data/control.jsonl, training/data/runtime_aware.jsonl, notebooks/train_smoke.ipynb,notebooks/efficient_codegen_system_optimization.ipynb,training/train.py,serving/benchmark_serving.py,serving/merge_checkpoint.py</a:t>
                      </a:r>
                      <a:endParaRPr sz="1200">
                        <a:latin typeface="Calibri"/>
                        <a:ea typeface="Calibri"/>
                        <a:cs typeface="Calibri"/>
                        <a:sym typeface="Calibri"/>
                      </a:endParaRPr>
                    </a:p>
                  </a:txBody>
                  <a:tcPr marT="45725" marB="45725" marR="91450" marL="9145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1399075">
                <a:tc>
                  <a:txBody>
                    <a:bodyPr/>
                    <a:lstStyle/>
                    <a:p>
                      <a:pPr indent="0" lvl="0" marL="0" marR="0" rtl="0" algn="l">
                        <a:spcBef>
                          <a:spcPts val="0"/>
                        </a:spcBef>
                        <a:spcAft>
                          <a:spcPts val="0"/>
                        </a:spcAft>
                        <a:buClr>
                          <a:srgbClr val="1A1A1A"/>
                        </a:buClr>
                        <a:buSzPts val="1200"/>
                        <a:buFont typeface="Calibri"/>
                        <a:buNone/>
                      </a:pPr>
                      <a:r>
                        <a:rPr lang="en-US" sz="1200">
                          <a:solidFill>
                            <a:srgbClr val="1A1A1A"/>
                          </a:solidFill>
                          <a:latin typeface="Calibri"/>
                          <a:ea typeface="Calibri"/>
                          <a:cs typeface="Calibri"/>
                          <a:sym typeface="Calibri"/>
                        </a:rPr>
                        <a:t>Yingxin Zhang</a:t>
                      </a:r>
                      <a:endParaRPr sz="1200" u="none" cap="none" strike="noStrike">
                        <a:latin typeface="Calibri"/>
                        <a:ea typeface="Calibri"/>
                        <a:cs typeface="Calibri"/>
                        <a:sym typeface="Calibri"/>
                      </a:endParaRPr>
                    </a:p>
                  </a:txBody>
                  <a:tcPr marT="45725" marB="45725" marR="91450" marL="9145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l">
                        <a:spcBef>
                          <a:spcPts val="0"/>
                        </a:spcBef>
                        <a:spcAft>
                          <a:spcPts val="0"/>
                        </a:spcAft>
                        <a:buClr>
                          <a:srgbClr val="1A1A1A"/>
                        </a:buClr>
                        <a:buSzPts val="1200"/>
                        <a:buFont typeface="Calibri"/>
                        <a:buNone/>
                      </a:pPr>
                      <a:r>
                        <a:rPr lang="en-US" sz="1200">
                          <a:solidFill>
                            <a:srgbClr val="1A1A1A"/>
                          </a:solidFill>
                          <a:latin typeface="Calibri"/>
                          <a:ea typeface="Calibri"/>
                          <a:cs typeface="Calibri"/>
                          <a:sym typeface="Calibri"/>
                        </a:rPr>
                        <a:t>data pipeline,  profiling pipeline and results analysis, integrated W&amp;B/TensorBoard tracking, report writing</a:t>
                      </a:r>
                      <a:endParaRPr sz="1200" u="none" cap="none" strike="noStrike">
                        <a:latin typeface="Calibri"/>
                        <a:ea typeface="Calibri"/>
                        <a:cs typeface="Calibri"/>
                        <a:sym typeface="Calibri"/>
                      </a:endParaRPr>
                    </a:p>
                  </a:txBody>
                  <a:tcPr marT="45725" marB="45725" marR="91450" marL="9145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l">
                        <a:spcBef>
                          <a:spcPts val="0"/>
                        </a:spcBef>
                        <a:spcAft>
                          <a:spcPts val="0"/>
                        </a:spcAft>
                        <a:buClr>
                          <a:srgbClr val="1A1A1A"/>
                        </a:buClr>
                        <a:buSzPts val="1200"/>
                        <a:buFont typeface="Calibri"/>
                        <a:buNone/>
                      </a:pPr>
                      <a:r>
                        <a:rPr lang="en-US" sz="1200">
                          <a:latin typeface="Calibri"/>
                          <a:ea typeface="Calibri"/>
                          <a:cs typeface="Calibri"/>
                          <a:sym typeface="Calibri"/>
                        </a:rPr>
                        <a:t>execution/filter_passing_candidates.py,execution/evaluate_candidates.py,execution/benchmark_candidates.py,profiling/</a:t>
                      </a:r>
                      <a:r>
                        <a:rPr lang="en-US" sz="1200" u="sng">
                          <a:solidFill>
                            <a:schemeClr val="hlink"/>
                          </a:solidFill>
                          <a:latin typeface="Calibri"/>
                          <a:ea typeface="Calibri"/>
                          <a:cs typeface="Calibri"/>
                          <a:sym typeface="Calibri"/>
                          <a:hlinkClick r:id="rId3"/>
                        </a:rPr>
                        <a:t>generation.py</a:t>
                      </a:r>
                      <a:r>
                        <a:rPr lang="en-US" sz="1200">
                          <a:latin typeface="Calibri"/>
                          <a:ea typeface="Calibri"/>
                          <a:cs typeface="Calibri"/>
                          <a:sym typeface="Calibri"/>
                        </a:rPr>
                        <a:t>,profiling/</a:t>
                      </a:r>
                      <a:r>
                        <a:rPr lang="en-US" sz="1200" u="sng">
                          <a:solidFill>
                            <a:schemeClr val="hlink"/>
                          </a:solidFill>
                          <a:latin typeface="Calibri"/>
                          <a:ea typeface="Calibri"/>
                          <a:cs typeface="Calibri"/>
                          <a:sym typeface="Calibri"/>
                          <a:hlinkClick r:id="rId4"/>
                        </a:rPr>
                        <a:t>roofline.py</a:t>
                      </a:r>
                      <a:r>
                        <a:rPr lang="en-US" sz="1200">
                          <a:latin typeface="Calibri"/>
                          <a:ea typeface="Calibri"/>
                          <a:cs typeface="Calibri"/>
                          <a:sym typeface="Calibri"/>
                        </a:rPr>
                        <a:t>,profiling/profile_operators.py, profiling/profile_model.py,notebooks/base_data_generation_evaluation_pipeline.ipynb,notebooks/base_model_gpu_profiling.ipynb, notebooks/gpu_profiling_comparison.ipynb </a:t>
                      </a:r>
                      <a:endParaRPr sz="1200" u="none" cap="none" strike="noStrike">
                        <a:latin typeface="Calibri"/>
                        <a:ea typeface="Calibri"/>
                        <a:cs typeface="Calibri"/>
                        <a:sym typeface="Calibri"/>
                      </a:endParaRPr>
                    </a:p>
                  </a:txBody>
                  <a:tcPr marT="45725" marB="45725" marR="91450" marL="9145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bl>
          </a:graphicData>
        </a:graphic>
      </p:graphicFrame>
      <p:sp>
        <p:nvSpPr>
          <p:cNvPr id="182" name="Google Shape;182;p12"/>
          <p:cNvSpPr/>
          <p:nvPr/>
        </p:nvSpPr>
        <p:spPr>
          <a:xfrm>
            <a:off x="458725" y="6172180"/>
            <a:ext cx="112746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F76"/>
              </a:buClr>
              <a:buSzPts val="1100"/>
              <a:buFont typeface="Calibri"/>
              <a:buNone/>
            </a:pPr>
            <a:r>
              <a:rPr b="0" i="1" lang="en-US" sz="1100" u="none" cap="none" strike="noStrike">
                <a:solidFill>
                  <a:srgbClr val="6B6F76"/>
                </a:solidFill>
                <a:latin typeface="Calibri"/>
                <a:ea typeface="Calibri"/>
                <a:cs typeface="Calibri"/>
                <a:sym typeface="Calibri"/>
              </a:rPr>
              <a:t>Collaboration: </a:t>
            </a:r>
            <a:r>
              <a:rPr i="1" lang="en-US" sz="1100">
                <a:solidFill>
                  <a:srgbClr val="6B6F76"/>
                </a:solidFill>
                <a:latin typeface="Calibri"/>
                <a:ea typeface="Calibri"/>
                <a:cs typeface="Calibri"/>
                <a:sym typeface="Calibri"/>
              </a:rPr>
              <a:t>biweekly meetings via Google Meet, ongoing </a:t>
            </a:r>
            <a:r>
              <a:rPr i="1" lang="en-US" sz="1100">
                <a:solidFill>
                  <a:srgbClr val="6B6F76"/>
                </a:solidFill>
                <a:latin typeface="Calibri"/>
                <a:ea typeface="Calibri"/>
                <a:cs typeface="Calibri"/>
                <a:sym typeface="Calibri"/>
              </a:rPr>
              <a:t>coordination</a:t>
            </a:r>
            <a:r>
              <a:rPr i="1" lang="en-US" sz="1100">
                <a:solidFill>
                  <a:srgbClr val="6B6F76"/>
                </a:solidFill>
                <a:latin typeface="Calibri"/>
                <a:ea typeface="Calibri"/>
                <a:cs typeface="Calibri"/>
                <a:sym typeface="Calibri"/>
              </a:rPr>
              <a:t> through an iMessage group chat, and code review on pull requests before merging.</a:t>
            </a:r>
            <a:endParaRPr b="0" i="0" sz="1100" u="none" cap="none" strike="noStrike">
              <a:solidFill>
                <a:schemeClr val="dk1"/>
              </a:solidFill>
              <a:latin typeface="Calibri"/>
              <a:ea typeface="Calibri"/>
              <a:cs typeface="Calibri"/>
              <a:sym typeface="Calibri"/>
            </a:endParaRPr>
          </a:p>
        </p:txBody>
      </p:sp>
      <p:sp>
        <p:nvSpPr>
          <p:cNvPr id="183" name="Google Shape;183;p12"/>
          <p:cNvSpPr/>
          <p:nvPr/>
        </p:nvSpPr>
        <p:spPr>
          <a:xfrm>
            <a:off x="457200" y="653796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F76"/>
              </a:buClr>
              <a:buSzPts val="1000"/>
              <a:buFont typeface="Calibri"/>
              <a:buNone/>
            </a:pPr>
            <a:r>
              <a:rPr b="0" i="1" lang="en-US" sz="1000" u="none" cap="none" strike="noStrike">
                <a:solidFill>
                  <a:srgbClr val="6B6F76"/>
                </a:solidFill>
                <a:latin typeface="Calibri"/>
                <a:ea typeface="Calibri"/>
                <a:cs typeface="Calibri"/>
                <a:sym typeface="Calibri"/>
              </a:rPr>
              <a:t>HPML · Spring 2026</a:t>
            </a:r>
            <a:endParaRPr b="0" i="0" sz="1000" u="none" cap="none" strike="noStrike">
              <a:solidFill>
                <a:schemeClr val="dk1"/>
              </a:solidFill>
              <a:latin typeface="Calibri"/>
              <a:ea typeface="Calibri"/>
              <a:cs typeface="Calibri"/>
              <a:sym typeface="Calibri"/>
            </a:endParaRPr>
          </a:p>
        </p:txBody>
      </p:sp>
      <p:sp>
        <p:nvSpPr>
          <p:cNvPr id="184" name="Google Shape;184;p12"/>
          <p:cNvSpPr/>
          <p:nvPr/>
        </p:nvSpPr>
        <p:spPr>
          <a:xfrm>
            <a:off x="6245352" y="6537960"/>
            <a:ext cx="54864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6F76"/>
              </a:buClr>
              <a:buSzPts val="1000"/>
              <a:buFont typeface="Calibri"/>
              <a:buNone/>
            </a:pPr>
            <a:r>
              <a:rPr b="0" i="0" lang="en-US" sz="1000" u="none" cap="none" strike="noStrike">
                <a:solidFill>
                  <a:srgbClr val="6B6F76"/>
                </a:solidFill>
                <a:latin typeface="Calibri"/>
                <a:ea typeface="Calibri"/>
                <a:cs typeface="Calibri"/>
                <a:sym typeface="Calibri"/>
              </a:rPr>
              <a:t>12 / 14</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C1F26"/>
        </a:solidFill>
      </p:bgPr>
    </p:bg>
    <p:spTree>
      <p:nvGrpSpPr>
        <p:cNvPr id="189" name="Shape 189"/>
        <p:cNvGrpSpPr/>
        <p:nvPr/>
      </p:nvGrpSpPr>
      <p:grpSpPr>
        <a:xfrm>
          <a:off x="0" y="0"/>
          <a:ext cx="0" cy="0"/>
          <a:chOff x="0" y="0"/>
          <a:chExt cx="0" cy="0"/>
        </a:xfrm>
      </p:grpSpPr>
      <p:sp>
        <p:nvSpPr>
          <p:cNvPr id="190" name="Google Shape;190;p13"/>
          <p:cNvSpPr/>
          <p:nvPr/>
        </p:nvSpPr>
        <p:spPr>
          <a:xfrm>
            <a:off x="548640" y="2194560"/>
            <a:ext cx="10972800" cy="10972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6400"/>
              <a:buFont typeface="Calibri"/>
              <a:buNone/>
            </a:pPr>
            <a:r>
              <a:rPr b="1" i="0" lang="en-US" sz="6400" u="none" cap="none" strike="noStrike">
                <a:solidFill>
                  <a:srgbClr val="FFFFFF"/>
                </a:solidFill>
                <a:latin typeface="Calibri"/>
                <a:ea typeface="Calibri"/>
                <a:cs typeface="Calibri"/>
                <a:sym typeface="Calibri"/>
              </a:rPr>
              <a:t>Thank you</a:t>
            </a:r>
            <a:endParaRPr b="0" i="0" sz="6400" u="none" cap="none" strike="noStrike">
              <a:solidFill>
                <a:schemeClr val="dk1"/>
              </a:solidFill>
              <a:latin typeface="Calibri"/>
              <a:ea typeface="Calibri"/>
              <a:cs typeface="Calibri"/>
              <a:sym typeface="Calibri"/>
            </a:endParaRPr>
          </a:p>
        </p:txBody>
      </p:sp>
      <p:sp>
        <p:nvSpPr>
          <p:cNvPr id="191" name="Google Shape;191;p13"/>
          <p:cNvSpPr/>
          <p:nvPr/>
        </p:nvSpPr>
        <p:spPr>
          <a:xfrm>
            <a:off x="548640" y="3200400"/>
            <a:ext cx="109728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BCC4"/>
              </a:buClr>
              <a:buSzPts val="2800"/>
              <a:buFont typeface="Calibri"/>
              <a:buNone/>
            </a:pPr>
            <a:r>
              <a:rPr b="0" i="1" lang="en-US" sz="2800" u="none" cap="none" strike="noStrike">
                <a:solidFill>
                  <a:srgbClr val="B8BCC4"/>
                </a:solidFill>
                <a:latin typeface="Calibri"/>
                <a:ea typeface="Calibri"/>
                <a:cs typeface="Calibri"/>
                <a:sym typeface="Calibri"/>
              </a:rPr>
              <a:t>Questions?</a:t>
            </a:r>
            <a:endParaRPr b="0" i="0" sz="2800" u="none" cap="none" strike="noStrike">
              <a:solidFill>
                <a:schemeClr val="dk1"/>
              </a:solidFill>
              <a:latin typeface="Calibri"/>
              <a:ea typeface="Calibri"/>
              <a:cs typeface="Calibri"/>
              <a:sym typeface="Calibri"/>
            </a:endParaRPr>
          </a:p>
        </p:txBody>
      </p:sp>
      <p:sp>
        <p:nvSpPr>
          <p:cNvPr id="192" name="Google Shape;192;p13"/>
          <p:cNvSpPr/>
          <p:nvPr/>
        </p:nvSpPr>
        <p:spPr>
          <a:xfrm>
            <a:off x="548640" y="4572000"/>
            <a:ext cx="10972800" cy="10972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600"/>
              <a:buFont typeface="Calibri"/>
              <a:buNone/>
            </a:pPr>
            <a:r>
              <a:rPr b="0" i="0" lang="en-US" sz="1600" u="none" cap="none" strike="noStrike">
                <a:solidFill>
                  <a:srgbClr val="FFFFFF"/>
                </a:solidFill>
                <a:latin typeface="Calibri"/>
                <a:ea typeface="Calibri"/>
                <a:cs typeface="Calibri"/>
                <a:sym typeface="Calibri"/>
              </a:rPr>
              <a:t>GitHub: </a:t>
            </a:r>
            <a:r>
              <a:rPr lang="en-US" sz="1600">
                <a:solidFill>
                  <a:schemeClr val="lt1"/>
                </a:solidFill>
                <a:latin typeface="Calibri"/>
                <a:ea typeface="Calibri"/>
                <a:cs typeface="Calibri"/>
                <a:sym typeface="Calibri"/>
              </a:rPr>
              <a:t> </a:t>
            </a:r>
            <a:r>
              <a:rPr lang="en-US" sz="1600" u="sng">
                <a:solidFill>
                  <a:schemeClr val="lt1"/>
                </a:solidFill>
                <a:latin typeface="Calibri"/>
                <a:ea typeface="Calibri"/>
                <a:cs typeface="Calibri"/>
                <a:sym typeface="Calibri"/>
                <a:hlinkClick r:id="rId3">
                  <a:extLst>
                    <a:ext uri="{A12FA001-AC4F-418D-AE19-62706E023703}">
                      <ahyp:hlinkClr val="tx"/>
                    </a:ext>
                  </a:extLst>
                </a:hlinkClick>
              </a:rPr>
              <a:t>https://github.com/jasmineztruong8/efficient-codegen/tree/main</a:t>
            </a:r>
            <a:endParaRPr i="0" sz="1600" u="none" cap="none" strike="noStrike">
              <a:solidFill>
                <a:schemeClr val="lt1"/>
              </a:solidFill>
              <a:latin typeface="Calibri"/>
              <a:ea typeface="Calibri"/>
              <a:cs typeface="Calibri"/>
              <a:sym typeface="Calibri"/>
            </a:endParaRPr>
          </a:p>
          <a:p>
            <a:pPr indent="0" lvl="0" marL="0" marR="0" rtl="0" algn="l">
              <a:spcBef>
                <a:spcPts val="0"/>
              </a:spcBef>
              <a:spcAft>
                <a:spcPts val="0"/>
              </a:spcAft>
              <a:buClr>
                <a:srgbClr val="FFFFFF"/>
              </a:buClr>
              <a:buSzPts val="1600"/>
              <a:buFont typeface="Calibri"/>
              <a:buNone/>
            </a:pPr>
            <a:r>
              <a:rPr lang="en-US" sz="1600">
                <a:solidFill>
                  <a:schemeClr val="lt1"/>
                </a:solidFill>
                <a:latin typeface="Calibri"/>
                <a:ea typeface="Calibri"/>
                <a:cs typeface="Calibri"/>
                <a:sym typeface="Calibri"/>
              </a:rPr>
              <a:t>Tracking:  </a:t>
            </a:r>
            <a:r>
              <a:rPr lang="en-US" sz="1600" u="sng">
                <a:solidFill>
                  <a:schemeClr val="lt1"/>
                </a:solidFill>
                <a:latin typeface="Calibri"/>
                <a:ea typeface="Calibri"/>
                <a:cs typeface="Calibri"/>
                <a:sym typeface="Calibri"/>
                <a:hlinkClick r:id="rId4">
                  <a:extLst>
                    <a:ext uri="{A12FA001-AC4F-418D-AE19-62706E023703}">
                      <ahyp:hlinkClr val="tx"/>
                    </a:ext>
                  </a:extLst>
                </a:hlinkClick>
              </a:rPr>
              <a:t>https://wandb.ai/efficient-codegen/hpml-efficient-codegen</a:t>
            </a:r>
            <a:endParaRPr b="0" i="0" sz="1600" u="none" cap="none" strike="noStrike">
              <a:solidFill>
                <a:schemeClr val="dk1"/>
              </a:solidFill>
              <a:latin typeface="Calibri"/>
              <a:ea typeface="Calibri"/>
              <a:cs typeface="Calibri"/>
              <a:sym typeface="Calibri"/>
            </a:endParaRPr>
          </a:p>
        </p:txBody>
      </p:sp>
      <p:sp>
        <p:nvSpPr>
          <p:cNvPr id="193" name="Google Shape;193;p13"/>
          <p:cNvSpPr/>
          <p:nvPr/>
        </p:nvSpPr>
        <p:spPr>
          <a:xfrm>
            <a:off x="457200" y="653796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E939A"/>
              </a:buClr>
              <a:buSzPts val="1000"/>
              <a:buFont typeface="Calibri"/>
              <a:buNone/>
            </a:pPr>
            <a:r>
              <a:rPr b="0" i="1" lang="en-US" sz="1000" u="none" cap="none" strike="noStrike">
                <a:solidFill>
                  <a:srgbClr val="8E939A"/>
                </a:solidFill>
                <a:latin typeface="Calibri"/>
                <a:ea typeface="Calibri"/>
                <a:cs typeface="Calibri"/>
                <a:sym typeface="Calibri"/>
              </a:rPr>
              <a:t>HPML · Spring 2026</a:t>
            </a:r>
            <a:endParaRPr b="0" i="0" sz="1000" u="none" cap="none" strike="noStrike">
              <a:solidFill>
                <a:schemeClr val="dk1"/>
              </a:solidFill>
              <a:latin typeface="Calibri"/>
              <a:ea typeface="Calibri"/>
              <a:cs typeface="Calibri"/>
              <a:sym typeface="Calibri"/>
            </a:endParaRPr>
          </a:p>
        </p:txBody>
      </p:sp>
      <p:sp>
        <p:nvSpPr>
          <p:cNvPr id="194" name="Google Shape;194;p13"/>
          <p:cNvSpPr/>
          <p:nvPr/>
        </p:nvSpPr>
        <p:spPr>
          <a:xfrm>
            <a:off x="6245352" y="6537960"/>
            <a:ext cx="54864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E939A"/>
              </a:buClr>
              <a:buSzPts val="1000"/>
              <a:buFont typeface="Calibri"/>
              <a:buNone/>
            </a:pPr>
            <a:r>
              <a:rPr b="0" i="0" lang="en-US" sz="1000" u="none" cap="none" strike="noStrike">
                <a:solidFill>
                  <a:srgbClr val="8E939A"/>
                </a:solidFill>
                <a:latin typeface="Calibri"/>
                <a:ea typeface="Calibri"/>
                <a:cs typeface="Calibri"/>
                <a:sym typeface="Calibri"/>
              </a:rPr>
              <a:t>13 / 14</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FFFFF"/>
        </a:solidFill>
      </p:bgPr>
    </p:bg>
    <p:spTree>
      <p:nvGrpSpPr>
        <p:cNvPr id="199" name="Shape 199"/>
        <p:cNvGrpSpPr/>
        <p:nvPr/>
      </p:nvGrpSpPr>
      <p:grpSpPr>
        <a:xfrm>
          <a:off x="0" y="0"/>
          <a:ext cx="0" cy="0"/>
          <a:chOff x="0" y="0"/>
          <a:chExt cx="0" cy="0"/>
        </a:xfrm>
      </p:grpSpPr>
      <p:sp>
        <p:nvSpPr>
          <p:cNvPr id="200" name="Google Shape;200;p14"/>
          <p:cNvSpPr/>
          <p:nvPr/>
        </p:nvSpPr>
        <p:spPr>
          <a:xfrm>
            <a:off x="457200" y="502920"/>
            <a:ext cx="11274552"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3200"/>
              <a:buFont typeface="Calibri"/>
              <a:buNone/>
            </a:pPr>
            <a:r>
              <a:rPr b="1" i="0" lang="en-US" sz="3200" u="none" cap="none" strike="noStrike">
                <a:solidFill>
                  <a:srgbClr val="1A1A1A"/>
                </a:solidFill>
                <a:latin typeface="Calibri"/>
                <a:ea typeface="Calibri"/>
                <a:cs typeface="Calibri"/>
                <a:sym typeface="Calibri"/>
              </a:rPr>
              <a:t>Backup — Experimental Setup</a:t>
            </a:r>
            <a:endParaRPr b="0" i="0" sz="3200" u="none" cap="none" strike="noStrike">
              <a:solidFill>
                <a:schemeClr val="dk1"/>
              </a:solidFill>
              <a:latin typeface="Calibri"/>
              <a:ea typeface="Calibri"/>
              <a:cs typeface="Calibri"/>
              <a:sym typeface="Calibri"/>
            </a:endParaRPr>
          </a:p>
        </p:txBody>
      </p:sp>
      <p:cxnSp>
        <p:nvCxnSpPr>
          <p:cNvPr id="201" name="Google Shape;201;p14"/>
          <p:cNvCxnSpPr/>
          <p:nvPr/>
        </p:nvCxnSpPr>
        <p:spPr>
          <a:xfrm>
            <a:off x="457200" y="1188720"/>
            <a:ext cx="11274552" cy="0"/>
          </a:xfrm>
          <a:prstGeom prst="straightConnector1">
            <a:avLst/>
          </a:prstGeom>
          <a:noFill/>
          <a:ln cap="flat" cmpd="sng" w="9525">
            <a:solidFill>
              <a:srgbClr val="D9D9D9"/>
            </a:solidFill>
            <a:prstDash val="solid"/>
            <a:round/>
            <a:headEnd len="sm" w="sm" type="none"/>
            <a:tailEnd len="sm" w="sm" type="none"/>
          </a:ln>
        </p:spPr>
      </p:cxnSp>
      <p:sp>
        <p:nvSpPr>
          <p:cNvPr id="202" name="Google Shape;202;p14"/>
          <p:cNvSpPr/>
          <p:nvPr/>
        </p:nvSpPr>
        <p:spPr>
          <a:xfrm>
            <a:off x="457200" y="1325880"/>
            <a:ext cx="10972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F76"/>
              </a:buClr>
              <a:buSzPts val="1000"/>
              <a:buFont typeface="Calibri"/>
              <a:buNone/>
            </a:pPr>
            <a:r>
              <a:rPr b="0" i="1" lang="en-US" sz="1000" u="none" cap="none" strike="noStrike">
                <a:solidFill>
                  <a:srgbClr val="6B6F76"/>
                </a:solidFill>
                <a:latin typeface="Calibri"/>
                <a:ea typeface="Calibri"/>
                <a:cs typeface="Calibri"/>
                <a:sym typeface="Calibri"/>
              </a:rPr>
              <a:t>Backup slide. Use for Q&amp;A. Add more backup slides as needed.</a:t>
            </a:r>
            <a:endParaRPr b="0" i="0" sz="1000" u="none" cap="none" strike="noStrike">
              <a:solidFill>
                <a:schemeClr val="dk1"/>
              </a:solidFill>
              <a:latin typeface="Calibri"/>
              <a:ea typeface="Calibri"/>
              <a:cs typeface="Calibri"/>
              <a:sym typeface="Calibri"/>
            </a:endParaRPr>
          </a:p>
        </p:txBody>
      </p:sp>
      <p:graphicFrame>
        <p:nvGraphicFramePr>
          <p:cNvPr id="203" name="Google Shape;203;p14"/>
          <p:cNvGraphicFramePr/>
          <p:nvPr/>
        </p:nvGraphicFramePr>
        <p:xfrm>
          <a:off x="457200" y="1828800"/>
          <a:ext cx="3000000" cy="3000000"/>
        </p:xfrm>
        <a:graphic>
          <a:graphicData uri="http://schemas.openxmlformats.org/drawingml/2006/table">
            <a:tbl>
              <a:tblPr>
                <a:noFill/>
                <a:tableStyleId>{73E11948-DB1B-41D1-BC01-8EEC76C1B601}</a:tableStyleId>
              </a:tblPr>
              <a:tblGrid>
                <a:gridCol w="3200400"/>
                <a:gridCol w="4023350"/>
                <a:gridCol w="4050800"/>
              </a:tblGrid>
              <a:tr h="411475">
                <a:tc>
                  <a:txBody>
                    <a:bodyPr/>
                    <a:lstStyle/>
                    <a:p>
                      <a:pPr indent="0" lvl="0" marL="0" marR="0" rtl="0" algn="l">
                        <a:spcBef>
                          <a:spcPts val="0"/>
                        </a:spcBef>
                        <a:spcAft>
                          <a:spcPts val="0"/>
                        </a:spcAft>
                        <a:buClr>
                          <a:srgbClr val="1A1A1A"/>
                        </a:buClr>
                        <a:buSzPts val="1300"/>
                        <a:buFont typeface="Calibri"/>
                        <a:buNone/>
                      </a:pPr>
                      <a:r>
                        <a:rPr b="1" lang="en-US" sz="1300" u="none" cap="none" strike="noStrike">
                          <a:solidFill>
                            <a:srgbClr val="1A1A1A"/>
                          </a:solidFill>
                          <a:latin typeface="Calibri"/>
                          <a:ea typeface="Calibri"/>
                          <a:cs typeface="Calibri"/>
                          <a:sym typeface="Calibri"/>
                        </a:rPr>
                        <a:t>Setting</a:t>
                      </a:r>
                      <a:endParaRPr sz="1300" u="none" cap="none" strike="noStrike">
                        <a:latin typeface="Calibri"/>
                        <a:ea typeface="Calibri"/>
                        <a:cs typeface="Calibri"/>
                        <a:sym typeface="Calibri"/>
                      </a:endParaRPr>
                    </a:p>
                  </a:txBody>
                  <a:tcPr marT="45725" marB="45725" marR="91450" marL="9145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Clr>
                          <a:srgbClr val="1A1A1A"/>
                        </a:buClr>
                        <a:buSzPts val="1300"/>
                        <a:buFont typeface="Calibri"/>
                        <a:buNone/>
                      </a:pPr>
                      <a:r>
                        <a:rPr b="1" lang="en-US" sz="1300">
                          <a:solidFill>
                            <a:srgbClr val="1A1A1A"/>
                          </a:solidFill>
                          <a:latin typeface="Calibri"/>
                          <a:ea typeface="Calibri"/>
                          <a:cs typeface="Calibri"/>
                          <a:sym typeface="Calibri"/>
                        </a:rPr>
                        <a:t>HuggingFace Baseline</a:t>
                      </a:r>
                      <a:endParaRPr sz="1300" u="none" cap="none" strike="noStrike">
                        <a:latin typeface="Calibri"/>
                        <a:ea typeface="Calibri"/>
                        <a:cs typeface="Calibri"/>
                        <a:sym typeface="Calibri"/>
                      </a:endParaRPr>
                    </a:p>
                  </a:txBody>
                  <a:tcPr marT="45725" marB="45725" marR="91450" marL="9145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Clr>
                          <a:srgbClr val="1A1A1A"/>
                        </a:buClr>
                        <a:buSzPts val="1300"/>
                        <a:buFont typeface="Calibri"/>
                        <a:buNone/>
                      </a:pPr>
                      <a:r>
                        <a:rPr b="1" lang="en-US" sz="1300">
                          <a:solidFill>
                            <a:srgbClr val="1A1A1A"/>
                          </a:solidFill>
                          <a:latin typeface="Calibri"/>
                          <a:ea typeface="Calibri"/>
                          <a:cs typeface="Calibri"/>
                          <a:sym typeface="Calibri"/>
                        </a:rPr>
                        <a:t>vLLM </a:t>
                      </a:r>
                      <a:r>
                        <a:rPr b="1" lang="en-US" sz="1300" u="none" cap="none" strike="noStrike">
                          <a:solidFill>
                            <a:srgbClr val="1A1A1A"/>
                          </a:solidFill>
                          <a:latin typeface="Calibri"/>
                          <a:ea typeface="Calibri"/>
                          <a:cs typeface="Calibri"/>
                          <a:sym typeface="Calibri"/>
                        </a:rPr>
                        <a:t>Optimized</a:t>
                      </a:r>
                      <a:endParaRPr sz="1300" u="none" cap="none" strike="noStrike">
                        <a:latin typeface="Calibri"/>
                        <a:ea typeface="Calibri"/>
                        <a:cs typeface="Calibri"/>
                        <a:sym typeface="Calibri"/>
                      </a:endParaRPr>
                    </a:p>
                  </a:txBody>
                  <a:tcPr marT="45725" marB="45725" marR="91450" marL="9145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2F2F2"/>
                    </a:solidFill>
                  </a:tcPr>
                </a:tc>
              </a:tr>
              <a:tr h="411475">
                <a:tc>
                  <a:txBody>
                    <a:bodyPr/>
                    <a:lstStyle/>
                    <a:p>
                      <a:pPr indent="0" lvl="0" marL="0" marR="0" rtl="0" algn="l">
                        <a:spcBef>
                          <a:spcPts val="0"/>
                        </a:spcBef>
                        <a:spcAft>
                          <a:spcPts val="0"/>
                        </a:spcAft>
                        <a:buClr>
                          <a:srgbClr val="1A1A1A"/>
                        </a:buClr>
                        <a:buSzPts val="1200"/>
                        <a:buFont typeface="Calibri"/>
                        <a:buNone/>
                      </a:pPr>
                      <a:r>
                        <a:rPr lang="en-US" sz="1200" u="none" cap="none" strike="noStrike">
                          <a:solidFill>
                            <a:srgbClr val="1A1A1A"/>
                          </a:solidFill>
                          <a:latin typeface="Calibri"/>
                          <a:ea typeface="Calibri"/>
                          <a:cs typeface="Calibri"/>
                          <a:sym typeface="Calibri"/>
                        </a:rPr>
                        <a:t>Batch size</a:t>
                      </a:r>
                      <a:endParaRPr sz="1200" u="none" cap="none" strike="noStrike">
                        <a:latin typeface="Calibri"/>
                        <a:ea typeface="Calibri"/>
                        <a:cs typeface="Calibri"/>
                        <a:sym typeface="Calibri"/>
                      </a:endParaRPr>
                    </a:p>
                  </a:txBody>
                  <a:tcPr marT="45725" marB="45725" marR="91450" marL="9145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l">
                        <a:spcBef>
                          <a:spcPts val="0"/>
                        </a:spcBef>
                        <a:spcAft>
                          <a:spcPts val="0"/>
                        </a:spcAft>
                        <a:buClr>
                          <a:srgbClr val="1A1A1A"/>
                        </a:buClr>
                        <a:buSzPts val="1200"/>
                        <a:buFont typeface="Calibri"/>
                        <a:buNone/>
                      </a:pPr>
                      <a:r>
                        <a:rPr lang="en-US" sz="1200">
                          <a:solidFill>
                            <a:srgbClr val="1A1A1A"/>
                          </a:solidFill>
                          <a:latin typeface="Calibri"/>
                          <a:ea typeface="Calibri"/>
                          <a:cs typeface="Calibri"/>
                          <a:sym typeface="Calibri"/>
                        </a:rPr>
                        <a:t>8</a:t>
                      </a:r>
                      <a:endParaRPr sz="1200" u="none" cap="none" strike="noStrike">
                        <a:latin typeface="Calibri"/>
                        <a:ea typeface="Calibri"/>
                        <a:cs typeface="Calibri"/>
                        <a:sym typeface="Calibri"/>
                      </a:endParaRPr>
                    </a:p>
                  </a:txBody>
                  <a:tcPr marT="45725" marB="45725" marR="91450" marL="9145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l">
                        <a:spcBef>
                          <a:spcPts val="0"/>
                        </a:spcBef>
                        <a:spcAft>
                          <a:spcPts val="0"/>
                        </a:spcAft>
                        <a:buClr>
                          <a:srgbClr val="1A1A1A"/>
                        </a:buClr>
                        <a:buSzPts val="1200"/>
                        <a:buFont typeface="Calibri"/>
                        <a:buNone/>
                      </a:pPr>
                      <a:r>
                        <a:rPr lang="en-US" sz="1200">
                          <a:solidFill>
                            <a:srgbClr val="1A1A1A"/>
                          </a:solidFill>
                          <a:latin typeface="Calibri"/>
                          <a:ea typeface="Calibri"/>
                          <a:cs typeface="Calibri"/>
                          <a:sym typeface="Calibri"/>
                        </a:rPr>
                        <a:t>32</a:t>
                      </a:r>
                      <a:endParaRPr sz="1200" u="none" cap="none" strike="noStrike">
                        <a:latin typeface="Calibri"/>
                        <a:ea typeface="Calibri"/>
                        <a:cs typeface="Calibri"/>
                        <a:sym typeface="Calibri"/>
                      </a:endParaRPr>
                    </a:p>
                  </a:txBody>
                  <a:tcPr marT="45725" marB="45725" marR="91450" marL="9145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411475">
                <a:tc>
                  <a:txBody>
                    <a:bodyPr/>
                    <a:lstStyle/>
                    <a:p>
                      <a:pPr indent="0" lvl="0" marL="0" marR="0" rtl="0" algn="l">
                        <a:spcBef>
                          <a:spcPts val="0"/>
                        </a:spcBef>
                        <a:spcAft>
                          <a:spcPts val="0"/>
                        </a:spcAft>
                        <a:buClr>
                          <a:srgbClr val="1A1A1A"/>
                        </a:buClr>
                        <a:buSzPts val="1200"/>
                        <a:buFont typeface="Calibri"/>
                        <a:buNone/>
                      </a:pPr>
                      <a:r>
                        <a:rPr lang="en-US" sz="1200" u="none" cap="none" strike="noStrike">
                          <a:solidFill>
                            <a:srgbClr val="1A1A1A"/>
                          </a:solidFill>
                          <a:latin typeface="Calibri"/>
                          <a:ea typeface="Calibri"/>
                          <a:cs typeface="Calibri"/>
                          <a:sym typeface="Calibri"/>
                        </a:rPr>
                        <a:t>Precision</a:t>
                      </a:r>
                      <a:endParaRPr sz="1200" u="none" cap="none" strike="noStrike">
                        <a:latin typeface="Calibri"/>
                        <a:ea typeface="Calibri"/>
                        <a:cs typeface="Calibri"/>
                        <a:sym typeface="Calibri"/>
                      </a:endParaRPr>
                    </a:p>
                  </a:txBody>
                  <a:tcPr marT="45725" marB="45725" marR="91450" marL="9145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l">
                        <a:spcBef>
                          <a:spcPts val="0"/>
                        </a:spcBef>
                        <a:spcAft>
                          <a:spcPts val="0"/>
                        </a:spcAft>
                        <a:buClr>
                          <a:srgbClr val="1A1A1A"/>
                        </a:buClr>
                        <a:buSzPts val="1200"/>
                        <a:buFont typeface="Calibri"/>
                        <a:buNone/>
                      </a:pPr>
                      <a:r>
                        <a:rPr lang="en-US" sz="1200">
                          <a:solidFill>
                            <a:srgbClr val="1A1A1A"/>
                          </a:solidFill>
                          <a:latin typeface="Calibri"/>
                          <a:ea typeface="Calibri"/>
                          <a:cs typeface="Calibri"/>
                          <a:sym typeface="Calibri"/>
                        </a:rPr>
                        <a:t>BF16 if supported, else FP16</a:t>
                      </a:r>
                      <a:endParaRPr sz="1200" u="none" cap="none" strike="noStrike">
                        <a:latin typeface="Calibri"/>
                        <a:ea typeface="Calibri"/>
                        <a:cs typeface="Calibri"/>
                        <a:sym typeface="Calibri"/>
                      </a:endParaRPr>
                    </a:p>
                  </a:txBody>
                  <a:tcPr marT="45725" marB="45725" marR="91450" marL="9145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l">
                        <a:spcBef>
                          <a:spcPts val="0"/>
                        </a:spcBef>
                        <a:spcAft>
                          <a:spcPts val="0"/>
                        </a:spcAft>
                        <a:buClr>
                          <a:srgbClr val="1A1A1A"/>
                        </a:buClr>
                        <a:buSzPts val="1200"/>
                        <a:buFont typeface="Calibri"/>
                        <a:buNone/>
                      </a:pPr>
                      <a:r>
                        <a:rPr lang="en-US" sz="1200">
                          <a:solidFill>
                            <a:srgbClr val="1A1A1A"/>
                          </a:solidFill>
                          <a:latin typeface="Calibri"/>
                          <a:ea typeface="Calibri"/>
                          <a:cs typeface="Calibri"/>
                          <a:sym typeface="Calibri"/>
                        </a:rPr>
                        <a:t>BF16 if supported, else FP16</a:t>
                      </a:r>
                      <a:endParaRPr sz="1200" u="none" cap="none" strike="noStrike">
                        <a:latin typeface="Calibri"/>
                        <a:ea typeface="Calibri"/>
                        <a:cs typeface="Calibri"/>
                        <a:sym typeface="Calibri"/>
                      </a:endParaRPr>
                    </a:p>
                  </a:txBody>
                  <a:tcPr marT="45725" marB="45725" marR="91450" marL="9145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411475">
                <a:tc>
                  <a:txBody>
                    <a:bodyPr/>
                    <a:lstStyle/>
                    <a:p>
                      <a:pPr indent="0" lvl="0" marL="0" marR="0" rtl="0" algn="l">
                        <a:spcBef>
                          <a:spcPts val="0"/>
                        </a:spcBef>
                        <a:spcAft>
                          <a:spcPts val="0"/>
                        </a:spcAft>
                        <a:buClr>
                          <a:srgbClr val="1A1A1A"/>
                        </a:buClr>
                        <a:buSzPts val="1200"/>
                        <a:buFont typeface="Calibri"/>
                        <a:buNone/>
                      </a:pPr>
                      <a:r>
                        <a:rPr lang="en-US" sz="1200" u="none" cap="none" strike="noStrike">
                          <a:solidFill>
                            <a:srgbClr val="1A1A1A"/>
                          </a:solidFill>
                          <a:latin typeface="Calibri"/>
                          <a:ea typeface="Calibri"/>
                          <a:cs typeface="Calibri"/>
                          <a:sym typeface="Calibri"/>
                        </a:rPr>
                        <a:t>Sequence length</a:t>
                      </a:r>
                      <a:endParaRPr sz="1200" u="none" cap="none" strike="noStrike">
                        <a:latin typeface="Calibri"/>
                        <a:ea typeface="Calibri"/>
                        <a:cs typeface="Calibri"/>
                        <a:sym typeface="Calibri"/>
                      </a:endParaRPr>
                    </a:p>
                  </a:txBody>
                  <a:tcPr marT="45725" marB="45725" marR="91450" marL="9145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l">
                        <a:spcBef>
                          <a:spcPts val="0"/>
                        </a:spcBef>
                        <a:spcAft>
                          <a:spcPts val="0"/>
                        </a:spcAft>
                        <a:buClr>
                          <a:srgbClr val="1A1A1A"/>
                        </a:buClr>
                        <a:buSzPts val="1200"/>
                        <a:buFont typeface="Calibri"/>
                        <a:buNone/>
                      </a:pPr>
                      <a:r>
                        <a:rPr lang="en-US" sz="1200">
                          <a:solidFill>
                            <a:srgbClr val="1A1A1A"/>
                          </a:solidFill>
                          <a:latin typeface="Calibri"/>
                          <a:ea typeface="Calibri"/>
                          <a:cs typeface="Calibri"/>
                          <a:sym typeface="Calibri"/>
                        </a:rPr>
                        <a:t>input truncated to 1024</a:t>
                      </a:r>
                      <a:endParaRPr sz="1200" u="none" cap="none" strike="noStrike">
                        <a:latin typeface="Calibri"/>
                        <a:ea typeface="Calibri"/>
                        <a:cs typeface="Calibri"/>
                        <a:sym typeface="Calibri"/>
                      </a:endParaRPr>
                    </a:p>
                  </a:txBody>
                  <a:tcPr marT="45725" marB="45725" marR="91450" marL="9145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l">
                        <a:spcBef>
                          <a:spcPts val="0"/>
                        </a:spcBef>
                        <a:spcAft>
                          <a:spcPts val="0"/>
                        </a:spcAft>
                        <a:buClr>
                          <a:srgbClr val="1A1A1A"/>
                        </a:buClr>
                        <a:buSzPts val="1200"/>
                        <a:buFont typeface="Calibri"/>
                        <a:buNone/>
                      </a:pPr>
                      <a:r>
                        <a:rPr lang="en-US" sz="1200">
                          <a:solidFill>
                            <a:srgbClr val="1A1A1A"/>
                          </a:solidFill>
                          <a:latin typeface="Calibri"/>
                          <a:ea typeface="Calibri"/>
                          <a:cs typeface="Calibri"/>
                          <a:sym typeface="Calibri"/>
                        </a:rPr>
                        <a:t>same prompt set</a:t>
                      </a:r>
                      <a:endParaRPr sz="1200" u="none" cap="none" strike="noStrike">
                        <a:latin typeface="Calibri"/>
                        <a:ea typeface="Calibri"/>
                        <a:cs typeface="Calibri"/>
                        <a:sym typeface="Calibri"/>
                      </a:endParaRPr>
                    </a:p>
                  </a:txBody>
                  <a:tcPr marT="45725" marB="45725" marR="91450" marL="9145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411475">
                <a:tc>
                  <a:txBody>
                    <a:bodyPr/>
                    <a:lstStyle/>
                    <a:p>
                      <a:pPr indent="0" lvl="0" marL="0" marR="0" rtl="0" algn="l">
                        <a:spcBef>
                          <a:spcPts val="0"/>
                        </a:spcBef>
                        <a:spcAft>
                          <a:spcPts val="0"/>
                        </a:spcAft>
                        <a:buClr>
                          <a:srgbClr val="1A1A1A"/>
                        </a:buClr>
                        <a:buSzPts val="1200"/>
                        <a:buFont typeface="Calibri"/>
                        <a:buNone/>
                      </a:pPr>
                      <a:r>
                        <a:rPr lang="en-US" sz="1200">
                          <a:solidFill>
                            <a:srgbClr val="1A1A1A"/>
                          </a:solidFill>
                          <a:latin typeface="Calibri"/>
                          <a:ea typeface="Calibri"/>
                          <a:cs typeface="Calibri"/>
                          <a:sym typeface="Calibri"/>
                        </a:rPr>
                        <a:t>Max new tokens</a:t>
                      </a:r>
                      <a:endParaRPr sz="1200" u="none" cap="none" strike="noStrike">
                        <a:latin typeface="Calibri"/>
                        <a:ea typeface="Calibri"/>
                        <a:cs typeface="Calibri"/>
                        <a:sym typeface="Calibri"/>
                      </a:endParaRPr>
                    </a:p>
                  </a:txBody>
                  <a:tcPr marT="45725" marB="45725" marR="91450" marL="9145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l">
                        <a:spcBef>
                          <a:spcPts val="0"/>
                        </a:spcBef>
                        <a:spcAft>
                          <a:spcPts val="0"/>
                        </a:spcAft>
                        <a:buClr>
                          <a:srgbClr val="1A1A1A"/>
                        </a:buClr>
                        <a:buSzPts val="1200"/>
                        <a:buFont typeface="Calibri"/>
                        <a:buNone/>
                      </a:pPr>
                      <a:r>
                        <a:rPr lang="en-US" sz="1200">
                          <a:solidFill>
                            <a:srgbClr val="1A1A1A"/>
                          </a:solidFill>
                          <a:latin typeface="Calibri"/>
                          <a:ea typeface="Calibri"/>
                          <a:cs typeface="Calibri"/>
                          <a:sym typeface="Calibri"/>
                        </a:rPr>
                        <a:t>256</a:t>
                      </a:r>
                      <a:endParaRPr sz="1200" u="none" cap="none" strike="noStrike">
                        <a:latin typeface="Calibri"/>
                        <a:ea typeface="Calibri"/>
                        <a:cs typeface="Calibri"/>
                        <a:sym typeface="Calibri"/>
                      </a:endParaRPr>
                    </a:p>
                  </a:txBody>
                  <a:tcPr marT="45725" marB="45725" marR="91450" marL="9145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l">
                        <a:spcBef>
                          <a:spcPts val="0"/>
                        </a:spcBef>
                        <a:spcAft>
                          <a:spcPts val="0"/>
                        </a:spcAft>
                        <a:buClr>
                          <a:srgbClr val="1A1A1A"/>
                        </a:buClr>
                        <a:buSzPts val="1200"/>
                        <a:buFont typeface="Calibri"/>
                        <a:buNone/>
                      </a:pPr>
                      <a:r>
                        <a:rPr lang="en-US" sz="1200">
                          <a:solidFill>
                            <a:srgbClr val="1A1A1A"/>
                          </a:solidFill>
                          <a:latin typeface="Calibri"/>
                          <a:ea typeface="Calibri"/>
                          <a:cs typeface="Calibri"/>
                          <a:sym typeface="Calibri"/>
                        </a:rPr>
                        <a:t>256</a:t>
                      </a:r>
                      <a:endParaRPr sz="1200" u="none" cap="none" strike="noStrike">
                        <a:latin typeface="Calibri"/>
                        <a:ea typeface="Calibri"/>
                        <a:cs typeface="Calibri"/>
                        <a:sym typeface="Calibri"/>
                      </a:endParaRPr>
                    </a:p>
                  </a:txBody>
                  <a:tcPr marT="45725" marB="45725" marR="91450" marL="9145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411475">
                <a:tc>
                  <a:txBody>
                    <a:bodyPr/>
                    <a:lstStyle/>
                    <a:p>
                      <a:pPr indent="0" lvl="0" marL="0" marR="0" rtl="0" algn="l">
                        <a:spcBef>
                          <a:spcPts val="0"/>
                        </a:spcBef>
                        <a:spcAft>
                          <a:spcPts val="0"/>
                        </a:spcAft>
                        <a:buClr>
                          <a:srgbClr val="1A1A1A"/>
                        </a:buClr>
                        <a:buSzPts val="1200"/>
                        <a:buFont typeface="Calibri"/>
                        <a:buNone/>
                      </a:pPr>
                      <a:r>
                        <a:rPr lang="en-US" sz="1200" u="none" cap="none" strike="noStrike">
                          <a:solidFill>
                            <a:srgbClr val="1A1A1A"/>
                          </a:solidFill>
                          <a:latin typeface="Calibri"/>
                          <a:ea typeface="Calibri"/>
                          <a:cs typeface="Calibri"/>
                          <a:sym typeface="Calibri"/>
                        </a:rPr>
                        <a:t>Hardware</a:t>
                      </a:r>
                      <a:endParaRPr sz="1200" u="none" cap="none" strike="noStrike">
                        <a:latin typeface="Calibri"/>
                        <a:ea typeface="Calibri"/>
                        <a:cs typeface="Calibri"/>
                        <a:sym typeface="Calibri"/>
                      </a:endParaRPr>
                    </a:p>
                  </a:txBody>
                  <a:tcPr marT="45725" marB="45725" marR="91450" marL="9145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l">
                        <a:spcBef>
                          <a:spcPts val="0"/>
                        </a:spcBef>
                        <a:spcAft>
                          <a:spcPts val="0"/>
                        </a:spcAft>
                        <a:buClr>
                          <a:srgbClr val="1A1A1A"/>
                        </a:buClr>
                        <a:buSzPts val="1200"/>
                        <a:buFont typeface="Calibri"/>
                        <a:buNone/>
                      </a:pPr>
                      <a:r>
                        <a:rPr lang="en-US" sz="1200" u="none" cap="none" strike="noStrike">
                          <a:solidFill>
                            <a:srgbClr val="1A1A1A"/>
                          </a:solidFill>
                          <a:latin typeface="Calibri"/>
                          <a:ea typeface="Calibri"/>
                          <a:cs typeface="Calibri"/>
                          <a:sym typeface="Calibri"/>
                        </a:rPr>
                        <a:t>1× A100</a:t>
                      </a:r>
                      <a:endParaRPr sz="1200" u="none" cap="none" strike="noStrike">
                        <a:latin typeface="Calibri"/>
                        <a:ea typeface="Calibri"/>
                        <a:cs typeface="Calibri"/>
                        <a:sym typeface="Calibri"/>
                      </a:endParaRPr>
                    </a:p>
                  </a:txBody>
                  <a:tcPr marT="45725" marB="45725" marR="91450" marL="9145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l">
                        <a:spcBef>
                          <a:spcPts val="0"/>
                        </a:spcBef>
                        <a:spcAft>
                          <a:spcPts val="0"/>
                        </a:spcAft>
                        <a:buClr>
                          <a:srgbClr val="1A1A1A"/>
                        </a:buClr>
                        <a:buSzPts val="1200"/>
                        <a:buFont typeface="Calibri"/>
                        <a:buNone/>
                      </a:pPr>
                      <a:r>
                        <a:rPr lang="en-US" sz="1200" u="none" cap="none" strike="noStrike">
                          <a:solidFill>
                            <a:srgbClr val="1A1A1A"/>
                          </a:solidFill>
                          <a:latin typeface="Calibri"/>
                          <a:ea typeface="Calibri"/>
                          <a:cs typeface="Calibri"/>
                          <a:sym typeface="Calibri"/>
                        </a:rPr>
                        <a:t>1× A100</a:t>
                      </a:r>
                      <a:endParaRPr sz="1200" u="none" cap="none" strike="noStrike">
                        <a:latin typeface="Calibri"/>
                        <a:ea typeface="Calibri"/>
                        <a:cs typeface="Calibri"/>
                        <a:sym typeface="Calibri"/>
                      </a:endParaRPr>
                    </a:p>
                  </a:txBody>
                  <a:tcPr marT="45725" marB="45725" marR="91450" marL="9145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411475">
                <a:tc>
                  <a:txBody>
                    <a:bodyPr/>
                    <a:lstStyle/>
                    <a:p>
                      <a:pPr indent="0" lvl="0" marL="0" marR="0" rtl="0" algn="l">
                        <a:spcBef>
                          <a:spcPts val="0"/>
                        </a:spcBef>
                        <a:spcAft>
                          <a:spcPts val="0"/>
                        </a:spcAft>
                        <a:buClr>
                          <a:srgbClr val="1A1A1A"/>
                        </a:buClr>
                        <a:buSzPts val="1200"/>
                        <a:buFont typeface="Calibri"/>
                        <a:buNone/>
                      </a:pPr>
                      <a:r>
                        <a:rPr lang="en-US" sz="1200" u="none" cap="none" strike="noStrike">
                          <a:solidFill>
                            <a:srgbClr val="1A1A1A"/>
                          </a:solidFill>
                          <a:latin typeface="Calibri"/>
                          <a:ea typeface="Calibri"/>
                          <a:cs typeface="Calibri"/>
                          <a:sym typeface="Calibri"/>
                        </a:rPr>
                        <a:t>Software stack</a:t>
                      </a:r>
                      <a:endParaRPr sz="1200" u="none" cap="none" strike="noStrike">
                        <a:latin typeface="Calibri"/>
                        <a:ea typeface="Calibri"/>
                        <a:cs typeface="Calibri"/>
                        <a:sym typeface="Calibri"/>
                      </a:endParaRPr>
                    </a:p>
                  </a:txBody>
                  <a:tcPr marT="45725" marB="45725" marR="91450" marL="9145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l">
                        <a:spcBef>
                          <a:spcPts val="0"/>
                        </a:spcBef>
                        <a:spcAft>
                          <a:spcPts val="0"/>
                        </a:spcAft>
                        <a:buClr>
                          <a:srgbClr val="1A1A1A"/>
                        </a:buClr>
                        <a:buSzPts val="1200"/>
                        <a:buFont typeface="Calibri"/>
                        <a:buNone/>
                      </a:pPr>
                      <a:r>
                        <a:rPr lang="en-US" sz="1200">
                          <a:solidFill>
                            <a:srgbClr val="1A1A1A"/>
                          </a:solidFill>
                          <a:latin typeface="Calibri"/>
                          <a:ea typeface="Calibri"/>
                          <a:cs typeface="Calibri"/>
                          <a:sym typeface="Calibri"/>
                        </a:rPr>
                        <a:t>PyTorch + HF Transformers</a:t>
                      </a:r>
                      <a:endParaRPr sz="1200" u="none" cap="none" strike="noStrike">
                        <a:latin typeface="Calibri"/>
                        <a:ea typeface="Calibri"/>
                        <a:cs typeface="Calibri"/>
                        <a:sym typeface="Calibri"/>
                      </a:endParaRPr>
                    </a:p>
                  </a:txBody>
                  <a:tcPr marT="45725" marB="45725" marR="91450" marL="9145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l">
                        <a:spcBef>
                          <a:spcPts val="0"/>
                        </a:spcBef>
                        <a:spcAft>
                          <a:spcPts val="0"/>
                        </a:spcAft>
                        <a:buClr>
                          <a:srgbClr val="1A1A1A"/>
                        </a:buClr>
                        <a:buSzPts val="1200"/>
                        <a:buFont typeface="Calibri"/>
                        <a:buNone/>
                      </a:pPr>
                      <a:r>
                        <a:rPr lang="en-US" sz="1200">
                          <a:solidFill>
                            <a:srgbClr val="1A1A1A"/>
                          </a:solidFill>
                          <a:latin typeface="Calibri"/>
                          <a:ea typeface="Calibri"/>
                          <a:cs typeface="Calibri"/>
                          <a:sym typeface="Calibri"/>
                        </a:rPr>
                        <a:t>vLLM</a:t>
                      </a:r>
                      <a:endParaRPr sz="1200" u="none" cap="none" strike="noStrike">
                        <a:latin typeface="Calibri"/>
                        <a:ea typeface="Calibri"/>
                        <a:cs typeface="Calibri"/>
                        <a:sym typeface="Calibri"/>
                      </a:endParaRPr>
                    </a:p>
                  </a:txBody>
                  <a:tcPr marT="45725" marB="45725" marR="91450" marL="9145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411475">
                <a:tc>
                  <a:txBody>
                    <a:bodyPr/>
                    <a:lstStyle/>
                    <a:p>
                      <a:pPr indent="0" lvl="0" marL="0" marR="0" rtl="0" algn="l">
                        <a:spcBef>
                          <a:spcPts val="0"/>
                        </a:spcBef>
                        <a:spcAft>
                          <a:spcPts val="0"/>
                        </a:spcAft>
                        <a:buNone/>
                      </a:pPr>
                      <a:r>
                        <a:rPr lang="en-US" sz="1200">
                          <a:solidFill>
                            <a:srgbClr val="1A1A1A"/>
                          </a:solidFill>
                          <a:latin typeface="Calibri"/>
                          <a:ea typeface="Calibri"/>
                          <a:cs typeface="Calibri"/>
                          <a:sym typeface="Calibri"/>
                        </a:rPr>
                        <a:t>Decoding</a:t>
                      </a:r>
                      <a:endParaRPr sz="1200" u="none" cap="none" strike="noStrike">
                        <a:solidFill>
                          <a:srgbClr val="1A1A1A"/>
                        </a:solidFill>
                        <a:latin typeface="Calibri"/>
                        <a:ea typeface="Calibri"/>
                        <a:cs typeface="Calibri"/>
                        <a:sym typeface="Calibri"/>
                      </a:endParaRPr>
                    </a:p>
                  </a:txBody>
                  <a:tcPr marT="45725" marB="45725" marR="91450" marL="9145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l">
                        <a:spcBef>
                          <a:spcPts val="0"/>
                        </a:spcBef>
                        <a:spcAft>
                          <a:spcPts val="0"/>
                        </a:spcAft>
                        <a:buNone/>
                      </a:pPr>
                      <a:r>
                        <a:rPr lang="en-US" sz="1200">
                          <a:solidFill>
                            <a:srgbClr val="1A1A1A"/>
                          </a:solidFill>
                          <a:latin typeface="Calibri"/>
                          <a:ea typeface="Calibri"/>
                          <a:cs typeface="Calibri"/>
                          <a:sym typeface="Calibri"/>
                        </a:rPr>
                        <a:t>temp 0.2, top-p 0.95</a:t>
                      </a:r>
                      <a:endParaRPr sz="1200" u="none" cap="none" strike="noStrike">
                        <a:solidFill>
                          <a:srgbClr val="1A1A1A"/>
                        </a:solidFill>
                        <a:latin typeface="Calibri"/>
                        <a:ea typeface="Calibri"/>
                        <a:cs typeface="Calibri"/>
                        <a:sym typeface="Calibri"/>
                      </a:endParaRPr>
                    </a:p>
                  </a:txBody>
                  <a:tcPr marT="45725" marB="45725" marR="91450" marL="9145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l">
                        <a:spcBef>
                          <a:spcPts val="0"/>
                        </a:spcBef>
                        <a:spcAft>
                          <a:spcPts val="0"/>
                        </a:spcAft>
                        <a:buNone/>
                      </a:pPr>
                      <a:r>
                        <a:rPr lang="en-US" sz="1200">
                          <a:solidFill>
                            <a:srgbClr val="1A1A1A"/>
                          </a:solidFill>
                          <a:latin typeface="Calibri"/>
                          <a:ea typeface="Calibri"/>
                          <a:cs typeface="Calibri"/>
                          <a:sym typeface="Calibri"/>
                        </a:rPr>
                        <a:t>temp 0.2, top-p 0.95</a:t>
                      </a:r>
                      <a:endParaRPr sz="1200" u="none" cap="none" strike="noStrike">
                        <a:solidFill>
                          <a:srgbClr val="1A1A1A"/>
                        </a:solidFill>
                        <a:latin typeface="Calibri"/>
                        <a:ea typeface="Calibri"/>
                        <a:cs typeface="Calibri"/>
                        <a:sym typeface="Calibri"/>
                      </a:endParaRPr>
                    </a:p>
                  </a:txBody>
                  <a:tcPr marT="45725" marB="45725" marR="91450" marL="9145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bl>
          </a:graphicData>
        </a:graphic>
      </p:graphicFrame>
      <p:sp>
        <p:nvSpPr>
          <p:cNvPr id="204" name="Google Shape;204;p14"/>
          <p:cNvSpPr/>
          <p:nvPr/>
        </p:nvSpPr>
        <p:spPr>
          <a:xfrm>
            <a:off x="457200" y="653796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F76"/>
              </a:buClr>
              <a:buSzPts val="1000"/>
              <a:buFont typeface="Calibri"/>
              <a:buNone/>
            </a:pPr>
            <a:r>
              <a:rPr b="0" i="1" lang="en-US" sz="1000" u="none" cap="none" strike="noStrike">
                <a:solidFill>
                  <a:srgbClr val="6B6F76"/>
                </a:solidFill>
                <a:latin typeface="Calibri"/>
                <a:ea typeface="Calibri"/>
                <a:cs typeface="Calibri"/>
                <a:sym typeface="Calibri"/>
              </a:rPr>
              <a:t>HPML · Spring 2026</a:t>
            </a:r>
            <a:endParaRPr b="0" i="0" sz="1000" u="none" cap="none" strike="noStrike">
              <a:solidFill>
                <a:schemeClr val="dk1"/>
              </a:solidFill>
              <a:latin typeface="Calibri"/>
              <a:ea typeface="Calibri"/>
              <a:cs typeface="Calibri"/>
              <a:sym typeface="Calibri"/>
            </a:endParaRPr>
          </a:p>
        </p:txBody>
      </p:sp>
      <p:sp>
        <p:nvSpPr>
          <p:cNvPr id="205" name="Google Shape;205;p14"/>
          <p:cNvSpPr/>
          <p:nvPr/>
        </p:nvSpPr>
        <p:spPr>
          <a:xfrm>
            <a:off x="6245352" y="6537960"/>
            <a:ext cx="54864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6F76"/>
              </a:buClr>
              <a:buSzPts val="1000"/>
              <a:buFont typeface="Calibri"/>
              <a:buNone/>
            </a:pPr>
            <a:r>
              <a:rPr b="0" i="0" lang="en-US" sz="1000" u="none" cap="none" strike="noStrike">
                <a:solidFill>
                  <a:srgbClr val="6B6F76"/>
                </a:solidFill>
                <a:latin typeface="Calibri"/>
                <a:ea typeface="Calibri"/>
                <a:cs typeface="Calibri"/>
                <a:sym typeface="Calibri"/>
              </a:rPr>
              <a:t>14 / 14</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10" name="Shape 210"/>
        <p:cNvGrpSpPr/>
        <p:nvPr/>
      </p:nvGrpSpPr>
      <p:grpSpPr>
        <a:xfrm>
          <a:off x="0" y="0"/>
          <a:ext cx="0" cy="0"/>
          <a:chOff x="0" y="0"/>
          <a:chExt cx="0" cy="0"/>
        </a:xfrm>
      </p:grpSpPr>
      <p:sp>
        <p:nvSpPr>
          <p:cNvPr id="211" name="Google Shape;211;g3dc30184492_2_3"/>
          <p:cNvSpPr txBox="1"/>
          <p:nvPr/>
        </p:nvSpPr>
        <p:spPr>
          <a:xfrm>
            <a:off x="160650" y="103275"/>
            <a:ext cx="88116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3200">
                <a:solidFill>
                  <a:srgbClr val="1A1A1A"/>
                </a:solidFill>
                <a:latin typeface="Calibri"/>
                <a:ea typeface="Calibri"/>
                <a:cs typeface="Calibri"/>
                <a:sym typeface="Calibri"/>
              </a:rPr>
              <a:t>Demo / Visualization: Hugging Face vs VLLM</a:t>
            </a:r>
            <a:endParaRPr sz="3200">
              <a:solidFill>
                <a:schemeClr val="dk1"/>
              </a:solidFill>
              <a:latin typeface="Calibri"/>
              <a:ea typeface="Calibri"/>
              <a:cs typeface="Calibri"/>
              <a:sym typeface="Calibri"/>
            </a:endParaRPr>
          </a:p>
        </p:txBody>
      </p:sp>
      <p:pic>
        <p:nvPicPr>
          <p:cNvPr id="212" name="Google Shape;212;g3dc30184492_2_3" title="Demo_vllm_hf.mov">
            <a:hlinkClick r:id="rId3"/>
          </p:cNvPr>
          <p:cNvPicPr preferRelativeResize="0"/>
          <p:nvPr/>
        </p:nvPicPr>
        <p:blipFill>
          <a:blip r:embed="rId4">
            <a:alphaModFix/>
          </a:blip>
          <a:stretch>
            <a:fillRect/>
          </a:stretch>
        </p:blipFill>
        <p:spPr>
          <a:xfrm>
            <a:off x="1683400" y="932775"/>
            <a:ext cx="8825188" cy="5772827"/>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2"/>
                                        </p:tgtEl>
                                        <p:attrNameLst>
                                          <p:attrName>style.visibility</p:attrName>
                                        </p:attrNameLst>
                                      </p:cBhvr>
                                      <p:to>
                                        <p:strVal val="visible"/>
                                      </p:to>
                                    </p:set>
                                    <p:animEffect filter="fade" transition="in">
                                      <p:cBhvr>
                                        <p:cTn dur="1000"/>
                                        <p:tgtEl>
                                          <p:spTgt spid="21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2026-05-03T03:17:50Z</dcterms:created>
  <dc:creator>Dr. Kaoutar El Maghraoui</dc:creator>
</cp:coreProperties>
</file>